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bold r:id="rId12"/>
    </p:embeddedFont>
    <p:embeddedFont>
      <p:font typeface="Petrona Bold" panose="020B0604020202020204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3D20-F89E-6F95-7060-9D74874D3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7925A-1970-DF56-CC95-A9BEC28E8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3CF51-103A-B9A7-7418-BA0189E4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A9454-E840-E4CF-6F7E-333667F24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D1A18-F65A-2C82-9A8C-D6CEED9AA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16392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20D11-5A76-94A6-D6FC-3D38F95A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86D11-0644-51C2-7FA7-59CB1CFFD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BD8A-5049-D5AE-25B2-56001819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5D27-7E53-366F-3A50-C89EC09B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A5D8B-C954-13FB-3A1C-2A700902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425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5AA6-E67E-2F0D-BF30-480E8826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40875-D7EA-A281-98B9-75FADD633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3B0B3-07FD-7600-DD65-69571428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96D1E-369E-CB1B-5BAC-9F94322F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2AE64-AE30-27AD-4350-1994BD06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1472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5E73-3107-57DA-C359-E984F9F0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68FFE-7A71-9B5F-73C3-888F070D0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4ABBD-597F-FB26-4067-D8CEF1339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10C5F-FC49-5F7A-8D41-ED85AB6A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1CC23-57F7-A305-1F8F-65585E4EB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3E8C-E9D8-A994-841C-F3BA3B208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0494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B07DC-9C1F-74B6-FAFD-00BA1394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C10BD-EAB9-E47A-8036-A905C665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F2AD3-290E-6C54-0CE4-5C50872B2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93CFD-0BA5-944C-75A3-D8F00E05B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0B552-1A92-CA69-81AE-9FB76263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3DEE05-79A0-51E4-34A9-6017E84EB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B81F9-2883-6CAD-234E-16BA0F1F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5A3F7E-1F3F-9200-CAA3-3701CFE6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07614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88EE-7C0B-FE5C-BC1A-2B08CD22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652AF-3787-6230-C021-D93BB76C8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D764A-50D1-E0DC-C394-B288F1B65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68BE9-DA74-42AE-9169-C770C926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929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5F8652-8003-9959-799D-07E54DA8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42035F-3557-5B7A-4B00-B822FF1F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14343-DA83-B0ED-11DF-723D76E7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8166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E4F0-885A-75FF-64F2-7BACBC906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93088-72CD-8591-8DFA-57B663F04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D9D2C-8E98-3D58-B2F4-8140ADC8E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68D79-B214-BA1F-E001-D3ABA5F6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97BE1-42B2-4432-AB07-5065B1F44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C2A9F-840D-3111-822D-8B631624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7757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CACFE-D3A4-F9D9-C8D9-0C3C68B9A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238D8-0E88-16FC-AF52-E9D14459F5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D4EFA-6F7B-D96D-1363-A2C94D0E8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C661D-1B16-7341-2997-213DE2F2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1E1E7-C91A-A210-4189-443393BF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0697C-F65D-5603-78AE-49B05ED3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4020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D7D7-9F50-2F18-76FD-67A4A9BD7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924D3-12C9-94AD-8782-FE0257A86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253F4-F9FA-3D7F-9214-89B1A2D9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4C90E-DAEB-0662-A932-C2C1BC32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C6E9E-B628-17C8-3BD3-7E5053D5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6316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3372D3-9647-F836-7B8D-5F7198AF11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CB3D3-484E-CEEB-4BF3-6F2301943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A8CF-D8D5-3D9D-C139-F5F6404C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908D1-2E66-73AD-F8C9-0BB75247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402AD-2E2E-C261-324D-BC4BA72D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3131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650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139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E57A8-8A17-0081-E77D-D47FAE906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684BD-3F6E-1D39-8A17-78A1536B7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7378E-698F-E32F-04F4-68264C532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EC1A9-3156-6A39-A237-46D32960C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56B01-B608-8A3B-9208-C76E8369F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29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015" y="708782"/>
            <a:ext cx="4554185" cy="6346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SUPPY CHAIN VISIBILITY SYSTEM
WITH OPTIMIZATION ANALYTICS</a:t>
            </a:r>
          </a:p>
          <a:p>
            <a:pPr marL="0" indent="0">
              <a:lnSpc>
                <a:spcPct val="104000"/>
              </a:lnSpc>
              <a:buNone/>
            </a:pP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93895" y="1505004"/>
            <a:ext cx="4543865" cy="3026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Data-driven analysis and visualization of supply chain operations using Power BI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7519" y="1889665"/>
            <a:ext cx="1455773" cy="3046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 Members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37625" y="2194322"/>
            <a:ext cx="2004646" cy="12733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>
              <a:lnSpc>
                <a:spcPct val="133000"/>
              </a:lnSpc>
            </a:pPr>
            <a:r>
              <a:rPr lang="en-IN" sz="4800" dirty="0" err="1">
                <a:latin typeface="Aptos"/>
              </a:rPr>
              <a:t>Umeshwaran</a:t>
            </a:r>
            <a:r>
              <a:rPr lang="en-IN" sz="4800" dirty="0">
                <a:latin typeface="Aptos"/>
              </a:rPr>
              <a:t> R </a:t>
            </a:r>
          </a:p>
          <a:p>
            <a:pPr>
              <a:lnSpc>
                <a:spcPct val="133000"/>
              </a:lnSpc>
            </a:pPr>
            <a:r>
              <a:rPr lang="en-IN" sz="4800" dirty="0">
                <a:latin typeface="Aptos"/>
              </a:rPr>
              <a:t>Uppala BhavyaSri </a:t>
            </a:r>
          </a:p>
          <a:p>
            <a:pPr>
              <a:lnSpc>
                <a:spcPct val="133000"/>
              </a:lnSpc>
            </a:pPr>
            <a:r>
              <a:rPr lang="en-IN" sz="4800" dirty="0">
                <a:latin typeface="Aptos"/>
              </a:rPr>
              <a:t>V. Charita Sree
Velpuri Sai Rohitha </a:t>
            </a:r>
          </a:p>
          <a:p>
            <a:pPr>
              <a:lnSpc>
                <a:spcPct val="133000"/>
              </a:lnSpc>
            </a:pPr>
            <a:r>
              <a:rPr lang="en-IN" sz="4800" dirty="0">
                <a:latin typeface="Aptos"/>
              </a:rPr>
              <a:t>Venkata Puneeth Kothapalli      Yuvasree P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7519" y="4157003"/>
            <a:ext cx="2466156" cy="2321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093698" y="3692769"/>
            <a:ext cx="4554184" cy="11043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6024AD-15EB-D168-FF8D-8CD7D91BA842}"/>
              </a:ext>
            </a:extLst>
          </p:cNvPr>
          <p:cNvSpPr txBox="1"/>
          <p:nvPr/>
        </p:nvSpPr>
        <p:spPr>
          <a:xfrm>
            <a:off x="211015" y="3692768"/>
            <a:ext cx="17003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Team D • Group 1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F56ED9-4548-477B-2FAE-16F8E470D9E0}"/>
              </a:ext>
            </a:extLst>
          </p:cNvPr>
          <p:cNvSpPr txBox="1"/>
          <p:nvPr/>
        </p:nvSpPr>
        <p:spPr>
          <a:xfrm>
            <a:off x="267519" y="4389120"/>
            <a:ext cx="19973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Ms. Nityasree</a:t>
            </a:r>
          </a:p>
          <a:p>
            <a:endParaRPr lang="en-IN" b="1" dirty="0">
              <a:latin typeface="Aptos"/>
            </a:endParaRP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49ED8-FE5A-37FB-787F-5B975B7202CD}"/>
              </a:ext>
            </a:extLst>
          </p:cNvPr>
          <p:cNvSpPr txBox="1"/>
          <p:nvPr/>
        </p:nvSpPr>
        <p:spPr>
          <a:xfrm>
            <a:off x="105509" y="322161"/>
            <a:ext cx="4018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ptos"/>
              </a:rPr>
              <a:t>INFOSYS SPRINGBOARD • VIRTUAL INTERNSHIP 7.0</a:t>
            </a:r>
          </a:p>
          <a:p>
            <a:endParaRPr lang="en-IN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D8D12445-81C2-7892-4600-F4D242313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655" y="0"/>
            <a:ext cx="378749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2368"/>
            <a:ext cx="8151763" cy="3942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57573"/>
            <a:ext cx="3929286" cy="1971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We Set Out to Achieve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39" y="1391580"/>
            <a:ext cx="180231" cy="1802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6569" y="1385664"/>
            <a:ext cx="3538835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Improve visibility across supply chain operations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39" y="1990762"/>
            <a:ext cx="180232" cy="1802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6569" y="1984846"/>
            <a:ext cx="3538835" cy="3784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Monitor shipments, deliveries, inventory, suppliers, and transportation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39" y="2601999"/>
            <a:ext cx="180231" cy="18023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6569" y="2596083"/>
            <a:ext cx="3538835" cy="3784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Identify cost drivers, bottlenecks, and operational inefficiencies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39" y="3213236"/>
            <a:ext cx="180231" cy="1802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6569" y="3207321"/>
            <a:ext cx="3538835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Analyze product, supplier, logistics, and delivery performance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39" y="3812418"/>
            <a:ext cx="180231" cy="18023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86569" y="3806503"/>
            <a:ext cx="3538835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Develop meaningful KPIs to support better business decisions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4636815" y="766615"/>
            <a:ext cx="4102373" cy="4004518"/>
          </a:xfrm>
          <a:prstGeom prst="roundRect">
            <a:avLst>
              <a:gd name="adj" fmla="val 2430"/>
            </a:avLst>
          </a:prstGeom>
          <a:solidFill>
            <a:srgbClr val="E7EEF9">
              <a:alpha val="95000"/>
            </a:srgbClr>
          </a:solidFill>
        </p:spPr>
      </p:sp>
      <p:sp>
        <p:nvSpPr>
          <p:cNvPr id="15" name="Text 8"/>
          <p:cNvSpPr/>
          <p:nvPr/>
        </p:nvSpPr>
        <p:spPr>
          <a:xfrm>
            <a:off x="4756919" y="840953"/>
            <a:ext cx="3862164" cy="2934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Modules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756919" y="1385664"/>
            <a:ext cx="240283" cy="150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4756919" y="1575495"/>
            <a:ext cx="3862164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18" name="Text 11"/>
          <p:cNvSpPr/>
          <p:nvPr/>
        </p:nvSpPr>
        <p:spPr>
          <a:xfrm>
            <a:off x="4756919" y="1664122"/>
            <a:ext cx="3862164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Problem Understanding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756919" y="2059856"/>
            <a:ext cx="240283" cy="150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4756919" y="2249686"/>
            <a:ext cx="3862164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21" name="Text 14"/>
          <p:cNvSpPr/>
          <p:nvPr/>
        </p:nvSpPr>
        <p:spPr>
          <a:xfrm>
            <a:off x="4756919" y="2338313"/>
            <a:ext cx="3862164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Collection &amp; Understanding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756919" y="2734047"/>
            <a:ext cx="240283" cy="150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756919" y="2923877"/>
            <a:ext cx="3862164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24" name="Text 17"/>
          <p:cNvSpPr/>
          <p:nvPr/>
        </p:nvSpPr>
        <p:spPr>
          <a:xfrm>
            <a:off x="4756919" y="3012504"/>
            <a:ext cx="3862164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Preprocessing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756919" y="3408238"/>
            <a:ext cx="240283" cy="150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756919" y="3598069"/>
            <a:ext cx="3862164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27" name="Text 20"/>
          <p:cNvSpPr/>
          <p:nvPr/>
        </p:nvSpPr>
        <p:spPr>
          <a:xfrm>
            <a:off x="4756919" y="3686696"/>
            <a:ext cx="3862164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Modeling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4756919" y="4082430"/>
            <a:ext cx="240283" cy="150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756919" y="4272260"/>
            <a:ext cx="3862164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30" name="Text 23"/>
          <p:cNvSpPr/>
          <p:nvPr/>
        </p:nvSpPr>
        <p:spPr>
          <a:xfrm>
            <a:off x="4756919" y="4360887"/>
            <a:ext cx="3862164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Power BI Visualization &amp;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3879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Execution Milestones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96119" y="994990"/>
            <a:ext cx="3484736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Milestone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1256481"/>
            <a:ext cx="3484736" cy="1360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Data Acquisition &amp; Cleaning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Collected and understood the supply chain dataset containing shipment, inventory, supplier, product, transportation, cost, and delivery-related information. Cleaned the data by handling missing values, removing duplicates and unnecessary columns, and standardizing data types and formats.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78908" y="1669182"/>
            <a:ext cx="186184" cy="2327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63145" y="1693218"/>
            <a:ext cx="3484736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Milestone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3145" y="1954709"/>
            <a:ext cx="3484736" cy="8063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Data Modeling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Prepared the cleaned data for analysis by establishing appropriate relationships and organizing relevant fields for effective reporting and KPI calculation.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78908" y="2858839"/>
            <a:ext cx="186184" cy="2327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6119" y="2882875"/>
            <a:ext cx="3484736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Milestone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119" y="3144366"/>
            <a:ext cx="3484736" cy="9910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Development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Developed the Power BI solution using KPIs, charts, and analytical views to understand shipment trends, supplier performance, logistics, costs, inventory, and product performance.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8908" y="3618086"/>
            <a:ext cx="186184" cy="2327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92505" y="3348111"/>
            <a:ext cx="3555376" cy="487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Milestone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92505" y="3618086"/>
            <a:ext cx="3555376" cy="1091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Review &amp; Optimization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Reviewed analytical results, identified important patterns and bottlenecks, and refined the data model and visualizations to provide clearer and more useful supply chain insights.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925"/>
            <a:ext cx="8151763" cy="3879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 &amp; Resolutions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66502"/>
            <a:ext cx="3931667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90A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 Encountered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87153"/>
            <a:ext cx="3931667" cy="9408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726" y="1519610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01 — Data Quality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726" y="1826196"/>
            <a:ext cx="3609603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Dataset contained missing, duplicate, and unnecessary data that required thorough cleaning before any analysis could begin.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40707"/>
            <a:ext cx="3931667" cy="9408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726" y="2573164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02 — Standardization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85726" y="2879750"/>
            <a:ext cx="3609603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Different fields required standardization of data types, formats, and values before they could be used consistently in analysis.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494261"/>
            <a:ext cx="3931667" cy="11255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726" y="3626718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03 — Attribute Complexity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85726" y="3933304"/>
            <a:ext cx="3609603" cy="5540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large number of supply chain attributes made it difficult to determine which fields were most relevant for meaningful analysis.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720977" y="1066502"/>
            <a:ext cx="3931667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876C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Resolutions Applied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0977" y="1387153"/>
            <a:ext cx="3931667" cy="9408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10584" y="1519610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01 — Data Cleaning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910584" y="1826196"/>
            <a:ext cx="3609603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Cleaned the dataset by handling missing values and removing duplicates and unnecessary columns to ensure data integrity.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0977" y="2440707"/>
            <a:ext cx="3931667" cy="9408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10584" y="2573164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02 — Preprocessing Pipeline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910584" y="2879750"/>
            <a:ext cx="3609603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Standardized data types, formats, and field values during the preprocessing phase to enable consistent and reliable analysis.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0977" y="3494261"/>
            <a:ext cx="3931667" cy="94089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10584" y="3626718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03 — Focused Modeling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910584" y="3933304"/>
            <a:ext cx="3609603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Organized the data through modeling and selected relevant KPIs and visualizations to focus the analysis on actionable insights.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1312"/>
            <a:ext cx="8151763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 &amp; Key Insights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06822" y="1204392"/>
            <a:ext cx="4103191" cy="3327797"/>
          </a:xfrm>
          <a:prstGeom prst="roundRect">
            <a:avLst>
              <a:gd name="adj" fmla="val 2684"/>
            </a:avLst>
          </a:prstGeom>
          <a:solidFill>
            <a:srgbClr val="E7EEF9">
              <a:alpha val="9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30796" y="1328365"/>
            <a:ext cx="3855244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33822" y="1711672"/>
            <a:ext cx="345221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Add real-time shipment and delivery tracking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33822" y="2238747"/>
            <a:ext cx="345221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Integrate predictive analytics for demand and inventory forecasting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3822" y="2923952"/>
            <a:ext cx="345221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Develop automated alerts for delayed shipments and supply chain risks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3822" y="3609156"/>
            <a:ext cx="345221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Apply advanced analytics to predict bottlenecks and optimize logistics costs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1328365"/>
            <a:ext cx="3924598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28046" y="1671414"/>
            <a:ext cx="1900312" cy="1596330"/>
          </a:xfrm>
          <a:prstGeom prst="roundRect">
            <a:avLst>
              <a:gd name="adj" fmla="val 326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6308" y="1809676"/>
            <a:ext cx="162378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Trends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66308" y="2137172"/>
            <a:ext cx="1623789" cy="99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Shipment and delivery data can be used to identify operational trends and delays across the supply chain lifecycle.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52332" y="1671414"/>
            <a:ext cx="1900312" cy="1596330"/>
          </a:xfrm>
          <a:prstGeom prst="roundRect">
            <a:avLst>
              <a:gd name="adj" fmla="val 326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0593" y="1809676"/>
            <a:ext cx="162378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Drivers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90593" y="2137172"/>
            <a:ext cx="1623789" cy="99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Supplier and transportation performance directly influence overall supply chain efficiency and on-time delivery rates.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28046" y="3391719"/>
            <a:ext cx="3924598" cy="1000944"/>
          </a:xfrm>
          <a:prstGeom prst="roundRect">
            <a:avLst>
              <a:gd name="adj" fmla="val 5205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6308" y="3529980"/>
            <a:ext cx="364807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Optimization Opportunities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66308" y="3857476"/>
            <a:ext cx="36480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Cost, inventory, and product-level analysis helps identify specific areas where operational improvements can be made.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0937"/>
            <a:ext cx="8151763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06004"/>
            <a:ext cx="8151763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Supply Chain Visibility and Optimization successfully transformed raw supply chain data into a structured and analytical Power BI solution. The project enabled better understanding of shipments, suppliers, inventory, transportation, costs, products, and delivery performance, helping identify important trends and areas for optimization.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864891"/>
            <a:ext cx="3924598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876C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Skills Developed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6119" y="2207940"/>
            <a:ext cx="1900312" cy="1160562"/>
          </a:xfrm>
          <a:prstGeom prst="roundRect">
            <a:avLst>
              <a:gd name="adj" fmla="val 448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4855" y="2336676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174" y="2438921"/>
            <a:ext cx="167432" cy="1674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4855" y="2832720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520404" y="2207940"/>
            <a:ext cx="1900312" cy="1160562"/>
          </a:xfrm>
          <a:prstGeom prst="roundRect">
            <a:avLst>
              <a:gd name="adj" fmla="val 448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49141" y="2336676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1460" y="2438921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49141" y="2832720"/>
            <a:ext cx="1642839" cy="4070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Preprocessing &amp; Modeling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96119" y="3492475"/>
            <a:ext cx="1900312" cy="1160562"/>
          </a:xfrm>
          <a:prstGeom prst="roundRect">
            <a:avLst>
              <a:gd name="adj" fmla="val 448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4855" y="3621212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174" y="3723456"/>
            <a:ext cx="167432" cy="1674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4855" y="4117256"/>
            <a:ext cx="1642839" cy="4070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DAX &amp; Data Visualization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2520404" y="3492475"/>
            <a:ext cx="1900312" cy="1160562"/>
          </a:xfrm>
          <a:prstGeom prst="roundRect">
            <a:avLst>
              <a:gd name="adj" fmla="val 448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649141" y="3621212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1460" y="3723456"/>
            <a:ext cx="167432" cy="1674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649141" y="4117256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728046" y="1864891"/>
            <a:ext cx="3924598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83D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Soft Skills Demonstrated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728046" y="2207940"/>
            <a:ext cx="1900312" cy="957039"/>
          </a:xfrm>
          <a:prstGeom prst="roundRect">
            <a:avLst>
              <a:gd name="adj" fmla="val 544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856783" y="2336676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9102" y="2438921"/>
            <a:ext cx="167432" cy="1674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56783" y="2832720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Solving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752332" y="2207940"/>
            <a:ext cx="1900312" cy="957039"/>
          </a:xfrm>
          <a:prstGeom prst="roundRect">
            <a:avLst>
              <a:gd name="adj" fmla="val 544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881068" y="2336676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3388" y="2438921"/>
            <a:ext cx="167432" cy="1674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81068" y="2832720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4728046" y="3288953"/>
            <a:ext cx="1900312" cy="957039"/>
          </a:xfrm>
          <a:prstGeom prst="roundRect">
            <a:avLst>
              <a:gd name="adj" fmla="val 544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856783" y="3417689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9102" y="3519934"/>
            <a:ext cx="167432" cy="1674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856783" y="3913733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Teamwork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6752332" y="3288953"/>
            <a:ext cx="1900312" cy="957039"/>
          </a:xfrm>
          <a:prstGeom prst="roundRect">
            <a:avLst>
              <a:gd name="adj" fmla="val 544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881068" y="3417689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3388" y="3519934"/>
            <a:ext cx="167432" cy="1674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881068" y="3913733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Presentation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8916"/>
            <a:ext cx="8151763" cy="3688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Acknowledgements &amp; References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231353" y="938361"/>
            <a:ext cx="4100661" cy="3863950"/>
          </a:xfrm>
          <a:prstGeom prst="roundRect">
            <a:avLst>
              <a:gd name="adj" fmla="val 2095"/>
            </a:avLst>
          </a:prstGeom>
          <a:solidFill>
            <a:srgbClr val="E7EEF9">
              <a:alpha val="9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27521" y="1002432"/>
            <a:ext cx="3875931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Acknowledgements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7521" y="1709738"/>
            <a:ext cx="3875931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7521" y="1996008"/>
            <a:ext cx="3875931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27521" y="2950964"/>
            <a:ext cx="3875931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27521" y="3237235"/>
            <a:ext cx="3875931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527521" y="4020741"/>
            <a:ext cx="3875931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527521" y="4307012"/>
            <a:ext cx="3875931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4713908" y="1002432"/>
            <a:ext cx="3938736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References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620" y="1287140"/>
            <a:ext cx="3953024" cy="6577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54848" y="1301428"/>
            <a:ext cx="3797796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Supply Chain Dataset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854848" y="1587698"/>
            <a:ext cx="379779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Supply chain dataset provided for the project, containing shipment, inventory, supplier, product, transportation, cost, and delivery data.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620" y="2120057"/>
            <a:ext cx="3953024" cy="65774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54848" y="2134344"/>
            <a:ext cx="3797796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Microsoft Power BI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4854848" y="2420615"/>
            <a:ext cx="379779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Official Microsoft Power BI documentation used for report development, DAX formulas, and data modeling guidance.</a:t>
            </a:r>
            <a:endParaRPr lang="en-US" sz="8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620" y="2952973"/>
            <a:ext cx="3953024" cy="65774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854848" y="2967261"/>
            <a:ext cx="3797796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Infosys Springboard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4854848" y="3253532"/>
            <a:ext cx="379779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Infosys Springboard course and training materials provided as part of the Virtual Internship 7.0 curriculum.</a:t>
            </a:r>
            <a:endParaRPr lang="en-US" sz="8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620" y="3785890"/>
            <a:ext cx="3953024" cy="65774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854848" y="3800177"/>
            <a:ext cx="3797796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 Resources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4854848" y="4086448"/>
            <a:ext cx="379779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Power BI data modeling and visualization resources referenced during development and optimization phases.</a:t>
            </a:r>
            <a:endParaRPr lang="en-US" sz="8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A52210-4FFA-1DBF-E45E-6E6E055B4311}"/>
              </a:ext>
            </a:extLst>
          </p:cNvPr>
          <p:cNvSpPr txBox="1"/>
          <p:nvPr/>
        </p:nvSpPr>
        <p:spPr>
          <a:xfrm>
            <a:off x="527522" y="1301428"/>
            <a:ext cx="3496114" cy="2503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</a:t>
            </a:r>
            <a:r>
              <a:rPr lang="en-IN" dirty="0"/>
              <a:t>– Virtual Internship 7.0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Mentor </a:t>
            </a:r>
            <a:r>
              <a:rPr lang="en-IN" dirty="0"/>
              <a:t>– Ms. Nityasree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b="1" dirty="0"/>
              <a:t>Team D – Group 1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Uppala Bhavya Sri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V. Charita Sree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Velpuri Sai Rohitha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Venkata Puneeth Kothapalli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Yuvasree P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69477"/>
            <a:ext cx="8151763" cy="9000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00" b="1" dirty="0">
                <a:latin typeface="Petrona Bold" panose="020B0604020202020204" charset="0"/>
                <a:ea typeface="Petrona Bold" pitchFamily="34" charset="-122"/>
                <a:cs typeface="Times New Roman" panose="02020603050405020304" pitchFamily="18" charset="0"/>
              </a:rPr>
              <a:t>THANK YO</a:t>
            </a:r>
            <a:r>
              <a:rPr lang="en-US" sz="4400" b="1" dirty="0">
                <a:solidFill>
                  <a:srgbClr val="000000"/>
                </a:solidFill>
                <a:latin typeface="Petrona Bold" panose="020B0604020202020204" charset="0"/>
                <a:ea typeface="Petrona Bold" pitchFamily="34" charset="-122"/>
                <a:cs typeface="Times New Roman" panose="02020603050405020304" pitchFamily="18" charset="0"/>
              </a:rPr>
              <a:t>U</a:t>
            </a:r>
            <a:endParaRPr lang="en-US" sz="4400" dirty="0">
              <a:latin typeface="Petrona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2333104"/>
            <a:ext cx="8151763" cy="5364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050"/>
              </a:spcAft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4855" y="3137818"/>
            <a:ext cx="3823171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4855" y="3415754"/>
            <a:ext cx="3823171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95974" y="3137818"/>
            <a:ext cx="3823171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95974" y="3415754"/>
            <a:ext cx="3823171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7519" y="4080942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734</Words>
  <Application>Microsoft Office PowerPoint</Application>
  <PresentationFormat>On-screen Show (16:9)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Petrona Bold</vt:lpstr>
      <vt:lpstr>Calibri</vt:lpstr>
      <vt:lpstr>Inter Bold</vt:lpstr>
      <vt:lpstr>Arial</vt:lpstr>
      <vt:lpstr>Petrona Light</vt:lpstr>
      <vt:lpstr>Aptos Display</vt:lpstr>
      <vt:lpstr>Inter</vt:lpstr>
      <vt:lpstr>Times New Roman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velpuri sai rohitha</dc:creator>
  <cp:lastModifiedBy>velpuri sai rohitha</cp:lastModifiedBy>
  <cp:revision>5</cp:revision>
  <dcterms:created xsi:type="dcterms:W3CDTF">2026-08-18T14:16:00Z</dcterms:created>
  <dcterms:modified xsi:type="dcterms:W3CDTF">2026-08-18T17:25:03Z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9AAA1D913D24458D8E791B5AE24E2DB9_13</vt:lpwstr>
  </property>
  <property fmtid="{D5CDD505-2E9C-101B-9397-08002B2CF9AE}" pid="3" name="KSOProductBuildVer">
    <vt:lpwstr>1033-12.1.0.28032</vt:lpwstr>
  </property>
</Properties>
</file>