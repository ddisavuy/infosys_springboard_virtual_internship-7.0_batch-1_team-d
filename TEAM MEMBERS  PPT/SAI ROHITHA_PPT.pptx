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embeddedFontLst>
    <p:embeddedFont>
      <p:font typeface="Inter" panose="020B0604020202020204" charset="0"/>
      <p:regular r:id="rId11"/>
    </p:embeddedFont>
    <p:embeddedFont>
      <p:font typeface="Inter Bold" panose="020B0604020202020204" charset="0"/>
      <p:bold r:id="rId12"/>
    </p:embeddedFont>
    <p:embeddedFont>
      <p:font typeface="Petrona Bold" panose="020B0604020202020204" charset="0"/>
      <p:bold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8/19/2026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t>8/19/2026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t>8/19/2026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t>8/19/2026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t>8/19/2026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t>8/19/2026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42483-B3E3-4399-B6B2-4B1D067F8CE5}" type="datetime1">
              <a:rPr lang="en-US" smtClean="0"/>
              <a:t>8/19/2026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t>8/19/2026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t>8/19/2026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t>8/19/2026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t>8/19/2026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t>8/19/2026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A2CEDE-2AB4-4FB8-9551-E0AA4222B1A3}" type="datetime1">
              <a:rPr lang="en-US" smtClean="0"/>
              <a:t>8/19/2026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0677F5-4A8A-4BF1-96BE-3BAE8FBAFE2E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1015" y="708782"/>
            <a:ext cx="4554185" cy="63468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SUPPY CHAIN VISIBILITY SYSTEM
WITH OPTIMIZATION ANALYTICS</a:t>
            </a:r>
          </a:p>
          <a:p>
            <a:pPr marL="0" indent="0">
              <a:lnSpc>
                <a:spcPct val="104000"/>
              </a:lnSpc>
              <a:buNone/>
            </a:pP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393895" y="1505004"/>
            <a:ext cx="4543865" cy="30269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Data-driven analysis and visualization of supply chain operations using Power BI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267519" y="1889665"/>
            <a:ext cx="1455773" cy="30465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Team Members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37625" y="2194322"/>
            <a:ext cx="2004646" cy="127336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25000" lnSpcReduction="20000"/>
          </a:bodyPr>
          <a:lstStyle/>
          <a:p>
            <a:pPr>
              <a:lnSpc>
                <a:spcPct val="133000"/>
              </a:lnSpc>
            </a:pPr>
            <a:r>
              <a:rPr lang="en-IN" sz="4800" dirty="0" err="1">
                <a:latin typeface="Aptos"/>
              </a:rPr>
              <a:t>Umeshwaran</a:t>
            </a:r>
            <a:r>
              <a:rPr lang="en-IN" sz="4800" dirty="0">
                <a:latin typeface="Aptos"/>
              </a:rPr>
              <a:t> R </a:t>
            </a:r>
          </a:p>
          <a:p>
            <a:pPr>
              <a:lnSpc>
                <a:spcPct val="133000"/>
              </a:lnSpc>
            </a:pPr>
            <a:r>
              <a:rPr lang="en-IN" sz="4800" dirty="0">
                <a:latin typeface="Aptos"/>
              </a:rPr>
              <a:t>Uppala BhavyaSri </a:t>
            </a:r>
          </a:p>
          <a:p>
            <a:pPr>
              <a:lnSpc>
                <a:spcPct val="133000"/>
              </a:lnSpc>
            </a:pPr>
            <a:r>
              <a:rPr lang="en-IN" sz="4800" dirty="0">
                <a:latin typeface="Aptos"/>
              </a:rPr>
              <a:t>V. Charita Sree
Velpuri Sai Rohitha </a:t>
            </a:r>
          </a:p>
          <a:p>
            <a:pPr>
              <a:lnSpc>
                <a:spcPct val="133000"/>
              </a:lnSpc>
            </a:pPr>
            <a:r>
              <a:rPr lang="en-IN" sz="4800" dirty="0">
                <a:latin typeface="Aptos"/>
              </a:rPr>
              <a:t>Venkata Puneeth Kothapalli      Yuvasree P</a:t>
            </a:r>
          </a:p>
          <a:p>
            <a:pPr marL="0" indent="0" algn="l">
              <a:lnSpc>
                <a:spcPct val="133000"/>
              </a:lnSpc>
              <a:buNone/>
            </a:pP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67519" y="4157003"/>
            <a:ext cx="2466156" cy="23211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Mentor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093698" y="3692769"/>
            <a:ext cx="4554184" cy="110431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endParaRPr lang="en-US" sz="950" dirty="0"/>
          </a:p>
        </p:txBody>
      </p:sp>
      <p:sp>
        <p:nvSpPr>
          <p:cNvPr id="17" name="TextBox 16"/>
          <p:cNvSpPr txBox="1"/>
          <p:nvPr/>
        </p:nvSpPr>
        <p:spPr>
          <a:xfrm>
            <a:off x="211015" y="3692768"/>
            <a:ext cx="170031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/>
              <a:t>Team D • Group 1</a:t>
            </a:r>
          </a:p>
          <a:p>
            <a:endParaRPr lang="en-IN" dirty="0"/>
          </a:p>
        </p:txBody>
      </p:sp>
      <p:sp>
        <p:nvSpPr>
          <p:cNvPr id="18" name="TextBox 17"/>
          <p:cNvSpPr txBox="1"/>
          <p:nvPr/>
        </p:nvSpPr>
        <p:spPr>
          <a:xfrm>
            <a:off x="267519" y="4389120"/>
            <a:ext cx="199737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Ms. Nityasree</a:t>
            </a:r>
          </a:p>
          <a:p>
            <a:endParaRPr lang="en-IN" b="1" dirty="0">
              <a:latin typeface="Aptos"/>
            </a:endParaRPr>
          </a:p>
          <a:p>
            <a:endParaRPr lang="en-IN" dirty="0"/>
          </a:p>
        </p:txBody>
      </p:sp>
      <p:sp>
        <p:nvSpPr>
          <p:cNvPr id="19" name="TextBox 18"/>
          <p:cNvSpPr txBox="1"/>
          <p:nvPr/>
        </p:nvSpPr>
        <p:spPr>
          <a:xfrm>
            <a:off x="105509" y="322161"/>
            <a:ext cx="40186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Aptos"/>
              </a:rPr>
              <a:t>INFOSYS SPRINGBOARD • VIRTUAL INTERNSHIP 7.0</a:t>
            </a:r>
          </a:p>
          <a:p>
            <a:endParaRPr lang="en-IN" dirty="0"/>
          </a:p>
        </p:txBody>
      </p:sp>
      <p:pic>
        <p:nvPicPr>
          <p:cNvPr id="5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1655" y="0"/>
            <a:ext cx="3787493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72368"/>
            <a:ext cx="8151763" cy="39424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Project Objective</a:t>
            </a:r>
            <a:endParaRPr lang="en-US" sz="2450" dirty="0"/>
          </a:p>
        </p:txBody>
      </p:sp>
      <p:sp>
        <p:nvSpPr>
          <p:cNvPr id="3" name="Text 1"/>
          <p:cNvSpPr/>
          <p:nvPr/>
        </p:nvSpPr>
        <p:spPr>
          <a:xfrm>
            <a:off x="496119" y="1057573"/>
            <a:ext cx="3929286" cy="19719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What We Set Out to Achieve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1139" y="1391580"/>
            <a:ext cx="180231" cy="18023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86569" y="1385664"/>
            <a:ext cx="3538835" cy="1892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Improve visibility across supply chain operations</a:t>
            </a:r>
            <a:endParaRPr lang="en-US" sz="9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1139" y="1990762"/>
            <a:ext cx="180232" cy="18023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86569" y="1984846"/>
            <a:ext cx="3538835" cy="37847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Monitor shipments, deliveries, inventory, suppliers, and transportation</a:t>
            </a:r>
            <a:endParaRPr lang="en-US" sz="9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1139" y="2601999"/>
            <a:ext cx="180231" cy="180231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86569" y="2596083"/>
            <a:ext cx="3538835" cy="37847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Identify cost drivers, bottlenecks, and operational inefficiencies</a:t>
            </a:r>
            <a:endParaRPr lang="en-US" sz="9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1139" y="3213236"/>
            <a:ext cx="180231" cy="18023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86569" y="3207321"/>
            <a:ext cx="3538835" cy="1892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Analyze product, supplier, logistics, and delivery performance</a:t>
            </a:r>
            <a:endParaRPr lang="en-US" sz="9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1139" y="3812418"/>
            <a:ext cx="180231" cy="180231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886569" y="3806503"/>
            <a:ext cx="3538835" cy="1892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Develop meaningful KPIs to support better business decisions</a:t>
            </a:r>
            <a:endParaRPr lang="en-US" sz="900" dirty="0"/>
          </a:p>
        </p:txBody>
      </p:sp>
      <p:sp>
        <p:nvSpPr>
          <p:cNvPr id="14" name="Shape 7"/>
          <p:cNvSpPr/>
          <p:nvPr/>
        </p:nvSpPr>
        <p:spPr>
          <a:xfrm>
            <a:off x="4636815" y="766615"/>
            <a:ext cx="4102373" cy="4004518"/>
          </a:xfrm>
          <a:prstGeom prst="roundRect">
            <a:avLst>
              <a:gd name="adj" fmla="val 2430"/>
            </a:avLst>
          </a:prstGeom>
          <a:solidFill>
            <a:srgbClr val="E7EEF9">
              <a:alpha val="95000"/>
            </a:srgbClr>
          </a:solidFill>
        </p:spPr>
      </p:sp>
      <p:sp>
        <p:nvSpPr>
          <p:cNvPr id="15" name="Text 8"/>
          <p:cNvSpPr/>
          <p:nvPr/>
        </p:nvSpPr>
        <p:spPr>
          <a:xfrm>
            <a:off x="4756919" y="840953"/>
            <a:ext cx="3862164" cy="29341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Project Modules</a:t>
            </a:r>
            <a:endParaRPr lang="en-US" sz="1200" dirty="0"/>
          </a:p>
        </p:txBody>
      </p:sp>
      <p:sp>
        <p:nvSpPr>
          <p:cNvPr id="16" name="Text 9"/>
          <p:cNvSpPr/>
          <p:nvPr/>
        </p:nvSpPr>
        <p:spPr>
          <a:xfrm>
            <a:off x="4756919" y="1385664"/>
            <a:ext cx="240283" cy="15016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01</a:t>
            </a:r>
            <a:endParaRPr lang="en-US" sz="900" dirty="0"/>
          </a:p>
        </p:txBody>
      </p:sp>
      <p:sp>
        <p:nvSpPr>
          <p:cNvPr id="17" name="Shape 10"/>
          <p:cNvSpPr/>
          <p:nvPr/>
        </p:nvSpPr>
        <p:spPr>
          <a:xfrm>
            <a:off x="4756919" y="1575495"/>
            <a:ext cx="3862164" cy="14288"/>
          </a:xfrm>
          <a:prstGeom prst="rect">
            <a:avLst/>
          </a:prstGeom>
          <a:solidFill>
            <a:srgbClr val="007EBD"/>
          </a:solidFill>
        </p:spPr>
      </p:sp>
      <p:sp>
        <p:nvSpPr>
          <p:cNvPr id="18" name="Text 11"/>
          <p:cNvSpPr/>
          <p:nvPr/>
        </p:nvSpPr>
        <p:spPr>
          <a:xfrm>
            <a:off x="4756919" y="1664122"/>
            <a:ext cx="3862164" cy="1892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Problem Understanding</a:t>
            </a:r>
            <a:endParaRPr lang="en-US" sz="900" dirty="0"/>
          </a:p>
        </p:txBody>
      </p:sp>
      <p:sp>
        <p:nvSpPr>
          <p:cNvPr id="19" name="Text 12"/>
          <p:cNvSpPr/>
          <p:nvPr/>
        </p:nvSpPr>
        <p:spPr>
          <a:xfrm>
            <a:off x="4756919" y="2059856"/>
            <a:ext cx="240283" cy="15016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02</a:t>
            </a:r>
            <a:endParaRPr lang="en-US" sz="900" dirty="0"/>
          </a:p>
        </p:txBody>
      </p:sp>
      <p:sp>
        <p:nvSpPr>
          <p:cNvPr id="20" name="Shape 13"/>
          <p:cNvSpPr/>
          <p:nvPr/>
        </p:nvSpPr>
        <p:spPr>
          <a:xfrm>
            <a:off x="4756919" y="2249686"/>
            <a:ext cx="3862164" cy="14288"/>
          </a:xfrm>
          <a:prstGeom prst="rect">
            <a:avLst/>
          </a:prstGeom>
          <a:solidFill>
            <a:srgbClr val="007EBD"/>
          </a:solidFill>
        </p:spPr>
      </p:sp>
      <p:sp>
        <p:nvSpPr>
          <p:cNvPr id="21" name="Text 14"/>
          <p:cNvSpPr/>
          <p:nvPr/>
        </p:nvSpPr>
        <p:spPr>
          <a:xfrm>
            <a:off x="4756919" y="2338313"/>
            <a:ext cx="3862164" cy="1892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Data Collection &amp; Understanding</a:t>
            </a:r>
            <a:endParaRPr lang="en-US" sz="900" dirty="0"/>
          </a:p>
        </p:txBody>
      </p:sp>
      <p:sp>
        <p:nvSpPr>
          <p:cNvPr id="22" name="Text 15"/>
          <p:cNvSpPr/>
          <p:nvPr/>
        </p:nvSpPr>
        <p:spPr>
          <a:xfrm>
            <a:off x="4756919" y="2734047"/>
            <a:ext cx="240283" cy="15016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03</a:t>
            </a:r>
            <a:endParaRPr lang="en-US" sz="900" dirty="0"/>
          </a:p>
        </p:txBody>
      </p:sp>
      <p:sp>
        <p:nvSpPr>
          <p:cNvPr id="23" name="Shape 16"/>
          <p:cNvSpPr/>
          <p:nvPr/>
        </p:nvSpPr>
        <p:spPr>
          <a:xfrm>
            <a:off x="4756919" y="2923877"/>
            <a:ext cx="3862164" cy="14288"/>
          </a:xfrm>
          <a:prstGeom prst="rect">
            <a:avLst/>
          </a:prstGeom>
          <a:solidFill>
            <a:srgbClr val="007EBD"/>
          </a:solidFill>
        </p:spPr>
      </p:sp>
      <p:sp>
        <p:nvSpPr>
          <p:cNvPr id="24" name="Text 17"/>
          <p:cNvSpPr/>
          <p:nvPr/>
        </p:nvSpPr>
        <p:spPr>
          <a:xfrm>
            <a:off x="4756919" y="3012504"/>
            <a:ext cx="3862164" cy="1892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Data Preprocessing</a:t>
            </a:r>
            <a:endParaRPr lang="en-US" sz="900" dirty="0"/>
          </a:p>
        </p:txBody>
      </p:sp>
      <p:sp>
        <p:nvSpPr>
          <p:cNvPr id="25" name="Text 18"/>
          <p:cNvSpPr/>
          <p:nvPr/>
        </p:nvSpPr>
        <p:spPr>
          <a:xfrm>
            <a:off x="4756919" y="3408238"/>
            <a:ext cx="240283" cy="15016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04</a:t>
            </a:r>
            <a:endParaRPr lang="en-US" sz="900" dirty="0"/>
          </a:p>
        </p:txBody>
      </p:sp>
      <p:sp>
        <p:nvSpPr>
          <p:cNvPr id="26" name="Shape 19"/>
          <p:cNvSpPr/>
          <p:nvPr/>
        </p:nvSpPr>
        <p:spPr>
          <a:xfrm>
            <a:off x="4756919" y="3598069"/>
            <a:ext cx="3862164" cy="14288"/>
          </a:xfrm>
          <a:prstGeom prst="rect">
            <a:avLst/>
          </a:prstGeom>
          <a:solidFill>
            <a:srgbClr val="007EBD"/>
          </a:solidFill>
        </p:spPr>
      </p:sp>
      <p:sp>
        <p:nvSpPr>
          <p:cNvPr id="27" name="Text 20"/>
          <p:cNvSpPr/>
          <p:nvPr/>
        </p:nvSpPr>
        <p:spPr>
          <a:xfrm>
            <a:off x="4756919" y="3686696"/>
            <a:ext cx="3862164" cy="1892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Data Modeling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4756919" y="4082430"/>
            <a:ext cx="240283" cy="15016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05</a:t>
            </a:r>
            <a:endParaRPr lang="en-US" sz="900" dirty="0"/>
          </a:p>
        </p:txBody>
      </p:sp>
      <p:sp>
        <p:nvSpPr>
          <p:cNvPr id="29" name="Shape 22"/>
          <p:cNvSpPr/>
          <p:nvPr/>
        </p:nvSpPr>
        <p:spPr>
          <a:xfrm>
            <a:off x="4756919" y="4272260"/>
            <a:ext cx="3862164" cy="14288"/>
          </a:xfrm>
          <a:prstGeom prst="rect">
            <a:avLst/>
          </a:prstGeom>
          <a:solidFill>
            <a:srgbClr val="007EBD"/>
          </a:solidFill>
        </p:spPr>
      </p:sp>
      <p:sp>
        <p:nvSpPr>
          <p:cNvPr id="30" name="Text 23"/>
          <p:cNvSpPr/>
          <p:nvPr/>
        </p:nvSpPr>
        <p:spPr>
          <a:xfrm>
            <a:off x="4756919" y="4360887"/>
            <a:ext cx="3862164" cy="1892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Power BI Visualization &amp; Analysis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41114"/>
            <a:ext cx="8151763" cy="38792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Project Execution Milestones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96119" y="994990"/>
            <a:ext cx="3484736" cy="19392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Milestone 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96119" y="1256481"/>
            <a:ext cx="3484736" cy="136043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272525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Data Acquisition &amp; Cleaning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Collected and understood the supply chain dataset containing shipment, inventory, supplier, product, transportation, cost, and delivery-related information. Cleaned the data by handling missing values, removing duplicates and unnecessary columns, and standardizing data types and formats.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478908" y="1669182"/>
            <a:ext cx="186184" cy="23276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163145" y="1693218"/>
            <a:ext cx="3484736" cy="19392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Milestone 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163145" y="1954709"/>
            <a:ext cx="3484736" cy="80635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272525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Data Modeling</a:t>
            </a:r>
            <a:endParaRPr lang="en-US" sz="9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Prepared the cleaned data for analysis by establishing appropriate relationships and organizing relevant fields for effective reporting and KPI calculation.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478908" y="2858839"/>
            <a:ext cx="186184" cy="23276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96119" y="2882875"/>
            <a:ext cx="3484736" cy="19392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Milestone 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6119" y="3144366"/>
            <a:ext cx="3484736" cy="99104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272525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Development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Developed the Power BI solution using KPIs, charts, and analytical views to understand shipment trends, supplier performance, logistics, costs, inventory, and product performance.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478908" y="3618086"/>
            <a:ext cx="186184" cy="23276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5092505" y="3348111"/>
            <a:ext cx="3555376" cy="48793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Milestone 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92505" y="3618086"/>
            <a:ext cx="3555376" cy="109187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272525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Review &amp; Optimization</a:t>
            </a:r>
            <a:endParaRPr lang="en-US" sz="9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Reviewed analytical results, identified important patterns and bottlenecks, and refined the data model and visualizations to provide clearer and more useful supply chain insights.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6925"/>
            <a:ext cx="8151763" cy="38792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Challenges &amp; Resolutions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066502"/>
            <a:ext cx="3931667" cy="19392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FF90A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Challenges Encountered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387153"/>
            <a:ext cx="3931667" cy="94089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726" y="1519610"/>
            <a:ext cx="3609603" cy="19392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01 — Data Quality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85726" y="1826196"/>
            <a:ext cx="3609603" cy="36939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Dataset contained missing, duplicate, and unnecessary data that required thorough cleaning before any analysis could begin.</a:t>
            </a:r>
            <a:endParaRPr lang="en-US" sz="9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2440707"/>
            <a:ext cx="3931667" cy="94089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85726" y="2573164"/>
            <a:ext cx="3609603" cy="19392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02 — Standardization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685726" y="2879750"/>
            <a:ext cx="3609603" cy="36939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Different fields required standardization of data types, formats, and values before they could be used consistently in analysis.</a:t>
            </a:r>
            <a:endParaRPr lang="en-US" sz="9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5935" y="3494405"/>
            <a:ext cx="3931920" cy="9169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85726" y="3626718"/>
            <a:ext cx="3609603" cy="19392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03 — Attribute Complexity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685726" y="3933304"/>
            <a:ext cx="3609603" cy="55408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The large number of supply chain attributes made it difficult to determine which fields were most relevant for meaningful analysis.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4720977" y="1066502"/>
            <a:ext cx="3931667" cy="19392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876CD4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Resolutions Applied</a:t>
            </a:r>
            <a:endParaRPr lang="en-US" sz="12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20977" y="1387153"/>
            <a:ext cx="3931667" cy="940891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910584" y="1519610"/>
            <a:ext cx="3609603" cy="19392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01 — Data Cleaning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4910584" y="1826196"/>
            <a:ext cx="3609603" cy="36939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Cleaned the dataset by handling missing values and removing duplicates and unnecessary columns to ensure data integrity.</a:t>
            </a:r>
            <a:endParaRPr lang="en-US" sz="9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20977" y="2440707"/>
            <a:ext cx="3931667" cy="940891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910584" y="2573164"/>
            <a:ext cx="3609603" cy="19392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02 — Preprocessing Pipeline</a:t>
            </a:r>
            <a:endParaRPr lang="en-US" sz="1200" dirty="0"/>
          </a:p>
        </p:txBody>
      </p:sp>
      <p:sp>
        <p:nvSpPr>
          <p:cNvPr id="19" name="Text 12"/>
          <p:cNvSpPr/>
          <p:nvPr/>
        </p:nvSpPr>
        <p:spPr>
          <a:xfrm>
            <a:off x="4910584" y="2879750"/>
            <a:ext cx="3609603" cy="36939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Standardized data types, formats, and field values during the preprocessing phase to enable consistent and reliable analysis.</a:t>
            </a:r>
            <a:endParaRPr lang="en-US" sz="90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20977" y="3494261"/>
            <a:ext cx="3931667" cy="940891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4910584" y="3626718"/>
            <a:ext cx="3609603" cy="19392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03 — Focused Modeling</a:t>
            </a:r>
            <a:endParaRPr lang="en-US" sz="1200" dirty="0"/>
          </a:p>
        </p:txBody>
      </p:sp>
      <p:sp>
        <p:nvSpPr>
          <p:cNvPr id="22" name="Text 14"/>
          <p:cNvSpPr/>
          <p:nvPr/>
        </p:nvSpPr>
        <p:spPr>
          <a:xfrm>
            <a:off x="4910584" y="3933304"/>
            <a:ext cx="3609603" cy="36939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Organized the data through modeling and selected relevant KPIs and visualizations to focus the analysis on actionable insights.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11312"/>
            <a:ext cx="8151763" cy="40704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Future Enhancements &amp; Key Insights</a:t>
            </a:r>
            <a:endParaRPr lang="en-US" sz="2550" dirty="0"/>
          </a:p>
        </p:txBody>
      </p:sp>
      <p:sp>
        <p:nvSpPr>
          <p:cNvPr id="3" name="Shape 1"/>
          <p:cNvSpPr/>
          <p:nvPr/>
        </p:nvSpPr>
        <p:spPr>
          <a:xfrm>
            <a:off x="406822" y="1204392"/>
            <a:ext cx="4103191" cy="3327797"/>
          </a:xfrm>
          <a:prstGeom prst="roundRect">
            <a:avLst>
              <a:gd name="adj" fmla="val 2684"/>
            </a:avLst>
          </a:prstGeom>
          <a:solidFill>
            <a:srgbClr val="E7EEF9">
              <a:alpha val="95000"/>
            </a:srgbClr>
          </a:solidFill>
        </p:spPr>
      </p:sp>
      <p:sp>
        <p:nvSpPr>
          <p:cNvPr id="4" name="Text 2"/>
          <p:cNvSpPr/>
          <p:nvPr/>
        </p:nvSpPr>
        <p:spPr>
          <a:xfrm>
            <a:off x="530796" y="1328365"/>
            <a:ext cx="3855244" cy="2035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Future Enhancements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933822" y="1711672"/>
            <a:ext cx="3452217" cy="19846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Add real-time shipment and delivery tracking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933822" y="2238747"/>
            <a:ext cx="3452217" cy="3969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Integrate predictive analytics for demand and inventory forecasting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933822" y="2923952"/>
            <a:ext cx="3452217" cy="3969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Develop automated alerts for delayed shipments and supply chain risks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933822" y="3609156"/>
            <a:ext cx="3452217" cy="3969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Apply advanced analytics to predict bottlenecks and optimize logistics costs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728046" y="1328365"/>
            <a:ext cx="3924598" cy="2035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Key Insights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728046" y="1671414"/>
            <a:ext cx="1900312" cy="1596330"/>
          </a:xfrm>
          <a:prstGeom prst="roundRect">
            <a:avLst>
              <a:gd name="adj" fmla="val 3264"/>
            </a:avLst>
          </a:prstGeom>
          <a:solidFill>
            <a:srgbClr val="FFFFFF">
              <a:alpha val="95000"/>
            </a:srgbClr>
          </a:solidFill>
          <a:ln w="14288">
            <a:solidFill>
              <a:srgbClr val="B2D4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66308" y="1809676"/>
            <a:ext cx="1623789" cy="2035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Operational Trends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866308" y="2137172"/>
            <a:ext cx="1623789" cy="99231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Shipment and delivery data can be used to identify operational trends and delays across the supply chain lifecycle.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752332" y="1671414"/>
            <a:ext cx="1900312" cy="1596330"/>
          </a:xfrm>
          <a:prstGeom prst="roundRect">
            <a:avLst>
              <a:gd name="adj" fmla="val 3264"/>
            </a:avLst>
          </a:prstGeom>
          <a:solidFill>
            <a:srgbClr val="FFFFFF">
              <a:alpha val="95000"/>
            </a:srgbClr>
          </a:solidFill>
          <a:ln w="14288">
            <a:solidFill>
              <a:srgbClr val="B2D4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90593" y="1809676"/>
            <a:ext cx="1623789" cy="2035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Performance Drivers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890593" y="2137172"/>
            <a:ext cx="1623789" cy="99231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Supplier and transportation performance directly influence overall supply chain efficiency and on-time delivery rates.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28046" y="3391719"/>
            <a:ext cx="3924598" cy="1000944"/>
          </a:xfrm>
          <a:prstGeom prst="roundRect">
            <a:avLst>
              <a:gd name="adj" fmla="val 5205"/>
            </a:avLst>
          </a:prstGeom>
          <a:solidFill>
            <a:srgbClr val="FFFFFF">
              <a:alpha val="95000"/>
            </a:srgbClr>
          </a:solidFill>
          <a:ln w="14288">
            <a:solidFill>
              <a:srgbClr val="B2D4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66308" y="3529980"/>
            <a:ext cx="3648075" cy="2035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Optimization Opportunities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866308" y="3857476"/>
            <a:ext cx="3648075" cy="3969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Cost, inventory, and product-level analysis helps identify specific areas where operational improvements can be made.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50937"/>
            <a:ext cx="8151763" cy="40704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Conclusion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496119" y="1006004"/>
            <a:ext cx="8151763" cy="59538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Supply Chain Visibility and Optimization successfully transformed raw supply chain data into a structured and analytical Power BI solution. The project enabled better understanding of shipments, suppliers, inventory, transportation, costs, products, and delivery performance, helping identify important trends and areas for optimization.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96119" y="1864891"/>
            <a:ext cx="3924598" cy="2035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876CD4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Technical Skills Developed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96119" y="2207940"/>
            <a:ext cx="1900312" cy="1160562"/>
          </a:xfrm>
          <a:prstGeom prst="roundRect">
            <a:avLst>
              <a:gd name="adj" fmla="val 4489"/>
            </a:avLst>
          </a:prstGeom>
          <a:solidFill>
            <a:srgbClr val="CCEEFF"/>
          </a:solidFill>
          <a:ln w="4763">
            <a:solidFill>
              <a:srgbClr val="B2D4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4855" y="2336676"/>
            <a:ext cx="372070" cy="372070"/>
          </a:xfrm>
          <a:prstGeom prst="ellipse">
            <a:avLst/>
          </a:prstGeom>
          <a:solidFill>
            <a:srgbClr val="007EBD"/>
          </a:solidFill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7174" y="2438921"/>
            <a:ext cx="167432" cy="1674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24855" y="2832720"/>
            <a:ext cx="1642839" cy="2035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Power BI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2520404" y="2207940"/>
            <a:ext cx="1900312" cy="1160562"/>
          </a:xfrm>
          <a:prstGeom prst="roundRect">
            <a:avLst>
              <a:gd name="adj" fmla="val 4489"/>
            </a:avLst>
          </a:prstGeom>
          <a:solidFill>
            <a:srgbClr val="CCEEFF"/>
          </a:solidFill>
          <a:ln w="4763">
            <a:solidFill>
              <a:srgbClr val="B2D4E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649141" y="2336676"/>
            <a:ext cx="372070" cy="372070"/>
          </a:xfrm>
          <a:prstGeom prst="ellipse">
            <a:avLst/>
          </a:prstGeom>
          <a:solidFill>
            <a:srgbClr val="007EBD"/>
          </a:solidFill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51460" y="2438921"/>
            <a:ext cx="167432" cy="1674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649141" y="2832720"/>
            <a:ext cx="1642839" cy="40704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 Preprocessing &amp; Modeling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496119" y="3492475"/>
            <a:ext cx="1900312" cy="1160562"/>
          </a:xfrm>
          <a:prstGeom prst="roundRect">
            <a:avLst>
              <a:gd name="adj" fmla="val 4489"/>
            </a:avLst>
          </a:prstGeom>
          <a:solidFill>
            <a:srgbClr val="CCEEFF"/>
          </a:solidFill>
          <a:ln w="4763">
            <a:solidFill>
              <a:srgbClr val="B2D4E5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24855" y="3621212"/>
            <a:ext cx="372070" cy="372070"/>
          </a:xfrm>
          <a:prstGeom prst="ellipse">
            <a:avLst/>
          </a:prstGeom>
          <a:solidFill>
            <a:srgbClr val="007EBD"/>
          </a:solidFill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7174" y="3723456"/>
            <a:ext cx="167432" cy="16743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24855" y="4117256"/>
            <a:ext cx="1642839" cy="40704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DAX &amp; Data Visualization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2520404" y="3492475"/>
            <a:ext cx="1900312" cy="1160562"/>
          </a:xfrm>
          <a:prstGeom prst="roundRect">
            <a:avLst>
              <a:gd name="adj" fmla="val 4489"/>
            </a:avLst>
          </a:prstGeom>
          <a:solidFill>
            <a:srgbClr val="CCEEFF"/>
          </a:solidFill>
          <a:ln w="4763">
            <a:solidFill>
              <a:srgbClr val="B2D4E5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2649141" y="3621212"/>
            <a:ext cx="372070" cy="372070"/>
          </a:xfrm>
          <a:prstGeom prst="ellipse">
            <a:avLst/>
          </a:prstGeom>
          <a:solidFill>
            <a:srgbClr val="007EBD"/>
          </a:solidFill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751460" y="3723456"/>
            <a:ext cx="167432" cy="16743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2649141" y="4117256"/>
            <a:ext cx="1642839" cy="2035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 Analysis</a:t>
            </a:r>
            <a:endParaRPr lang="en-US" sz="1250" dirty="0"/>
          </a:p>
        </p:txBody>
      </p:sp>
      <p:sp>
        <p:nvSpPr>
          <p:cNvPr id="21" name="Text 15"/>
          <p:cNvSpPr/>
          <p:nvPr/>
        </p:nvSpPr>
        <p:spPr>
          <a:xfrm>
            <a:off x="4728046" y="1864891"/>
            <a:ext cx="3924598" cy="2035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D783D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Soft Skills Demonstrated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4728046" y="2207940"/>
            <a:ext cx="1900312" cy="957039"/>
          </a:xfrm>
          <a:prstGeom prst="roundRect">
            <a:avLst>
              <a:gd name="adj" fmla="val 5444"/>
            </a:avLst>
          </a:prstGeom>
          <a:solidFill>
            <a:srgbClr val="CCEEFF"/>
          </a:solidFill>
          <a:ln w="4763">
            <a:solidFill>
              <a:srgbClr val="B2D4E5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4856783" y="2336676"/>
            <a:ext cx="372070" cy="372070"/>
          </a:xfrm>
          <a:prstGeom prst="ellipse">
            <a:avLst/>
          </a:prstGeom>
          <a:solidFill>
            <a:srgbClr val="007EBD"/>
          </a:solidFill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59102" y="2438921"/>
            <a:ext cx="167432" cy="16743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4856783" y="2832720"/>
            <a:ext cx="1642839" cy="2035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Problem Solving</a:t>
            </a:r>
            <a:endParaRPr lang="en-US" sz="1250" dirty="0"/>
          </a:p>
        </p:txBody>
      </p:sp>
      <p:sp>
        <p:nvSpPr>
          <p:cNvPr id="26" name="Shape 19"/>
          <p:cNvSpPr/>
          <p:nvPr/>
        </p:nvSpPr>
        <p:spPr>
          <a:xfrm>
            <a:off x="6752332" y="2207940"/>
            <a:ext cx="1900312" cy="957039"/>
          </a:xfrm>
          <a:prstGeom prst="roundRect">
            <a:avLst>
              <a:gd name="adj" fmla="val 5444"/>
            </a:avLst>
          </a:prstGeom>
          <a:solidFill>
            <a:srgbClr val="CCEEFF"/>
          </a:solidFill>
          <a:ln w="4763">
            <a:solidFill>
              <a:srgbClr val="B2D4E5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6881068" y="2336676"/>
            <a:ext cx="372070" cy="372070"/>
          </a:xfrm>
          <a:prstGeom prst="ellipse">
            <a:avLst/>
          </a:prstGeom>
          <a:solidFill>
            <a:srgbClr val="007EBD"/>
          </a:solidFill>
        </p:spPr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983388" y="2438921"/>
            <a:ext cx="167432" cy="167432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6881068" y="2832720"/>
            <a:ext cx="1642839" cy="2035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Communication</a:t>
            </a:r>
            <a:endParaRPr lang="en-US" sz="1250" dirty="0"/>
          </a:p>
        </p:txBody>
      </p:sp>
      <p:sp>
        <p:nvSpPr>
          <p:cNvPr id="30" name="Shape 22"/>
          <p:cNvSpPr/>
          <p:nvPr/>
        </p:nvSpPr>
        <p:spPr>
          <a:xfrm>
            <a:off x="4728046" y="3288953"/>
            <a:ext cx="1900312" cy="957039"/>
          </a:xfrm>
          <a:prstGeom prst="roundRect">
            <a:avLst>
              <a:gd name="adj" fmla="val 5444"/>
            </a:avLst>
          </a:prstGeom>
          <a:solidFill>
            <a:srgbClr val="CCEEFF"/>
          </a:solidFill>
          <a:ln w="4763">
            <a:solidFill>
              <a:srgbClr val="B2D4E5"/>
            </a:solidFill>
            <a:prstDash val="solid"/>
          </a:ln>
        </p:spPr>
      </p:sp>
      <p:sp>
        <p:nvSpPr>
          <p:cNvPr id="31" name="Shape 23"/>
          <p:cNvSpPr/>
          <p:nvPr/>
        </p:nvSpPr>
        <p:spPr>
          <a:xfrm>
            <a:off x="4856783" y="3417689"/>
            <a:ext cx="372070" cy="372070"/>
          </a:xfrm>
          <a:prstGeom prst="ellipse">
            <a:avLst/>
          </a:prstGeom>
          <a:solidFill>
            <a:srgbClr val="007EBD"/>
          </a:solidFill>
        </p:spPr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959102" y="3519934"/>
            <a:ext cx="167432" cy="167432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4856783" y="3913733"/>
            <a:ext cx="1642839" cy="2035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Teamwork</a:t>
            </a:r>
            <a:endParaRPr lang="en-US" sz="1250" dirty="0"/>
          </a:p>
        </p:txBody>
      </p:sp>
      <p:sp>
        <p:nvSpPr>
          <p:cNvPr id="34" name="Shape 25"/>
          <p:cNvSpPr/>
          <p:nvPr/>
        </p:nvSpPr>
        <p:spPr>
          <a:xfrm>
            <a:off x="6752332" y="3288953"/>
            <a:ext cx="1900312" cy="957039"/>
          </a:xfrm>
          <a:prstGeom prst="roundRect">
            <a:avLst>
              <a:gd name="adj" fmla="val 5444"/>
            </a:avLst>
          </a:prstGeom>
          <a:solidFill>
            <a:srgbClr val="CCEEFF"/>
          </a:solidFill>
          <a:ln w="4763">
            <a:solidFill>
              <a:srgbClr val="B2D4E5"/>
            </a:solidFill>
            <a:prstDash val="solid"/>
          </a:ln>
        </p:spPr>
      </p:sp>
      <p:sp>
        <p:nvSpPr>
          <p:cNvPr id="35" name="Shape 26"/>
          <p:cNvSpPr/>
          <p:nvPr/>
        </p:nvSpPr>
        <p:spPr>
          <a:xfrm>
            <a:off x="6881068" y="3417689"/>
            <a:ext cx="372070" cy="372070"/>
          </a:xfrm>
          <a:prstGeom prst="ellipse">
            <a:avLst/>
          </a:prstGeom>
          <a:solidFill>
            <a:srgbClr val="007EBD"/>
          </a:solidFill>
        </p:spPr>
      </p:sp>
      <p:pic>
        <p:nvPicPr>
          <p:cNvPr id="36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983388" y="3519934"/>
            <a:ext cx="167432" cy="167432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6881068" y="3913733"/>
            <a:ext cx="1642839" cy="2035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Presentation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78916"/>
            <a:ext cx="8151763" cy="36887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Acknowledgements &amp; References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231353" y="938361"/>
            <a:ext cx="4100661" cy="3863950"/>
          </a:xfrm>
          <a:prstGeom prst="roundRect">
            <a:avLst>
              <a:gd name="adj" fmla="val 2095"/>
            </a:avLst>
          </a:prstGeom>
          <a:solidFill>
            <a:srgbClr val="E7EEF9">
              <a:alpha val="95000"/>
            </a:srgbClr>
          </a:solidFill>
        </p:spPr>
      </p:sp>
      <p:sp>
        <p:nvSpPr>
          <p:cNvPr id="4" name="Text 2"/>
          <p:cNvSpPr/>
          <p:nvPr/>
        </p:nvSpPr>
        <p:spPr>
          <a:xfrm>
            <a:off x="527521" y="1002432"/>
            <a:ext cx="3875931" cy="18439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Acknowledgements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527521" y="1709738"/>
            <a:ext cx="3875931" cy="18439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27521" y="1996008"/>
            <a:ext cx="3875931" cy="3429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endParaRPr lang="en-US" sz="850" dirty="0"/>
          </a:p>
        </p:txBody>
      </p:sp>
      <p:sp>
        <p:nvSpPr>
          <p:cNvPr id="9" name="Text 5"/>
          <p:cNvSpPr/>
          <p:nvPr/>
        </p:nvSpPr>
        <p:spPr>
          <a:xfrm>
            <a:off x="527521" y="2950964"/>
            <a:ext cx="3875931" cy="18439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527521" y="3237235"/>
            <a:ext cx="3875931" cy="1714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endParaRPr lang="en-US" sz="850" dirty="0"/>
          </a:p>
        </p:txBody>
      </p:sp>
      <p:sp>
        <p:nvSpPr>
          <p:cNvPr id="12" name="Text 7"/>
          <p:cNvSpPr/>
          <p:nvPr/>
        </p:nvSpPr>
        <p:spPr>
          <a:xfrm>
            <a:off x="527521" y="4020741"/>
            <a:ext cx="3875931" cy="18439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150" dirty="0"/>
          </a:p>
        </p:txBody>
      </p:sp>
      <p:sp>
        <p:nvSpPr>
          <p:cNvPr id="13" name="Text 8"/>
          <p:cNvSpPr/>
          <p:nvPr/>
        </p:nvSpPr>
        <p:spPr>
          <a:xfrm>
            <a:off x="527521" y="4307012"/>
            <a:ext cx="3875931" cy="3429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endParaRPr lang="en-US" sz="850" dirty="0"/>
          </a:p>
        </p:txBody>
      </p:sp>
      <p:sp>
        <p:nvSpPr>
          <p:cNvPr id="14" name="Text 9"/>
          <p:cNvSpPr/>
          <p:nvPr/>
        </p:nvSpPr>
        <p:spPr>
          <a:xfrm>
            <a:off x="4713908" y="1002432"/>
            <a:ext cx="3938736" cy="18439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References</a:t>
            </a:r>
            <a:endParaRPr lang="en-US" sz="11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99620" y="1287140"/>
            <a:ext cx="3953024" cy="65774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854848" y="1301428"/>
            <a:ext cx="3797796" cy="18439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Supply Chain Dataset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4854848" y="1587698"/>
            <a:ext cx="3797796" cy="3429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Supply chain dataset provided for the project, containing shipment, inventory, supplier, product, transportation, cost, and delivery data.</a:t>
            </a:r>
            <a:endParaRPr lang="en-US" sz="85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99620" y="2120057"/>
            <a:ext cx="3953024" cy="657746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4854848" y="2134344"/>
            <a:ext cx="3797796" cy="18439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Microsoft Power BI</a:t>
            </a:r>
            <a:endParaRPr lang="en-US" sz="1150" dirty="0"/>
          </a:p>
        </p:txBody>
      </p:sp>
      <p:sp>
        <p:nvSpPr>
          <p:cNvPr id="20" name="Text 13"/>
          <p:cNvSpPr/>
          <p:nvPr/>
        </p:nvSpPr>
        <p:spPr>
          <a:xfrm>
            <a:off x="4854848" y="2420615"/>
            <a:ext cx="3797796" cy="3429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Official Microsoft Power BI documentation used for report development, DAX formulas, and data modeling guidance.</a:t>
            </a:r>
            <a:endParaRPr lang="en-US" sz="850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99620" y="2952973"/>
            <a:ext cx="3953024" cy="657746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4854848" y="2967261"/>
            <a:ext cx="3797796" cy="18439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Infosys Springboard</a:t>
            </a:r>
            <a:endParaRPr lang="en-US" sz="1150" dirty="0"/>
          </a:p>
        </p:txBody>
      </p:sp>
      <p:sp>
        <p:nvSpPr>
          <p:cNvPr id="23" name="Text 15"/>
          <p:cNvSpPr/>
          <p:nvPr/>
        </p:nvSpPr>
        <p:spPr>
          <a:xfrm>
            <a:off x="4854848" y="3253532"/>
            <a:ext cx="3797796" cy="3429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Infosys Springboard course and training materials provided as part of the Virtual Internship 7.0 curriculum.</a:t>
            </a:r>
            <a:endParaRPr lang="en-US" sz="850" dirty="0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99620" y="3785890"/>
            <a:ext cx="3953024" cy="657746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4854848" y="3800177"/>
            <a:ext cx="3797796" cy="18439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Power BI Resources</a:t>
            </a:r>
            <a:endParaRPr lang="en-US" sz="1150" dirty="0"/>
          </a:p>
        </p:txBody>
      </p:sp>
      <p:sp>
        <p:nvSpPr>
          <p:cNvPr id="26" name="Text 17"/>
          <p:cNvSpPr/>
          <p:nvPr/>
        </p:nvSpPr>
        <p:spPr>
          <a:xfrm>
            <a:off x="4854848" y="4086448"/>
            <a:ext cx="3797796" cy="3429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Power BI data modeling and visualization resources referenced during development and optimization phases.</a:t>
            </a:r>
            <a:endParaRPr lang="en-US" sz="850" dirty="0"/>
          </a:p>
        </p:txBody>
      </p:sp>
      <p:sp>
        <p:nvSpPr>
          <p:cNvPr id="27" name="TextBox 26"/>
          <p:cNvSpPr txBox="1"/>
          <p:nvPr/>
        </p:nvSpPr>
        <p:spPr>
          <a:xfrm>
            <a:off x="527522" y="1301428"/>
            <a:ext cx="3496114" cy="25032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1E2B38"/>
                </a:solidFill>
                <a:latin typeface="Aptos"/>
              </a:defRPr>
            </a:pPr>
            <a:r>
              <a:rPr lang="en-IN" dirty="0"/>
              <a:t>•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Infosys Springboard </a:t>
            </a:r>
            <a:r>
              <a:rPr lang="en-IN" dirty="0"/>
              <a:t>– Virtual Internship 7.0</a:t>
            </a:r>
          </a:p>
          <a:p>
            <a:pPr>
              <a:spcAft>
                <a:spcPts val="700"/>
              </a:spcAft>
              <a:defRPr sz="1150">
                <a:solidFill>
                  <a:srgbClr val="1E2B38"/>
                </a:solidFill>
                <a:latin typeface="Aptos"/>
              </a:defRPr>
            </a:pPr>
            <a:r>
              <a:rPr lang="en-IN" dirty="0"/>
              <a:t>•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Mentor </a:t>
            </a:r>
            <a:r>
              <a:rPr lang="en-IN" dirty="0"/>
              <a:t>– Ms. Nityasree</a:t>
            </a:r>
          </a:p>
          <a:p>
            <a:pPr>
              <a:spcAft>
                <a:spcPts val="700"/>
              </a:spcAft>
              <a:defRPr sz="1150">
                <a:solidFill>
                  <a:srgbClr val="1E2B38"/>
                </a:solidFill>
                <a:latin typeface="Aptos"/>
              </a:defRPr>
            </a:pPr>
            <a:r>
              <a:rPr lang="en-IN" dirty="0"/>
              <a:t>• </a:t>
            </a:r>
            <a:r>
              <a:rPr lang="en-IN" b="1" dirty="0"/>
              <a:t>Team D – Group 1</a:t>
            </a:r>
          </a:p>
          <a:p>
            <a:pPr>
              <a:spcAft>
                <a:spcPts val="700"/>
              </a:spcAft>
              <a:defRPr sz="1150">
                <a:solidFill>
                  <a:srgbClr val="1E2B38"/>
                </a:solidFill>
                <a:latin typeface="Aptos"/>
              </a:defRPr>
            </a:pPr>
            <a:r>
              <a:rPr lang="en-IN" dirty="0"/>
              <a:t>• Uppala Bhavya Sri</a:t>
            </a:r>
          </a:p>
          <a:p>
            <a:pPr>
              <a:spcAft>
                <a:spcPts val="700"/>
              </a:spcAft>
              <a:defRPr sz="1150">
                <a:solidFill>
                  <a:srgbClr val="1E2B38"/>
                </a:solidFill>
                <a:latin typeface="Aptos"/>
              </a:defRPr>
            </a:pPr>
            <a:r>
              <a:rPr lang="en-IN" dirty="0"/>
              <a:t>• V. Charita Sree</a:t>
            </a:r>
          </a:p>
          <a:p>
            <a:pPr>
              <a:spcAft>
                <a:spcPts val="700"/>
              </a:spcAft>
              <a:defRPr sz="1150">
                <a:solidFill>
                  <a:srgbClr val="1E2B38"/>
                </a:solidFill>
                <a:latin typeface="Aptos"/>
              </a:defRPr>
            </a:pPr>
            <a:r>
              <a:rPr lang="en-IN" dirty="0"/>
              <a:t>• Velpuri Sai Rohitha</a:t>
            </a:r>
          </a:p>
          <a:p>
            <a:pPr>
              <a:spcAft>
                <a:spcPts val="700"/>
              </a:spcAft>
              <a:defRPr sz="1150">
                <a:solidFill>
                  <a:srgbClr val="1E2B38"/>
                </a:solidFill>
                <a:latin typeface="Aptos"/>
              </a:defRPr>
            </a:pPr>
            <a:r>
              <a:rPr lang="en-IN" dirty="0"/>
              <a:t>• Venkata Puneeth Kothapalli</a:t>
            </a:r>
          </a:p>
          <a:p>
            <a:pPr>
              <a:spcAft>
                <a:spcPts val="700"/>
              </a:spcAft>
              <a:defRPr sz="1150">
                <a:solidFill>
                  <a:srgbClr val="1E2B38"/>
                </a:solidFill>
                <a:latin typeface="Aptos"/>
              </a:defRPr>
            </a:pPr>
            <a:r>
              <a:rPr lang="en-IN" dirty="0"/>
              <a:t>• Yuvasree P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969477"/>
            <a:ext cx="8151763" cy="90007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4400" b="1" dirty="0">
                <a:latin typeface="Petrona Bold" pitchFamily="34" charset="0"/>
                <a:ea typeface="Petrona Bold" pitchFamily="34" charset="-122"/>
                <a:cs typeface="Times New Roman" panose="02020603050405020304" pitchFamily="18" charset="0"/>
              </a:rPr>
              <a:t>THANK YO</a:t>
            </a:r>
            <a:r>
              <a:rPr lang="en-US" sz="44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Times New Roman" panose="02020603050405020304" pitchFamily="18" charset="0"/>
              </a:rPr>
              <a:t>U</a:t>
            </a:r>
            <a:endParaRPr lang="en-US" sz="4400" dirty="0">
              <a:latin typeface="Petrona Bold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96119" y="2333104"/>
            <a:ext cx="8151763" cy="53645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3000"/>
              </a:lnSpc>
              <a:spcAft>
                <a:spcPts val="1050"/>
              </a:spcAft>
              <a:buNone/>
            </a:pP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4855" y="3137818"/>
            <a:ext cx="3823171" cy="2035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24855" y="3415754"/>
            <a:ext cx="3823171" cy="3969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695974" y="3137818"/>
            <a:ext cx="3823171" cy="2035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695974" y="3415754"/>
            <a:ext cx="3823171" cy="3969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67519" y="4080942"/>
            <a:ext cx="8608963" cy="19846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734</Words>
  <Application>Microsoft Office PowerPoint</Application>
  <PresentationFormat>On-screen Show (16:9)</PresentationFormat>
  <Paragraphs>110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8" baseType="lpstr">
      <vt:lpstr>Petrona Bold</vt:lpstr>
      <vt:lpstr>Aptos</vt:lpstr>
      <vt:lpstr>Inter Bold</vt:lpstr>
      <vt:lpstr>Times New Roman</vt:lpstr>
      <vt:lpstr>Aptos Display</vt:lpstr>
      <vt:lpstr>Petrona Light</vt:lpstr>
      <vt:lpstr>Calibri</vt:lpstr>
      <vt:lpstr>Inter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velpuri sai rohitha</dc:creator>
  <cp:lastModifiedBy>velpuri sai rohitha</cp:lastModifiedBy>
  <cp:revision>6</cp:revision>
  <dcterms:created xsi:type="dcterms:W3CDTF">2026-08-18T14:16:00Z</dcterms:created>
  <dcterms:modified xsi:type="dcterms:W3CDTF">2026-08-19T15:46:34Z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9AAA1D913D24458D8E791B5AE24E2DB9_13</vt:lpwstr>
  </property>
  <property fmtid="{D5CDD505-2E9C-101B-9397-08002B2CF9AE}" pid="3" name="KSOProductBuildVer">
    <vt:lpwstr>1033-12.1.0.28032</vt:lpwstr>
  </property>
</Properties>
</file>