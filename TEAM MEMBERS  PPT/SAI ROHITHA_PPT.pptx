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embeddedFontLst>
    <p:embeddedFont>
      <p:font typeface="Inter" panose="020B0604020202020204" charset="0"/>
      <p:regular r:id="rId11"/>
    </p:embeddedFont>
    <p:embeddedFont>
      <p:font typeface="Inter Bold" panose="020B0604020202020204" charset="0"/>
      <p:bold r:id="rId12"/>
    </p:embeddedFont>
    <p:embeddedFont>
      <p:font typeface="Petrona Bold" panose="020B0604020202020204" charset="0"/>
      <p:bold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8/20/2026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GB"/>
              <a:t>Click to edit Master title style</a:t>
            </a:r>
            <a:endParaRPr lang="en-IN"/>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IN"/>
          </a:p>
        </p:txBody>
      </p:sp>
      <p:sp>
        <p:nvSpPr>
          <p:cNvPr id="4" name="Date Placeholder 3"/>
          <p:cNvSpPr>
            <a:spLocks noGrp="1"/>
          </p:cNvSpPr>
          <p:nvPr>
            <p:ph type="dt" sz="half" idx="10"/>
          </p:nvPr>
        </p:nvSpPr>
        <p:spPr/>
        <p:txBody>
          <a:bodyPr/>
          <a:lstStyle/>
          <a:p>
            <a:fld id="{7DA2CEDE-2AB4-4FB8-9551-E0AA4222B1A3}" type="datetime1">
              <a:rPr lang="en-US" smtClean="0"/>
              <a:t>8/20/2026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IN"/>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p:cNvSpPr>
            <a:spLocks noGrp="1"/>
          </p:cNvSpPr>
          <p:nvPr>
            <p:ph type="dt" sz="half" idx="10"/>
          </p:nvPr>
        </p:nvSpPr>
        <p:spPr/>
        <p:txBody>
          <a:bodyPr/>
          <a:lstStyle/>
          <a:p>
            <a:fld id="{7DA2CEDE-2AB4-4FB8-9551-E0AA4222B1A3}" type="datetime1">
              <a:rPr lang="en-US" smtClean="0"/>
              <a:t>8/20/2026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GB"/>
              <a:t>Click to edit Master title style</a:t>
            </a:r>
            <a:endParaRPr lang="en-IN"/>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7DA2CEDE-2AB4-4FB8-9551-E0AA4222B1A3}" type="datetime1">
              <a:rPr lang="en-US" smtClean="0"/>
              <a:t>8/20/2026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IN"/>
          </a:p>
        </p:txBody>
      </p:sp>
      <p:sp>
        <p:nvSpPr>
          <p:cNvPr id="3" name="Content Placeholder 2"/>
          <p:cNvSpPr>
            <a:spLocks noGrp="1"/>
          </p:cNvSpPr>
          <p:nvPr>
            <p:ph sz="half" idx="1"/>
          </p:nvPr>
        </p:nvSpPr>
        <p:spPr>
          <a:xfrm>
            <a:off x="628650" y="1369219"/>
            <a:ext cx="3886200" cy="326350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Content Placeholder 3"/>
          <p:cNvSpPr>
            <a:spLocks noGrp="1"/>
          </p:cNvSpPr>
          <p:nvPr>
            <p:ph sz="half" idx="2"/>
          </p:nvPr>
        </p:nvSpPr>
        <p:spPr>
          <a:xfrm>
            <a:off x="4629150" y="1369219"/>
            <a:ext cx="3886200" cy="326350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Date Placeholder 4"/>
          <p:cNvSpPr>
            <a:spLocks noGrp="1"/>
          </p:cNvSpPr>
          <p:nvPr>
            <p:ph type="dt" sz="half" idx="10"/>
          </p:nvPr>
        </p:nvSpPr>
        <p:spPr/>
        <p:txBody>
          <a:bodyPr/>
          <a:lstStyle/>
          <a:p>
            <a:fld id="{7DA2CEDE-2AB4-4FB8-9551-E0AA4222B1A3}" type="datetime1">
              <a:rPr lang="en-US" smtClean="0"/>
              <a:t>8/20/2026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GB"/>
              <a:t>Click to edit Master title style</a:t>
            </a:r>
            <a:endParaRPr lang="en-IN"/>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7" name="Date Placeholder 6"/>
          <p:cNvSpPr>
            <a:spLocks noGrp="1"/>
          </p:cNvSpPr>
          <p:nvPr>
            <p:ph type="dt" sz="half" idx="10"/>
          </p:nvPr>
        </p:nvSpPr>
        <p:spPr/>
        <p:txBody>
          <a:bodyPr/>
          <a:lstStyle/>
          <a:p>
            <a:fld id="{7DA2CEDE-2AB4-4FB8-9551-E0AA4222B1A3}" type="datetime1">
              <a:rPr lang="en-US" smtClean="0"/>
              <a:t>8/20/2026</a:t>
            </a:fld>
            <a:endParaRPr lang="en-US" dirty="0"/>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9" name="Slide Number Placeholder 8"/>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IN"/>
          </a:p>
        </p:txBody>
      </p:sp>
      <p:sp>
        <p:nvSpPr>
          <p:cNvPr id="3" name="Date Placeholder 2"/>
          <p:cNvSpPr>
            <a:spLocks noGrp="1"/>
          </p:cNvSpPr>
          <p:nvPr>
            <p:ph type="dt" sz="half" idx="10"/>
          </p:nvPr>
        </p:nvSpPr>
        <p:spPr/>
        <p:txBody>
          <a:bodyPr/>
          <a:lstStyle/>
          <a:p>
            <a:fld id="{16C42483-B3E3-4399-B6B2-4B1D067F8CE5}" type="datetime1">
              <a:rPr lang="en-US" smtClean="0"/>
              <a:t>8/20/2026</a:t>
            </a:fld>
            <a:endParaRPr lang="en-US"/>
          </a:p>
        </p:txBody>
      </p:sp>
      <p:sp>
        <p:nvSpPr>
          <p:cNvPr id="4" name="Footer Placeholder 3"/>
          <p:cNvSpPr>
            <a:spLocks noGrp="1"/>
          </p:cNvSpPr>
          <p:nvPr>
            <p:ph type="ftr" sz="quarter" idx="11"/>
          </p:nvPr>
        </p:nvSpPr>
        <p:spPr/>
        <p:txBody>
          <a:bodyPr/>
          <a:lstStyle/>
          <a:p>
            <a:r>
              <a:rPr lang="en-US"/>
              <a:t>Sample Footer Text</a:t>
            </a:r>
          </a:p>
        </p:txBody>
      </p:sp>
      <p:sp>
        <p:nvSpPr>
          <p:cNvPr id="5" name="Slide Number Placeholder 4"/>
          <p:cNvSpPr>
            <a:spLocks noGrp="1"/>
          </p:cNvSpPr>
          <p:nvPr>
            <p:ph type="sldNum" sz="quarter" idx="12"/>
          </p:nvPr>
        </p:nvSpPr>
        <p:spPr/>
        <p:txBody>
          <a:bodyPr/>
          <a:lstStyle/>
          <a:p>
            <a:fld id="{5E0677F5-4A8A-4BF1-96BE-3BAE8FBAFE2E}" type="slidenum">
              <a:rPr lang="en-US" smtClean="0"/>
              <a:t>‹#›</a:t>
            </a:fld>
            <a:endParaRPr 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DA2CEDE-2AB4-4FB8-9551-E0AA4222B1A3}" type="datetime1">
              <a:rPr lang="en-US" smtClean="0"/>
              <a:t>8/20/2026</a:t>
            </a:fld>
            <a:endParaRPr lang="en-US" dirty="0"/>
          </a:p>
        </p:txBody>
      </p:sp>
      <p:sp>
        <p:nvSpPr>
          <p:cNvPr id="3" name="Footer Placeholder 2"/>
          <p:cNvSpPr>
            <a:spLocks noGrp="1"/>
          </p:cNvSpPr>
          <p:nvPr>
            <p:ph type="ftr" sz="quarter" idx="11"/>
          </p:nvPr>
        </p:nvSpPr>
        <p:spPr/>
        <p:txBody>
          <a:bodyPr/>
          <a:lstStyle/>
          <a:p>
            <a:r>
              <a:rPr lang="en-US"/>
              <a:t>Sample Footer Text</a:t>
            </a:r>
            <a:endParaRPr lang="en-US" dirty="0"/>
          </a:p>
        </p:txBody>
      </p:sp>
      <p:sp>
        <p:nvSpPr>
          <p:cNvPr id="4" name="Slide Number Placeholder 3"/>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GB"/>
              <a:t>Click to edit Master title style</a:t>
            </a:r>
            <a:endParaRPr lang="en-IN"/>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7DA2CEDE-2AB4-4FB8-9551-E0AA4222B1A3}" type="datetime1">
              <a:rPr lang="en-US" smtClean="0"/>
              <a:t>8/20/2026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GB"/>
              <a:t>Click to edit Master title style</a:t>
            </a:r>
            <a:endParaRPr lang="en-IN"/>
          </a:p>
        </p:txBody>
      </p:sp>
      <p:sp>
        <p:nvSpPr>
          <p:cNvPr id="3" name="Picture Placeholder 2"/>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IN"/>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7DA2CEDE-2AB4-4FB8-9551-E0AA4222B1A3}" type="datetime1">
              <a:rPr lang="en-US" smtClean="0"/>
              <a:t>8/20/2026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p:cNvSpPr>
            <a:spLocks noGrp="1"/>
          </p:cNvSpPr>
          <p:nvPr>
            <p:ph type="dt" sz="half" idx="10"/>
          </p:nvPr>
        </p:nvSpPr>
        <p:spPr/>
        <p:txBody>
          <a:bodyPr/>
          <a:lstStyle/>
          <a:p>
            <a:fld id="{7DA2CEDE-2AB4-4FB8-9551-E0AA4222B1A3}" type="datetime1">
              <a:rPr lang="en-US" smtClean="0"/>
              <a:t>8/20/2026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GB"/>
              <a:t>Click to edit Master title style</a:t>
            </a:r>
            <a:endParaRPr lang="en-IN"/>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p:cNvSpPr>
            <a:spLocks noGrp="1"/>
          </p:cNvSpPr>
          <p:nvPr>
            <p:ph type="dt" sz="half" idx="10"/>
          </p:nvPr>
        </p:nvSpPr>
        <p:spPr/>
        <p:txBody>
          <a:bodyPr/>
          <a:lstStyle/>
          <a:p>
            <a:fld id="{7DA2CEDE-2AB4-4FB8-9551-E0AA4222B1A3}" type="datetime1">
              <a:rPr lang="en-US" smtClean="0"/>
              <a:t>8/20/2026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5E0677F5-4A8A-4BF1-96BE-3BAE8FBAFE2E}" type="slidenum">
              <a:rPr lang="en-US" smtClean="0"/>
              <a:t>‹#›</a:t>
            </a:fld>
            <a:endParaRPr lang="en-US" dirty="0"/>
          </a:p>
        </p:txBody>
      </p:sp>
    </p:spTree>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master 2">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GB"/>
              <a:t>Click to edit Master title style</a:t>
            </a:r>
            <a:endParaRPr lang="en-IN"/>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7DA2CEDE-2AB4-4FB8-9551-E0AA4222B1A3}" type="datetime1">
              <a:rPr lang="en-US" smtClean="0"/>
              <a:t>8/20/2026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r>
              <a:rPr lang="en-US"/>
              <a:t>Sample Footer Text</a:t>
            </a:r>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5E0677F5-4A8A-4BF1-96BE-3BAE8FBAFE2E}" type="slidenum">
              <a:rPr lang="en-US" smtClean="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8.svg"/><Relationship Id="rId5" Type="http://schemas.openxmlformats.org/officeDocument/2006/relationships/image" Target="../media/image7.sv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svg"/></Relationships>
</file>

<file path=ppt/slides/_rels/slide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11015" y="708782"/>
            <a:ext cx="4554185" cy="634683"/>
          </a:xfrm>
          <a:prstGeom prst="rect">
            <a:avLst/>
          </a:prstGeom>
          <a:noFill/>
        </p:spPr>
        <p:txBody>
          <a:bodyPr wrap="none" lIns="0" tIns="0" rIns="0" bIns="0" rtlCol="0" anchor="t"/>
          <a:lstStyle/>
          <a:p>
            <a:pPr>
              <a:lnSpc>
                <a:spcPct val="104000"/>
              </a:lnSpc>
            </a:pPr>
            <a:r>
              <a:rPr lang="en-US" sz="2000" b="1" dirty="0">
                <a:latin typeface="Times New Roman" panose="02020603050405020304" pitchFamily="18" charset="0"/>
                <a:cs typeface="Times New Roman" panose="02020603050405020304" pitchFamily="18" charset="0"/>
              </a:rPr>
              <a:t>SUPPY CHAIN VISIBILITY SYSTEM
WITH OPTIMIZATION ANALYTICS</a:t>
            </a:r>
          </a:p>
          <a:p>
            <a:pPr marL="0" indent="0">
              <a:lnSpc>
                <a:spcPct val="104000"/>
              </a:lnSpc>
              <a:buNone/>
            </a:pPr>
            <a:endParaRPr lang="en-US" sz="2550" dirty="0"/>
          </a:p>
        </p:txBody>
      </p:sp>
      <p:sp>
        <p:nvSpPr>
          <p:cNvPr id="3" name="Text 1"/>
          <p:cNvSpPr/>
          <p:nvPr/>
        </p:nvSpPr>
        <p:spPr>
          <a:xfrm>
            <a:off x="393895" y="1505004"/>
            <a:ext cx="4543865" cy="302697"/>
          </a:xfrm>
          <a:prstGeom prst="rect">
            <a:avLst/>
          </a:prstGeom>
          <a:noFill/>
        </p:spPr>
        <p:txBody>
          <a:bodyPr wrap="none" lIns="0" tIns="0" rIns="0" bIns="0" rtlCol="0" anchor="t"/>
          <a:lstStyle/>
          <a:p>
            <a:pPr marL="0" indent="0" algn="ctr">
              <a:lnSpc>
                <a:spcPct val="133000"/>
              </a:lnSpc>
              <a:buNone/>
            </a:pPr>
            <a:r>
              <a:rPr lang="en-US" sz="950" b="1" dirty="0">
                <a:solidFill>
                  <a:srgbClr val="272525"/>
                </a:solidFill>
                <a:latin typeface="Inter Bold" panose="02000503000000020004" pitchFamily="34" charset="0"/>
                <a:ea typeface="Inter Bold" panose="02000503000000020004" pitchFamily="34" charset="-122"/>
                <a:cs typeface="Inter Bold" panose="02000503000000020004" pitchFamily="34" charset="-120"/>
              </a:rPr>
              <a:t>Data-driven analysis and visualization of supply chain operations using Power BI</a:t>
            </a:r>
            <a:endParaRPr lang="en-US" sz="950" dirty="0"/>
          </a:p>
        </p:txBody>
      </p:sp>
      <p:sp>
        <p:nvSpPr>
          <p:cNvPr id="6" name="Text 4"/>
          <p:cNvSpPr/>
          <p:nvPr/>
        </p:nvSpPr>
        <p:spPr>
          <a:xfrm>
            <a:off x="267519" y="1889665"/>
            <a:ext cx="1455773" cy="304657"/>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Team Members</a:t>
            </a:r>
            <a:endParaRPr lang="en-US" sz="1250" dirty="0"/>
          </a:p>
        </p:txBody>
      </p:sp>
      <p:sp>
        <p:nvSpPr>
          <p:cNvPr id="7" name="Text 5"/>
          <p:cNvSpPr/>
          <p:nvPr/>
        </p:nvSpPr>
        <p:spPr>
          <a:xfrm>
            <a:off x="337625" y="2194322"/>
            <a:ext cx="2004646" cy="1273364"/>
          </a:xfrm>
          <a:prstGeom prst="rect">
            <a:avLst/>
          </a:prstGeom>
          <a:noFill/>
        </p:spPr>
        <p:txBody>
          <a:bodyPr wrap="square" lIns="0" tIns="0" rIns="0" bIns="0" rtlCol="0" anchor="t">
            <a:normAutofit fontScale="25000" lnSpcReduction="20000"/>
          </a:bodyPr>
          <a:lstStyle/>
          <a:p>
            <a:pPr>
              <a:lnSpc>
                <a:spcPct val="133000"/>
              </a:lnSpc>
            </a:pPr>
            <a:r>
              <a:rPr lang="en-IN" sz="4800" dirty="0" err="1">
                <a:latin typeface="Aptos"/>
              </a:rPr>
              <a:t>Umeshwaran</a:t>
            </a:r>
            <a:r>
              <a:rPr lang="en-IN" sz="4800" dirty="0">
                <a:latin typeface="Aptos"/>
              </a:rPr>
              <a:t> R </a:t>
            </a:r>
          </a:p>
          <a:p>
            <a:pPr>
              <a:lnSpc>
                <a:spcPct val="133000"/>
              </a:lnSpc>
            </a:pPr>
            <a:r>
              <a:rPr lang="en-IN" sz="4800" dirty="0">
                <a:latin typeface="Aptos"/>
              </a:rPr>
              <a:t>Uppala BhavyaSri </a:t>
            </a:r>
          </a:p>
          <a:p>
            <a:pPr>
              <a:lnSpc>
                <a:spcPct val="133000"/>
              </a:lnSpc>
            </a:pPr>
            <a:r>
              <a:rPr lang="en-IN" sz="4800" dirty="0">
                <a:latin typeface="Aptos"/>
              </a:rPr>
              <a:t>V. Charita Sree
Velpuri Sai Rohitha </a:t>
            </a:r>
          </a:p>
          <a:p>
            <a:pPr>
              <a:lnSpc>
                <a:spcPct val="133000"/>
              </a:lnSpc>
            </a:pPr>
            <a:r>
              <a:rPr lang="en-IN" sz="4800" dirty="0">
                <a:latin typeface="Aptos"/>
              </a:rPr>
              <a:t>Venkata Puneeth Kothapalli      Yuvasree P</a:t>
            </a:r>
          </a:p>
          <a:p>
            <a:pPr marL="0" indent="0" algn="l">
              <a:lnSpc>
                <a:spcPct val="133000"/>
              </a:lnSpc>
              <a:buNone/>
            </a:pPr>
            <a:endParaRPr lang="en-US" sz="950" dirty="0"/>
          </a:p>
        </p:txBody>
      </p:sp>
      <p:sp>
        <p:nvSpPr>
          <p:cNvPr id="14" name="Text 12"/>
          <p:cNvSpPr/>
          <p:nvPr/>
        </p:nvSpPr>
        <p:spPr>
          <a:xfrm>
            <a:off x="267519" y="4157003"/>
            <a:ext cx="2466156" cy="232116"/>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Mentor</a:t>
            </a:r>
            <a:endParaRPr lang="en-US" sz="1250" dirty="0"/>
          </a:p>
        </p:txBody>
      </p:sp>
      <p:sp>
        <p:nvSpPr>
          <p:cNvPr id="16" name="Text 14"/>
          <p:cNvSpPr/>
          <p:nvPr/>
        </p:nvSpPr>
        <p:spPr>
          <a:xfrm>
            <a:off x="4093698" y="3692769"/>
            <a:ext cx="4554184" cy="1104314"/>
          </a:xfrm>
          <a:prstGeom prst="rect">
            <a:avLst/>
          </a:prstGeom>
          <a:noFill/>
        </p:spPr>
        <p:txBody>
          <a:bodyPr wrap="square" lIns="0" tIns="0" rIns="0" bIns="0" rtlCol="0" anchor="t">
            <a:normAutofit/>
          </a:bodyPr>
          <a:lstStyle/>
          <a:p>
            <a:pPr marL="0" indent="0" algn="ctr">
              <a:lnSpc>
                <a:spcPct val="133000"/>
              </a:lnSpc>
              <a:buNone/>
            </a:pPr>
            <a:endParaRPr lang="en-US" sz="950" dirty="0"/>
          </a:p>
        </p:txBody>
      </p:sp>
      <p:sp>
        <p:nvSpPr>
          <p:cNvPr id="17" name="TextBox 16"/>
          <p:cNvSpPr txBox="1"/>
          <p:nvPr/>
        </p:nvSpPr>
        <p:spPr>
          <a:xfrm>
            <a:off x="211015" y="3692768"/>
            <a:ext cx="1700318" cy="553998"/>
          </a:xfrm>
          <a:prstGeom prst="rect">
            <a:avLst/>
          </a:prstGeom>
          <a:noFill/>
        </p:spPr>
        <p:txBody>
          <a:bodyPr wrap="square" rtlCol="0">
            <a:spAutoFit/>
          </a:bodyPr>
          <a:lstStyle/>
          <a:p>
            <a:r>
              <a:rPr lang="en-IN" sz="1200" b="1" dirty="0"/>
              <a:t>Team D • Group 1</a:t>
            </a:r>
          </a:p>
          <a:p>
            <a:endParaRPr lang="en-IN" dirty="0"/>
          </a:p>
        </p:txBody>
      </p:sp>
      <p:sp>
        <p:nvSpPr>
          <p:cNvPr id="18" name="TextBox 17"/>
          <p:cNvSpPr txBox="1"/>
          <p:nvPr/>
        </p:nvSpPr>
        <p:spPr>
          <a:xfrm>
            <a:off x="267519" y="4389120"/>
            <a:ext cx="1997379" cy="830997"/>
          </a:xfrm>
          <a:prstGeom prst="rect">
            <a:avLst/>
          </a:prstGeom>
          <a:noFill/>
        </p:spPr>
        <p:txBody>
          <a:bodyPr wrap="square" rtlCol="0">
            <a:spAutoFit/>
          </a:bodyPr>
          <a:lstStyle/>
          <a:p>
            <a:r>
              <a:rPr lang="en-IN" sz="1200" dirty="0"/>
              <a:t>Ms. Nityasree</a:t>
            </a:r>
          </a:p>
          <a:p>
            <a:endParaRPr lang="en-IN" b="1" dirty="0">
              <a:latin typeface="Aptos"/>
            </a:endParaRPr>
          </a:p>
          <a:p>
            <a:endParaRPr lang="en-IN" dirty="0"/>
          </a:p>
        </p:txBody>
      </p:sp>
      <p:sp>
        <p:nvSpPr>
          <p:cNvPr id="19" name="TextBox 18"/>
          <p:cNvSpPr txBox="1"/>
          <p:nvPr/>
        </p:nvSpPr>
        <p:spPr>
          <a:xfrm>
            <a:off x="105509" y="322161"/>
            <a:ext cx="4018660" cy="523220"/>
          </a:xfrm>
          <a:prstGeom prst="rect">
            <a:avLst/>
          </a:prstGeom>
          <a:noFill/>
        </p:spPr>
        <p:txBody>
          <a:bodyPr wrap="square" rtlCol="0">
            <a:spAutoFit/>
          </a:bodyPr>
          <a:lstStyle/>
          <a:p>
            <a:r>
              <a:rPr lang="en-US" sz="1000" dirty="0">
                <a:latin typeface="Aptos"/>
              </a:rPr>
              <a:t>INFOSYS SPRINGBOARD • VIRTUAL INTERNSHIP 7.0</a:t>
            </a:r>
          </a:p>
          <a:p>
            <a:endParaRPr lang="en-IN" dirty="0"/>
          </a:p>
        </p:txBody>
      </p:sp>
      <p:pic>
        <p:nvPicPr>
          <p:cNvPr id="5" name="Image 0"/>
          <p:cNvPicPr>
            <a:picLocks noChangeAspect="1"/>
          </p:cNvPicPr>
          <p:nvPr/>
        </p:nvPicPr>
        <p:blipFill>
          <a:blip r:embed="rId3"/>
          <a:stretch>
            <a:fillRect/>
          </a:stretch>
        </p:blipFill>
        <p:spPr>
          <a:xfrm>
            <a:off x="5331655" y="0"/>
            <a:ext cx="3787493"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19" y="372368"/>
            <a:ext cx="8151763" cy="394246"/>
          </a:xfrm>
          <a:prstGeom prst="rect">
            <a:avLst/>
          </a:prstGeom>
          <a:noFill/>
        </p:spPr>
        <p:txBody>
          <a:bodyPr wrap="none" lIns="0" tIns="0" rIns="0" bIns="0" rtlCol="0" anchor="t"/>
          <a:lstStyle/>
          <a:p>
            <a:pPr marL="0" indent="0" algn="l">
              <a:lnSpc>
                <a:spcPct val="104000"/>
              </a:lnSpc>
              <a:buNone/>
            </a:pPr>
            <a:r>
              <a:rPr lang="en-US" sz="2450" b="1" dirty="0">
                <a:solidFill>
                  <a:srgbClr val="000000"/>
                </a:solidFill>
                <a:latin typeface="Petrona Bold" pitchFamily="34" charset="0"/>
                <a:ea typeface="Petrona Bold" pitchFamily="34" charset="-122"/>
                <a:cs typeface="Petrona Bold" pitchFamily="34" charset="-120"/>
              </a:rPr>
              <a:t>Project Objective</a:t>
            </a:r>
            <a:endParaRPr lang="en-US" sz="2450" dirty="0"/>
          </a:p>
        </p:txBody>
      </p:sp>
      <p:sp>
        <p:nvSpPr>
          <p:cNvPr id="3" name="Text 1"/>
          <p:cNvSpPr/>
          <p:nvPr/>
        </p:nvSpPr>
        <p:spPr>
          <a:xfrm>
            <a:off x="496119" y="1057573"/>
            <a:ext cx="3929286" cy="197197"/>
          </a:xfrm>
          <a:prstGeom prst="rect">
            <a:avLst/>
          </a:prstGeom>
          <a:noFill/>
        </p:spPr>
        <p:txBody>
          <a:bodyPr wrap="none" lIns="0" tIns="0" rIns="0" bIns="0" rtlCol="0" anchor="t"/>
          <a:lstStyle/>
          <a:p>
            <a:pPr marL="0" indent="0" algn="l">
              <a:lnSpc>
                <a:spcPct val="104000"/>
              </a:lnSpc>
              <a:buNone/>
            </a:pPr>
            <a:r>
              <a:rPr lang="en-US" sz="1200" b="1" dirty="0">
                <a:solidFill>
                  <a:srgbClr val="000000"/>
                </a:solidFill>
                <a:latin typeface="Petrona Bold" pitchFamily="34" charset="0"/>
                <a:ea typeface="Petrona Bold" pitchFamily="34" charset="-122"/>
                <a:cs typeface="Petrona Bold" pitchFamily="34" charset="-120"/>
              </a:rPr>
              <a:t>What We Set Out to Achieve</a:t>
            </a:r>
            <a:endParaRPr lang="en-US" sz="120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1139" y="1391580"/>
            <a:ext cx="180231" cy="180231"/>
          </a:xfrm>
          <a:prstGeom prst="rect">
            <a:avLst/>
          </a:prstGeom>
        </p:spPr>
      </p:pic>
      <p:sp>
        <p:nvSpPr>
          <p:cNvPr id="5" name="Text 2"/>
          <p:cNvSpPr/>
          <p:nvPr/>
        </p:nvSpPr>
        <p:spPr>
          <a:xfrm>
            <a:off x="886569" y="1385664"/>
            <a:ext cx="3538835"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Improve visibility across supply chain operations</a:t>
            </a:r>
            <a:endParaRPr lang="en-US" sz="90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1139" y="1990762"/>
            <a:ext cx="180232" cy="180232"/>
          </a:xfrm>
          <a:prstGeom prst="rect">
            <a:avLst/>
          </a:prstGeom>
        </p:spPr>
      </p:pic>
      <p:sp>
        <p:nvSpPr>
          <p:cNvPr id="7" name="Text 3"/>
          <p:cNvSpPr/>
          <p:nvPr/>
        </p:nvSpPr>
        <p:spPr>
          <a:xfrm>
            <a:off x="886569" y="1984846"/>
            <a:ext cx="3538835" cy="378470"/>
          </a:xfrm>
          <a:prstGeom prst="rect">
            <a:avLst/>
          </a:prstGeom>
          <a:noFill/>
        </p:spPr>
        <p:txBody>
          <a:bodyPr wrap="square" lIns="0" tIns="0" rIns="0" bIns="0" rtlCol="0" anchor="t">
            <a:normAutofit/>
          </a:bodyPr>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Monitor shipments, deliveries, inventory, suppliers, and transportation</a:t>
            </a:r>
            <a:endParaRPr lang="en-US" sz="900" dirty="0"/>
          </a:p>
        </p:txBody>
      </p:sp>
      <p:pic>
        <p:nvPicPr>
          <p:cNvPr id="8"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1139" y="2601999"/>
            <a:ext cx="180231" cy="180231"/>
          </a:xfrm>
          <a:prstGeom prst="rect">
            <a:avLst/>
          </a:prstGeom>
        </p:spPr>
      </p:pic>
      <p:sp>
        <p:nvSpPr>
          <p:cNvPr id="9" name="Text 4"/>
          <p:cNvSpPr/>
          <p:nvPr/>
        </p:nvSpPr>
        <p:spPr>
          <a:xfrm>
            <a:off x="886569" y="2596083"/>
            <a:ext cx="3538835" cy="378470"/>
          </a:xfrm>
          <a:prstGeom prst="rect">
            <a:avLst/>
          </a:prstGeom>
          <a:noFill/>
        </p:spPr>
        <p:txBody>
          <a:bodyPr wrap="square" lIns="0" tIns="0" rIns="0" bIns="0" rtlCol="0" anchor="t">
            <a:normAutofit/>
          </a:bodyPr>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Identify cost drivers, bottlenecks, and operational inefficiencies</a:t>
            </a:r>
            <a:endParaRPr lang="en-US" sz="900" dirty="0"/>
          </a:p>
        </p:txBody>
      </p:sp>
      <p:pic>
        <p:nvPicPr>
          <p:cNvPr id="10"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1139" y="3213236"/>
            <a:ext cx="180231" cy="180231"/>
          </a:xfrm>
          <a:prstGeom prst="rect">
            <a:avLst/>
          </a:prstGeom>
        </p:spPr>
      </p:pic>
      <p:sp>
        <p:nvSpPr>
          <p:cNvPr id="11" name="Text 5"/>
          <p:cNvSpPr/>
          <p:nvPr/>
        </p:nvSpPr>
        <p:spPr>
          <a:xfrm>
            <a:off x="886569" y="3207321"/>
            <a:ext cx="3538835"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Analyze product, supplier, logistics, and delivery performance</a:t>
            </a:r>
            <a:endParaRPr lang="en-US" sz="900" dirty="0"/>
          </a:p>
        </p:txBody>
      </p:sp>
      <p:pic>
        <p:nvPicPr>
          <p:cNvPr id="12"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1139" y="3812418"/>
            <a:ext cx="180231" cy="180231"/>
          </a:xfrm>
          <a:prstGeom prst="rect">
            <a:avLst/>
          </a:prstGeom>
        </p:spPr>
      </p:pic>
      <p:sp>
        <p:nvSpPr>
          <p:cNvPr id="13" name="Text 6"/>
          <p:cNvSpPr/>
          <p:nvPr/>
        </p:nvSpPr>
        <p:spPr>
          <a:xfrm>
            <a:off x="886569" y="3806503"/>
            <a:ext cx="3538835"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Develop meaningful KPIs to support better business decisions</a:t>
            </a:r>
            <a:endParaRPr lang="en-US" sz="900" dirty="0"/>
          </a:p>
        </p:txBody>
      </p:sp>
      <p:sp>
        <p:nvSpPr>
          <p:cNvPr id="14" name="Shape 7"/>
          <p:cNvSpPr/>
          <p:nvPr/>
        </p:nvSpPr>
        <p:spPr>
          <a:xfrm>
            <a:off x="4636815" y="766615"/>
            <a:ext cx="4102373" cy="4004518"/>
          </a:xfrm>
          <a:prstGeom prst="roundRect">
            <a:avLst>
              <a:gd name="adj" fmla="val 2430"/>
            </a:avLst>
          </a:prstGeom>
          <a:solidFill>
            <a:srgbClr val="E7EEF9">
              <a:alpha val="95000"/>
            </a:srgbClr>
          </a:solidFill>
        </p:spPr>
      </p:sp>
      <p:sp>
        <p:nvSpPr>
          <p:cNvPr id="15" name="Text 8"/>
          <p:cNvSpPr/>
          <p:nvPr/>
        </p:nvSpPr>
        <p:spPr>
          <a:xfrm>
            <a:off x="4756919" y="840953"/>
            <a:ext cx="3862164" cy="293415"/>
          </a:xfrm>
          <a:prstGeom prst="rect">
            <a:avLst/>
          </a:prstGeom>
          <a:noFill/>
        </p:spPr>
        <p:txBody>
          <a:bodyPr wrap="none" lIns="0" tIns="0" rIns="0" bIns="0" rtlCol="0" anchor="t"/>
          <a:lstStyle/>
          <a:p>
            <a:pPr marL="0" indent="0" algn="l">
              <a:lnSpc>
                <a:spcPct val="104000"/>
              </a:lnSpc>
              <a:buNone/>
            </a:pPr>
            <a:r>
              <a:rPr lang="en-US" sz="1200" b="1" dirty="0">
                <a:solidFill>
                  <a:srgbClr val="000000"/>
                </a:solidFill>
                <a:latin typeface="Petrona Bold" pitchFamily="34" charset="0"/>
                <a:ea typeface="Petrona Bold" pitchFamily="34" charset="-122"/>
                <a:cs typeface="Petrona Bold" pitchFamily="34" charset="-120"/>
              </a:rPr>
              <a:t>Project Modules</a:t>
            </a:r>
            <a:endParaRPr lang="en-US" sz="1200" dirty="0"/>
          </a:p>
        </p:txBody>
      </p:sp>
      <p:sp>
        <p:nvSpPr>
          <p:cNvPr id="16" name="Text 9"/>
          <p:cNvSpPr/>
          <p:nvPr/>
        </p:nvSpPr>
        <p:spPr>
          <a:xfrm>
            <a:off x="4756919" y="1385664"/>
            <a:ext cx="240283" cy="150168"/>
          </a:xfrm>
          <a:prstGeom prst="rect">
            <a:avLst/>
          </a:prstGeom>
          <a:noFill/>
        </p:spPr>
        <p:txBody>
          <a:bodyPr wrap="none" lIns="0" tIns="0" rIns="0" bIns="0" rtlCol="0" anchor="ctr"/>
          <a:lstStyle/>
          <a:p>
            <a:pPr marL="0" indent="0" algn="l">
              <a:lnSpc>
                <a:spcPct val="100000"/>
              </a:lnSpc>
              <a:buNone/>
            </a:pPr>
            <a:r>
              <a:rPr lang="en-US" sz="900" dirty="0">
                <a:solidFill>
                  <a:srgbClr val="272525"/>
                </a:solidFill>
                <a:latin typeface="Petrona Light" pitchFamily="34" charset="0"/>
                <a:ea typeface="Petrona Light" pitchFamily="34" charset="-122"/>
                <a:cs typeface="Petrona Light" pitchFamily="34" charset="-120"/>
              </a:rPr>
              <a:t>01</a:t>
            </a:r>
            <a:endParaRPr lang="en-US" sz="900" dirty="0"/>
          </a:p>
        </p:txBody>
      </p:sp>
      <p:sp>
        <p:nvSpPr>
          <p:cNvPr id="17" name="Shape 10"/>
          <p:cNvSpPr/>
          <p:nvPr/>
        </p:nvSpPr>
        <p:spPr>
          <a:xfrm>
            <a:off x="4756919" y="1575495"/>
            <a:ext cx="3862164" cy="14288"/>
          </a:xfrm>
          <a:prstGeom prst="rect">
            <a:avLst/>
          </a:prstGeom>
          <a:solidFill>
            <a:srgbClr val="007EBD"/>
          </a:solidFill>
        </p:spPr>
      </p:sp>
      <p:sp>
        <p:nvSpPr>
          <p:cNvPr id="18" name="Text 11"/>
          <p:cNvSpPr/>
          <p:nvPr/>
        </p:nvSpPr>
        <p:spPr>
          <a:xfrm>
            <a:off x="4756919" y="1664122"/>
            <a:ext cx="3862164"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Problem Understanding</a:t>
            </a:r>
            <a:endParaRPr lang="en-US" sz="900" dirty="0"/>
          </a:p>
        </p:txBody>
      </p:sp>
      <p:sp>
        <p:nvSpPr>
          <p:cNvPr id="19" name="Text 12"/>
          <p:cNvSpPr/>
          <p:nvPr/>
        </p:nvSpPr>
        <p:spPr>
          <a:xfrm>
            <a:off x="4756919" y="2059856"/>
            <a:ext cx="240283" cy="150168"/>
          </a:xfrm>
          <a:prstGeom prst="rect">
            <a:avLst/>
          </a:prstGeom>
          <a:noFill/>
        </p:spPr>
        <p:txBody>
          <a:bodyPr wrap="none" lIns="0" tIns="0" rIns="0" bIns="0" rtlCol="0" anchor="ctr"/>
          <a:lstStyle/>
          <a:p>
            <a:pPr marL="0" indent="0" algn="l">
              <a:lnSpc>
                <a:spcPct val="100000"/>
              </a:lnSpc>
              <a:buNone/>
            </a:pPr>
            <a:r>
              <a:rPr lang="en-US" sz="900" dirty="0">
                <a:solidFill>
                  <a:srgbClr val="272525"/>
                </a:solidFill>
                <a:latin typeface="Petrona Light" pitchFamily="34" charset="0"/>
                <a:ea typeface="Petrona Light" pitchFamily="34" charset="-122"/>
                <a:cs typeface="Petrona Light" pitchFamily="34" charset="-120"/>
              </a:rPr>
              <a:t>02</a:t>
            </a:r>
            <a:endParaRPr lang="en-US" sz="900" dirty="0"/>
          </a:p>
        </p:txBody>
      </p:sp>
      <p:sp>
        <p:nvSpPr>
          <p:cNvPr id="20" name="Shape 13"/>
          <p:cNvSpPr/>
          <p:nvPr/>
        </p:nvSpPr>
        <p:spPr>
          <a:xfrm>
            <a:off x="4756919" y="2249686"/>
            <a:ext cx="3862164" cy="14288"/>
          </a:xfrm>
          <a:prstGeom prst="rect">
            <a:avLst/>
          </a:prstGeom>
          <a:solidFill>
            <a:srgbClr val="007EBD"/>
          </a:solidFill>
        </p:spPr>
      </p:sp>
      <p:sp>
        <p:nvSpPr>
          <p:cNvPr id="21" name="Text 14"/>
          <p:cNvSpPr/>
          <p:nvPr/>
        </p:nvSpPr>
        <p:spPr>
          <a:xfrm>
            <a:off x="4756919" y="2338313"/>
            <a:ext cx="3862164"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Data Collection &amp; Understanding</a:t>
            </a:r>
            <a:endParaRPr lang="en-US" sz="900" dirty="0"/>
          </a:p>
        </p:txBody>
      </p:sp>
      <p:sp>
        <p:nvSpPr>
          <p:cNvPr id="22" name="Text 15"/>
          <p:cNvSpPr/>
          <p:nvPr/>
        </p:nvSpPr>
        <p:spPr>
          <a:xfrm>
            <a:off x="4756919" y="2734047"/>
            <a:ext cx="240283" cy="150168"/>
          </a:xfrm>
          <a:prstGeom prst="rect">
            <a:avLst/>
          </a:prstGeom>
          <a:noFill/>
        </p:spPr>
        <p:txBody>
          <a:bodyPr wrap="none" lIns="0" tIns="0" rIns="0" bIns="0" rtlCol="0" anchor="ctr"/>
          <a:lstStyle/>
          <a:p>
            <a:pPr marL="0" indent="0" algn="l">
              <a:lnSpc>
                <a:spcPct val="100000"/>
              </a:lnSpc>
              <a:buNone/>
            </a:pPr>
            <a:r>
              <a:rPr lang="en-US" sz="900" dirty="0">
                <a:solidFill>
                  <a:srgbClr val="272525"/>
                </a:solidFill>
                <a:latin typeface="Petrona Light" pitchFamily="34" charset="0"/>
                <a:ea typeface="Petrona Light" pitchFamily="34" charset="-122"/>
                <a:cs typeface="Petrona Light" pitchFamily="34" charset="-120"/>
              </a:rPr>
              <a:t>03</a:t>
            </a:r>
            <a:endParaRPr lang="en-US" sz="900" dirty="0"/>
          </a:p>
        </p:txBody>
      </p:sp>
      <p:sp>
        <p:nvSpPr>
          <p:cNvPr id="23" name="Shape 16"/>
          <p:cNvSpPr/>
          <p:nvPr/>
        </p:nvSpPr>
        <p:spPr>
          <a:xfrm>
            <a:off x="4756919" y="2923877"/>
            <a:ext cx="3862164" cy="14288"/>
          </a:xfrm>
          <a:prstGeom prst="rect">
            <a:avLst/>
          </a:prstGeom>
          <a:solidFill>
            <a:srgbClr val="007EBD"/>
          </a:solidFill>
        </p:spPr>
      </p:sp>
      <p:sp>
        <p:nvSpPr>
          <p:cNvPr id="24" name="Text 17"/>
          <p:cNvSpPr/>
          <p:nvPr/>
        </p:nvSpPr>
        <p:spPr>
          <a:xfrm>
            <a:off x="4756919" y="3012504"/>
            <a:ext cx="3862164"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Data Preprocessing</a:t>
            </a:r>
            <a:endParaRPr lang="en-US" sz="900" dirty="0"/>
          </a:p>
        </p:txBody>
      </p:sp>
      <p:sp>
        <p:nvSpPr>
          <p:cNvPr id="25" name="Text 18"/>
          <p:cNvSpPr/>
          <p:nvPr/>
        </p:nvSpPr>
        <p:spPr>
          <a:xfrm>
            <a:off x="4756919" y="3408238"/>
            <a:ext cx="240283" cy="150168"/>
          </a:xfrm>
          <a:prstGeom prst="rect">
            <a:avLst/>
          </a:prstGeom>
          <a:noFill/>
        </p:spPr>
        <p:txBody>
          <a:bodyPr wrap="none" lIns="0" tIns="0" rIns="0" bIns="0" rtlCol="0" anchor="ctr"/>
          <a:lstStyle/>
          <a:p>
            <a:pPr marL="0" indent="0" algn="l">
              <a:lnSpc>
                <a:spcPct val="100000"/>
              </a:lnSpc>
              <a:buNone/>
            </a:pPr>
            <a:r>
              <a:rPr lang="en-US" sz="900" dirty="0">
                <a:solidFill>
                  <a:srgbClr val="272525"/>
                </a:solidFill>
                <a:latin typeface="Petrona Light" pitchFamily="34" charset="0"/>
                <a:ea typeface="Petrona Light" pitchFamily="34" charset="-122"/>
                <a:cs typeface="Petrona Light" pitchFamily="34" charset="-120"/>
              </a:rPr>
              <a:t>04</a:t>
            </a:r>
            <a:endParaRPr lang="en-US" sz="900" dirty="0"/>
          </a:p>
        </p:txBody>
      </p:sp>
      <p:sp>
        <p:nvSpPr>
          <p:cNvPr id="26" name="Shape 19"/>
          <p:cNvSpPr/>
          <p:nvPr/>
        </p:nvSpPr>
        <p:spPr>
          <a:xfrm>
            <a:off x="4756919" y="3598069"/>
            <a:ext cx="3862164" cy="14288"/>
          </a:xfrm>
          <a:prstGeom prst="rect">
            <a:avLst/>
          </a:prstGeom>
          <a:solidFill>
            <a:srgbClr val="007EBD"/>
          </a:solidFill>
        </p:spPr>
      </p:sp>
      <p:sp>
        <p:nvSpPr>
          <p:cNvPr id="27" name="Text 20"/>
          <p:cNvSpPr/>
          <p:nvPr/>
        </p:nvSpPr>
        <p:spPr>
          <a:xfrm>
            <a:off x="4756919" y="3686696"/>
            <a:ext cx="3862164"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Data Modeling</a:t>
            </a:r>
            <a:endParaRPr lang="en-US" sz="900" dirty="0"/>
          </a:p>
        </p:txBody>
      </p:sp>
      <p:sp>
        <p:nvSpPr>
          <p:cNvPr id="28" name="Text 21"/>
          <p:cNvSpPr/>
          <p:nvPr/>
        </p:nvSpPr>
        <p:spPr>
          <a:xfrm>
            <a:off x="4756919" y="4082430"/>
            <a:ext cx="240283" cy="150168"/>
          </a:xfrm>
          <a:prstGeom prst="rect">
            <a:avLst/>
          </a:prstGeom>
          <a:noFill/>
        </p:spPr>
        <p:txBody>
          <a:bodyPr wrap="none" lIns="0" tIns="0" rIns="0" bIns="0" rtlCol="0" anchor="ctr"/>
          <a:lstStyle/>
          <a:p>
            <a:pPr marL="0" indent="0" algn="l">
              <a:lnSpc>
                <a:spcPct val="100000"/>
              </a:lnSpc>
              <a:buNone/>
            </a:pPr>
            <a:r>
              <a:rPr lang="en-US" sz="900" dirty="0">
                <a:solidFill>
                  <a:srgbClr val="272525"/>
                </a:solidFill>
                <a:latin typeface="Petrona Light" pitchFamily="34" charset="0"/>
                <a:ea typeface="Petrona Light" pitchFamily="34" charset="-122"/>
                <a:cs typeface="Petrona Light" pitchFamily="34" charset="-120"/>
              </a:rPr>
              <a:t>05</a:t>
            </a:r>
            <a:endParaRPr lang="en-US" sz="900" dirty="0"/>
          </a:p>
        </p:txBody>
      </p:sp>
      <p:sp>
        <p:nvSpPr>
          <p:cNvPr id="29" name="Shape 22"/>
          <p:cNvSpPr/>
          <p:nvPr/>
        </p:nvSpPr>
        <p:spPr>
          <a:xfrm>
            <a:off x="4756919" y="4272260"/>
            <a:ext cx="3862164" cy="14288"/>
          </a:xfrm>
          <a:prstGeom prst="rect">
            <a:avLst/>
          </a:prstGeom>
          <a:solidFill>
            <a:srgbClr val="007EBD"/>
          </a:solidFill>
        </p:spPr>
      </p:sp>
      <p:sp>
        <p:nvSpPr>
          <p:cNvPr id="30" name="Text 23"/>
          <p:cNvSpPr/>
          <p:nvPr/>
        </p:nvSpPr>
        <p:spPr>
          <a:xfrm>
            <a:off x="4756919" y="4360887"/>
            <a:ext cx="3862164" cy="189235"/>
          </a:xfrm>
          <a:prstGeom prst="rect">
            <a:avLst/>
          </a:prstGeom>
          <a:noFill/>
        </p:spPr>
        <p:txBody>
          <a:bodyPr wrap="none" lIns="0" tIns="0" rIns="0" bIns="0" rtlCol="0" anchor="t"/>
          <a:lstStyle/>
          <a:p>
            <a:pPr marL="0" indent="0" algn="l">
              <a:lnSpc>
                <a:spcPct val="131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Power BI Visualization &amp; Analysis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19" y="341114"/>
            <a:ext cx="8151763" cy="387921"/>
          </a:xfrm>
          <a:prstGeom prst="rect">
            <a:avLst/>
          </a:prstGeom>
          <a:noFill/>
        </p:spPr>
        <p:txBody>
          <a:bodyPr wrap="none" lIns="0" tIns="0" rIns="0" bIns="0" rtlCol="0" anchor="t"/>
          <a:lstStyle/>
          <a:p>
            <a:pPr marL="0" indent="0" algn="l">
              <a:lnSpc>
                <a:spcPct val="104000"/>
              </a:lnSpc>
              <a:buNone/>
            </a:pPr>
            <a:r>
              <a:rPr lang="en-US" sz="2400" b="1" dirty="0">
                <a:solidFill>
                  <a:srgbClr val="000000"/>
                </a:solidFill>
                <a:latin typeface="Petrona Bold" pitchFamily="34" charset="0"/>
                <a:ea typeface="Petrona Bold" pitchFamily="34" charset="-122"/>
                <a:cs typeface="Petrona Bold" pitchFamily="34" charset="-120"/>
              </a:rPr>
              <a:t>Project Execution Milestones</a:t>
            </a:r>
            <a:endParaRPr lang="en-US" sz="2400" dirty="0"/>
          </a:p>
        </p:txBody>
      </p:sp>
      <p:sp>
        <p:nvSpPr>
          <p:cNvPr id="7" name="Text 5"/>
          <p:cNvSpPr/>
          <p:nvPr/>
        </p:nvSpPr>
        <p:spPr>
          <a:xfrm>
            <a:off x="496119" y="994990"/>
            <a:ext cx="3484736" cy="193923"/>
          </a:xfrm>
          <a:prstGeom prst="rect">
            <a:avLst/>
          </a:prstGeom>
          <a:noFill/>
        </p:spPr>
        <p:txBody>
          <a:bodyPr wrap="none" lIns="0" tIns="0" rIns="0" bIns="0" rtlCol="0" anchor="t"/>
          <a:lstStyle/>
          <a:p>
            <a:pPr marL="0" indent="0">
              <a:lnSpc>
                <a:spcPct val="104000"/>
              </a:lnSpc>
              <a:buNone/>
            </a:pPr>
            <a:r>
              <a:rPr lang="en-US" sz="1200" b="1" dirty="0">
                <a:solidFill>
                  <a:srgbClr val="272525"/>
                </a:solidFill>
                <a:latin typeface="Petrona Bold" pitchFamily="34" charset="0"/>
                <a:ea typeface="Petrona Bold" pitchFamily="34" charset="-122"/>
                <a:cs typeface="Petrona Bold" pitchFamily="34" charset="-120"/>
              </a:rPr>
              <a:t>Milestone 1</a:t>
            </a:r>
            <a:endParaRPr lang="en-US" sz="1200" dirty="0"/>
          </a:p>
        </p:txBody>
      </p:sp>
      <p:sp>
        <p:nvSpPr>
          <p:cNvPr id="8" name="Text 6"/>
          <p:cNvSpPr/>
          <p:nvPr/>
        </p:nvSpPr>
        <p:spPr>
          <a:xfrm>
            <a:off x="496119" y="1256481"/>
            <a:ext cx="3484736" cy="1360438"/>
          </a:xfrm>
          <a:prstGeom prst="rect">
            <a:avLst/>
          </a:prstGeom>
          <a:noFill/>
        </p:spPr>
        <p:txBody>
          <a:bodyPr wrap="square" lIns="0" tIns="0" rIns="0" bIns="0" rtlCol="0" anchor="t"/>
          <a:lstStyle/>
          <a:p>
            <a:pPr marL="0" indent="0">
              <a:lnSpc>
                <a:spcPct val="130000"/>
              </a:lnSpc>
              <a:spcAft>
                <a:spcPts val="500"/>
              </a:spcAft>
              <a:buNone/>
            </a:pPr>
            <a:r>
              <a:rPr lang="en-US" sz="900" b="1" dirty="0">
                <a:solidFill>
                  <a:srgbClr val="272525"/>
                </a:solidFill>
                <a:latin typeface="Inter Bold" panose="02000503000000020004" pitchFamily="34" charset="0"/>
                <a:ea typeface="Inter Bold" panose="02000503000000020004" pitchFamily="34" charset="-122"/>
                <a:cs typeface="Inter Bold" panose="02000503000000020004" pitchFamily="34" charset="-120"/>
              </a:rPr>
              <a:t>Data Acquisition &amp; Cleaning</a:t>
            </a:r>
            <a:endParaRPr lang="en-US" sz="900" dirty="0"/>
          </a:p>
          <a:p>
            <a:pPr marL="0" indent="0">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Collected and understood the supply chain dataset containing shipment, inventory, supplier, product, transportation, cost, and delivery-related information. Cleaned the data by handling missing values, removing duplicates and unnecessary columns, and standardizing data types and formats.</a:t>
            </a:r>
            <a:endParaRPr lang="en-US" sz="900" dirty="0"/>
          </a:p>
        </p:txBody>
      </p:sp>
      <p:sp>
        <p:nvSpPr>
          <p:cNvPr id="11" name="Text 9"/>
          <p:cNvSpPr/>
          <p:nvPr/>
        </p:nvSpPr>
        <p:spPr>
          <a:xfrm>
            <a:off x="4478908" y="1669182"/>
            <a:ext cx="186184" cy="232767"/>
          </a:xfrm>
          <a:prstGeom prst="rect">
            <a:avLst/>
          </a:prstGeom>
          <a:noFill/>
        </p:spPr>
        <p:txBody>
          <a:bodyPr wrap="none" lIns="0" tIns="0" rIns="0" bIns="0" rtlCol="0" anchor="ctr"/>
          <a:lstStyle/>
          <a:p>
            <a:pPr marL="0" indent="0" algn="ctr">
              <a:lnSpc>
                <a:spcPct val="100000"/>
              </a:lnSpc>
              <a:buNone/>
            </a:pPr>
            <a:endParaRPr lang="en-US" sz="1450" dirty="0"/>
          </a:p>
        </p:txBody>
      </p:sp>
      <p:sp>
        <p:nvSpPr>
          <p:cNvPr id="12" name="Text 10"/>
          <p:cNvSpPr/>
          <p:nvPr/>
        </p:nvSpPr>
        <p:spPr>
          <a:xfrm>
            <a:off x="5163145" y="1693218"/>
            <a:ext cx="3484736" cy="193923"/>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Milestone 2</a:t>
            </a:r>
            <a:endParaRPr lang="en-US" sz="1200" dirty="0"/>
          </a:p>
        </p:txBody>
      </p:sp>
      <p:sp>
        <p:nvSpPr>
          <p:cNvPr id="13" name="Text 11"/>
          <p:cNvSpPr/>
          <p:nvPr/>
        </p:nvSpPr>
        <p:spPr>
          <a:xfrm>
            <a:off x="5163145" y="1954709"/>
            <a:ext cx="3484736" cy="806351"/>
          </a:xfrm>
          <a:prstGeom prst="rect">
            <a:avLst/>
          </a:prstGeom>
          <a:noFill/>
        </p:spPr>
        <p:txBody>
          <a:bodyPr wrap="square" lIns="0" tIns="0" rIns="0" bIns="0" rtlCol="0" anchor="t"/>
          <a:lstStyle/>
          <a:p>
            <a:pPr marL="0" indent="0" algn="l">
              <a:lnSpc>
                <a:spcPct val="130000"/>
              </a:lnSpc>
              <a:spcAft>
                <a:spcPts val="500"/>
              </a:spcAft>
              <a:buNone/>
            </a:pPr>
            <a:r>
              <a:rPr lang="en-US" sz="900" b="1" dirty="0">
                <a:solidFill>
                  <a:srgbClr val="272525"/>
                </a:solidFill>
                <a:latin typeface="Inter Bold" panose="02000503000000020004" pitchFamily="34" charset="0"/>
                <a:ea typeface="Inter Bold" panose="02000503000000020004" pitchFamily="34" charset="-122"/>
                <a:cs typeface="Inter Bold" panose="02000503000000020004" pitchFamily="34" charset="-120"/>
              </a:rPr>
              <a:t>Data Modeling</a:t>
            </a:r>
            <a:endParaRPr lang="en-US" sz="900" dirty="0"/>
          </a:p>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Prepared the cleaned data for analysis by establishing appropriate relationships and organizing relevant fields for effective reporting and KPI calculation.</a:t>
            </a:r>
            <a:endParaRPr lang="en-US" sz="900" dirty="0"/>
          </a:p>
        </p:txBody>
      </p:sp>
      <p:sp>
        <p:nvSpPr>
          <p:cNvPr id="16" name="Text 14"/>
          <p:cNvSpPr/>
          <p:nvPr/>
        </p:nvSpPr>
        <p:spPr>
          <a:xfrm>
            <a:off x="4478908" y="2858839"/>
            <a:ext cx="186184" cy="232767"/>
          </a:xfrm>
          <a:prstGeom prst="rect">
            <a:avLst/>
          </a:prstGeom>
          <a:noFill/>
        </p:spPr>
        <p:txBody>
          <a:bodyPr wrap="none" lIns="0" tIns="0" rIns="0" bIns="0" rtlCol="0" anchor="ctr"/>
          <a:lstStyle/>
          <a:p>
            <a:pPr marL="0" indent="0" algn="ctr">
              <a:lnSpc>
                <a:spcPct val="100000"/>
              </a:lnSpc>
              <a:buNone/>
            </a:pPr>
            <a:endParaRPr lang="en-US" sz="1450" dirty="0"/>
          </a:p>
        </p:txBody>
      </p:sp>
      <p:sp>
        <p:nvSpPr>
          <p:cNvPr id="17" name="Text 15"/>
          <p:cNvSpPr/>
          <p:nvPr/>
        </p:nvSpPr>
        <p:spPr>
          <a:xfrm>
            <a:off x="496119" y="2882875"/>
            <a:ext cx="3484736" cy="193923"/>
          </a:xfrm>
          <a:prstGeom prst="rect">
            <a:avLst/>
          </a:prstGeom>
          <a:noFill/>
        </p:spPr>
        <p:txBody>
          <a:bodyPr wrap="none" lIns="0" tIns="0" rIns="0" bIns="0" rtlCol="0" anchor="t"/>
          <a:lstStyle/>
          <a:p>
            <a:pPr marL="0" indent="0">
              <a:lnSpc>
                <a:spcPct val="104000"/>
              </a:lnSpc>
              <a:buNone/>
            </a:pPr>
            <a:r>
              <a:rPr lang="en-US" sz="1200" b="1" dirty="0">
                <a:solidFill>
                  <a:srgbClr val="272525"/>
                </a:solidFill>
                <a:latin typeface="Petrona Bold" pitchFamily="34" charset="0"/>
                <a:ea typeface="Petrona Bold" pitchFamily="34" charset="-122"/>
                <a:cs typeface="Petrona Bold" pitchFamily="34" charset="-120"/>
              </a:rPr>
              <a:t>Milestone 3</a:t>
            </a:r>
            <a:endParaRPr lang="en-US" sz="1200" dirty="0"/>
          </a:p>
        </p:txBody>
      </p:sp>
      <p:sp>
        <p:nvSpPr>
          <p:cNvPr id="18" name="Text 16"/>
          <p:cNvSpPr/>
          <p:nvPr/>
        </p:nvSpPr>
        <p:spPr>
          <a:xfrm>
            <a:off x="496119" y="3144366"/>
            <a:ext cx="3484736" cy="991046"/>
          </a:xfrm>
          <a:prstGeom prst="rect">
            <a:avLst/>
          </a:prstGeom>
          <a:noFill/>
        </p:spPr>
        <p:txBody>
          <a:bodyPr wrap="square" lIns="0" tIns="0" rIns="0" bIns="0" rtlCol="0" anchor="t"/>
          <a:lstStyle/>
          <a:p>
            <a:pPr marL="0" indent="0">
              <a:lnSpc>
                <a:spcPct val="130000"/>
              </a:lnSpc>
              <a:spcAft>
                <a:spcPts val="500"/>
              </a:spcAft>
              <a:buNone/>
            </a:pPr>
            <a:r>
              <a:rPr lang="en-US" sz="900" b="1" dirty="0">
                <a:solidFill>
                  <a:srgbClr val="272525"/>
                </a:solidFill>
                <a:latin typeface="Inter Bold" panose="02000503000000020004" pitchFamily="34" charset="0"/>
                <a:ea typeface="Inter Bold" panose="02000503000000020004" pitchFamily="34" charset="-122"/>
                <a:cs typeface="Inter Bold" panose="02000503000000020004" pitchFamily="34" charset="-120"/>
              </a:rPr>
              <a:t>Development</a:t>
            </a:r>
            <a:endParaRPr lang="en-US" sz="900" dirty="0"/>
          </a:p>
          <a:p>
            <a:pPr marL="0" indent="0">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Developed the Power BI solution using KPIs, charts, and analytical views to understand shipment trends, supplier performance, logistics, costs, inventory, and product performance.</a:t>
            </a:r>
            <a:endParaRPr lang="en-US" sz="900" dirty="0"/>
          </a:p>
        </p:txBody>
      </p:sp>
      <p:sp>
        <p:nvSpPr>
          <p:cNvPr id="21" name="Text 19"/>
          <p:cNvSpPr/>
          <p:nvPr/>
        </p:nvSpPr>
        <p:spPr>
          <a:xfrm>
            <a:off x="4478908" y="3618086"/>
            <a:ext cx="186184" cy="232767"/>
          </a:xfrm>
          <a:prstGeom prst="rect">
            <a:avLst/>
          </a:prstGeom>
          <a:noFill/>
        </p:spPr>
        <p:txBody>
          <a:bodyPr wrap="none" lIns="0" tIns="0" rIns="0" bIns="0" rtlCol="0" anchor="ctr"/>
          <a:lstStyle/>
          <a:p>
            <a:pPr marL="0" indent="0" algn="ctr">
              <a:lnSpc>
                <a:spcPct val="100000"/>
              </a:lnSpc>
              <a:buNone/>
            </a:pPr>
            <a:endParaRPr lang="en-US" sz="1450" dirty="0"/>
          </a:p>
        </p:txBody>
      </p:sp>
      <p:sp>
        <p:nvSpPr>
          <p:cNvPr id="22" name="Text 20"/>
          <p:cNvSpPr/>
          <p:nvPr/>
        </p:nvSpPr>
        <p:spPr>
          <a:xfrm>
            <a:off x="5092505" y="3348111"/>
            <a:ext cx="3555376" cy="487934"/>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Milestone 4</a:t>
            </a:r>
            <a:endParaRPr lang="en-US" sz="1200" dirty="0"/>
          </a:p>
        </p:txBody>
      </p:sp>
      <p:sp>
        <p:nvSpPr>
          <p:cNvPr id="23" name="Text 21"/>
          <p:cNvSpPr/>
          <p:nvPr/>
        </p:nvSpPr>
        <p:spPr>
          <a:xfrm>
            <a:off x="5092505" y="3618086"/>
            <a:ext cx="3555376" cy="1091879"/>
          </a:xfrm>
          <a:prstGeom prst="rect">
            <a:avLst/>
          </a:prstGeom>
          <a:noFill/>
        </p:spPr>
        <p:txBody>
          <a:bodyPr wrap="square" lIns="0" tIns="0" rIns="0" bIns="0" rtlCol="0" anchor="t"/>
          <a:lstStyle/>
          <a:p>
            <a:pPr marL="0" indent="0" algn="l">
              <a:lnSpc>
                <a:spcPct val="130000"/>
              </a:lnSpc>
              <a:spcAft>
                <a:spcPts val="500"/>
              </a:spcAft>
              <a:buNone/>
            </a:pPr>
            <a:r>
              <a:rPr lang="en-US" sz="900" b="1" dirty="0">
                <a:solidFill>
                  <a:srgbClr val="272525"/>
                </a:solidFill>
                <a:latin typeface="Inter Bold" panose="02000503000000020004" pitchFamily="34" charset="0"/>
                <a:ea typeface="Inter Bold" panose="02000503000000020004" pitchFamily="34" charset="-122"/>
                <a:cs typeface="Inter Bold" panose="02000503000000020004" pitchFamily="34" charset="-120"/>
              </a:rPr>
              <a:t>Review &amp; Optimization</a:t>
            </a:r>
            <a:endParaRPr lang="en-US" sz="900" dirty="0"/>
          </a:p>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Reviewed analytical results, identified important patterns and bottlenecks, and refined the data model and visualizations to provide clearer and more useful supply chain insights.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19" y="396925"/>
            <a:ext cx="8151763" cy="387921"/>
          </a:xfrm>
          <a:prstGeom prst="rect">
            <a:avLst/>
          </a:prstGeom>
          <a:noFill/>
        </p:spPr>
        <p:txBody>
          <a:bodyPr wrap="none" lIns="0" tIns="0" rIns="0" bIns="0" rtlCol="0" anchor="t"/>
          <a:lstStyle/>
          <a:p>
            <a:pPr marL="0" indent="0" algn="l">
              <a:lnSpc>
                <a:spcPct val="104000"/>
              </a:lnSpc>
              <a:buNone/>
            </a:pPr>
            <a:r>
              <a:rPr lang="en-US" sz="2400" b="1" dirty="0">
                <a:solidFill>
                  <a:srgbClr val="000000"/>
                </a:solidFill>
                <a:latin typeface="Petrona Bold" pitchFamily="34" charset="0"/>
                <a:ea typeface="Petrona Bold" pitchFamily="34" charset="-122"/>
                <a:cs typeface="Petrona Bold" pitchFamily="34" charset="-120"/>
              </a:rPr>
              <a:t>Challenges &amp; Resolutions</a:t>
            </a:r>
            <a:endParaRPr lang="en-US" sz="2400" dirty="0"/>
          </a:p>
        </p:txBody>
      </p:sp>
      <p:sp>
        <p:nvSpPr>
          <p:cNvPr id="3" name="Text 1"/>
          <p:cNvSpPr/>
          <p:nvPr/>
        </p:nvSpPr>
        <p:spPr>
          <a:xfrm>
            <a:off x="496119" y="1066502"/>
            <a:ext cx="3931667" cy="193923"/>
          </a:xfrm>
          <a:prstGeom prst="rect">
            <a:avLst/>
          </a:prstGeom>
          <a:noFill/>
        </p:spPr>
        <p:txBody>
          <a:bodyPr wrap="none" lIns="0" tIns="0" rIns="0" bIns="0" rtlCol="0" anchor="t"/>
          <a:lstStyle/>
          <a:p>
            <a:pPr marL="0" indent="0" algn="l">
              <a:lnSpc>
                <a:spcPct val="104000"/>
              </a:lnSpc>
              <a:buNone/>
            </a:pPr>
            <a:r>
              <a:rPr lang="en-US" sz="1200" b="1" dirty="0">
                <a:solidFill>
                  <a:srgbClr val="FF90A5"/>
                </a:solidFill>
                <a:latin typeface="Petrona Bold" pitchFamily="34" charset="0"/>
                <a:ea typeface="Petrona Bold" pitchFamily="34" charset="-122"/>
                <a:cs typeface="Petrona Bold" pitchFamily="34" charset="-120"/>
              </a:rPr>
              <a:t>Challenges Encountered</a:t>
            </a:r>
            <a:endParaRPr lang="en-US" sz="120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6119" y="1387153"/>
            <a:ext cx="3931667" cy="940891"/>
          </a:xfrm>
          <a:prstGeom prst="rect">
            <a:avLst/>
          </a:prstGeom>
        </p:spPr>
      </p:pic>
      <p:sp>
        <p:nvSpPr>
          <p:cNvPr id="5" name="Text 2"/>
          <p:cNvSpPr/>
          <p:nvPr/>
        </p:nvSpPr>
        <p:spPr>
          <a:xfrm>
            <a:off x="685726" y="1519610"/>
            <a:ext cx="3609603" cy="193923"/>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01 — Data Quality</a:t>
            </a:r>
            <a:endParaRPr lang="en-US" sz="1200" dirty="0"/>
          </a:p>
        </p:txBody>
      </p:sp>
      <p:sp>
        <p:nvSpPr>
          <p:cNvPr id="6" name="Text 3"/>
          <p:cNvSpPr/>
          <p:nvPr/>
        </p:nvSpPr>
        <p:spPr>
          <a:xfrm>
            <a:off x="685726" y="1826196"/>
            <a:ext cx="3609603" cy="369391"/>
          </a:xfrm>
          <a:prstGeom prst="rect">
            <a:avLst/>
          </a:prstGeom>
          <a:noFill/>
        </p:spPr>
        <p:txBody>
          <a:bodyPr wrap="square" lIns="0" tIns="0" rIns="0" bIns="0" rtlCol="0" anchor="t">
            <a:normAutofit/>
          </a:bodyPr>
          <a:lstStyle/>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Dataset contained missing, duplicate, and unnecessary data that required thorough cleaning before any analysis could begin.</a:t>
            </a:r>
            <a:endParaRPr lang="en-US" sz="90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6119" y="2440707"/>
            <a:ext cx="3931667" cy="940891"/>
          </a:xfrm>
          <a:prstGeom prst="rect">
            <a:avLst/>
          </a:prstGeom>
        </p:spPr>
      </p:pic>
      <p:sp>
        <p:nvSpPr>
          <p:cNvPr id="8" name="Text 4"/>
          <p:cNvSpPr/>
          <p:nvPr/>
        </p:nvSpPr>
        <p:spPr>
          <a:xfrm>
            <a:off x="685726" y="2573164"/>
            <a:ext cx="3609603" cy="193923"/>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02 — Standardization</a:t>
            </a:r>
            <a:endParaRPr lang="en-US" sz="1200" dirty="0"/>
          </a:p>
        </p:txBody>
      </p:sp>
      <p:sp>
        <p:nvSpPr>
          <p:cNvPr id="9" name="Text 5"/>
          <p:cNvSpPr/>
          <p:nvPr/>
        </p:nvSpPr>
        <p:spPr>
          <a:xfrm>
            <a:off x="685726" y="2879750"/>
            <a:ext cx="3609603" cy="369391"/>
          </a:xfrm>
          <a:prstGeom prst="rect">
            <a:avLst/>
          </a:prstGeom>
          <a:noFill/>
        </p:spPr>
        <p:txBody>
          <a:bodyPr wrap="square" lIns="0" tIns="0" rIns="0" bIns="0" rtlCol="0" anchor="t">
            <a:normAutofit/>
          </a:bodyPr>
          <a:lstStyle/>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Different fields required standardization of data types, formats, and values before they could be used consistently in analysis.</a:t>
            </a:r>
            <a:endParaRPr lang="en-US" sz="90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5935" y="3494405"/>
            <a:ext cx="3931920" cy="916940"/>
          </a:xfrm>
          <a:prstGeom prst="rect">
            <a:avLst/>
          </a:prstGeom>
        </p:spPr>
      </p:pic>
      <p:sp>
        <p:nvSpPr>
          <p:cNvPr id="11" name="Text 6"/>
          <p:cNvSpPr/>
          <p:nvPr/>
        </p:nvSpPr>
        <p:spPr>
          <a:xfrm>
            <a:off x="685726" y="3626718"/>
            <a:ext cx="3609603" cy="193923"/>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03 — Attribute Complexity</a:t>
            </a:r>
            <a:endParaRPr lang="en-US" sz="1200" dirty="0"/>
          </a:p>
        </p:txBody>
      </p:sp>
      <p:sp>
        <p:nvSpPr>
          <p:cNvPr id="12" name="Text 7"/>
          <p:cNvSpPr/>
          <p:nvPr/>
        </p:nvSpPr>
        <p:spPr>
          <a:xfrm>
            <a:off x="685726" y="3933304"/>
            <a:ext cx="3609603" cy="554087"/>
          </a:xfrm>
          <a:prstGeom prst="rect">
            <a:avLst/>
          </a:prstGeom>
          <a:noFill/>
        </p:spPr>
        <p:txBody>
          <a:bodyPr wrap="square" lIns="0" tIns="0" rIns="0" bIns="0" rtlCol="0" anchor="t">
            <a:normAutofit/>
          </a:bodyPr>
          <a:lstStyle/>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The large number of supply chain attributes made it difficult to determine which fields were most relevant for meaningful analysis.</a:t>
            </a:r>
            <a:endParaRPr lang="en-US" sz="900" dirty="0"/>
          </a:p>
        </p:txBody>
      </p:sp>
      <p:sp>
        <p:nvSpPr>
          <p:cNvPr id="13" name="Text 8"/>
          <p:cNvSpPr/>
          <p:nvPr/>
        </p:nvSpPr>
        <p:spPr>
          <a:xfrm>
            <a:off x="4720977" y="1066502"/>
            <a:ext cx="3931667" cy="193923"/>
          </a:xfrm>
          <a:prstGeom prst="rect">
            <a:avLst/>
          </a:prstGeom>
          <a:noFill/>
        </p:spPr>
        <p:txBody>
          <a:bodyPr wrap="none" lIns="0" tIns="0" rIns="0" bIns="0" rtlCol="0" anchor="t"/>
          <a:lstStyle/>
          <a:p>
            <a:pPr marL="0" indent="0" algn="l">
              <a:lnSpc>
                <a:spcPct val="104000"/>
              </a:lnSpc>
              <a:buNone/>
            </a:pPr>
            <a:r>
              <a:rPr lang="en-US" sz="1200" b="1" dirty="0">
                <a:solidFill>
                  <a:srgbClr val="876CD4"/>
                </a:solidFill>
                <a:latin typeface="Petrona Bold" pitchFamily="34" charset="0"/>
                <a:ea typeface="Petrona Bold" pitchFamily="34" charset="-122"/>
                <a:cs typeface="Petrona Bold" pitchFamily="34" charset="-120"/>
              </a:rPr>
              <a:t>Resolutions Applied</a:t>
            </a:r>
            <a:endParaRPr lang="en-US" sz="120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20977" y="1387153"/>
            <a:ext cx="3931667" cy="940891"/>
          </a:xfrm>
          <a:prstGeom prst="rect">
            <a:avLst/>
          </a:prstGeom>
        </p:spPr>
      </p:pic>
      <p:sp>
        <p:nvSpPr>
          <p:cNvPr id="15" name="Text 9"/>
          <p:cNvSpPr/>
          <p:nvPr/>
        </p:nvSpPr>
        <p:spPr>
          <a:xfrm>
            <a:off x="4910584" y="1519610"/>
            <a:ext cx="3609603" cy="193923"/>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01 — Data Cleaning</a:t>
            </a:r>
            <a:endParaRPr lang="en-US" sz="1200" dirty="0"/>
          </a:p>
        </p:txBody>
      </p:sp>
      <p:sp>
        <p:nvSpPr>
          <p:cNvPr id="16" name="Text 10"/>
          <p:cNvSpPr/>
          <p:nvPr/>
        </p:nvSpPr>
        <p:spPr>
          <a:xfrm>
            <a:off x="4910584" y="1826196"/>
            <a:ext cx="3609603" cy="369391"/>
          </a:xfrm>
          <a:prstGeom prst="rect">
            <a:avLst/>
          </a:prstGeom>
          <a:noFill/>
        </p:spPr>
        <p:txBody>
          <a:bodyPr wrap="square" lIns="0" tIns="0" rIns="0" bIns="0" rtlCol="0" anchor="t">
            <a:normAutofit/>
          </a:bodyPr>
          <a:lstStyle/>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Cleaned the dataset by handling missing values and removing duplicates and unnecessary columns to ensure data integrity.</a:t>
            </a:r>
            <a:endParaRPr lang="en-US" sz="900" dirty="0"/>
          </a:p>
        </p:txBody>
      </p:sp>
      <p:pic>
        <p:nvPicPr>
          <p:cNvPr id="17"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20977" y="2440707"/>
            <a:ext cx="3931667" cy="940891"/>
          </a:xfrm>
          <a:prstGeom prst="rect">
            <a:avLst/>
          </a:prstGeom>
        </p:spPr>
      </p:pic>
      <p:sp>
        <p:nvSpPr>
          <p:cNvPr id="18" name="Text 11"/>
          <p:cNvSpPr/>
          <p:nvPr/>
        </p:nvSpPr>
        <p:spPr>
          <a:xfrm>
            <a:off x="4910584" y="2573164"/>
            <a:ext cx="3609603" cy="193923"/>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02 — Preprocessing Pipeline</a:t>
            </a:r>
            <a:endParaRPr lang="en-US" sz="1200" dirty="0"/>
          </a:p>
        </p:txBody>
      </p:sp>
      <p:sp>
        <p:nvSpPr>
          <p:cNvPr id="19" name="Text 12"/>
          <p:cNvSpPr/>
          <p:nvPr/>
        </p:nvSpPr>
        <p:spPr>
          <a:xfrm>
            <a:off x="4910584" y="2879750"/>
            <a:ext cx="3609603" cy="369391"/>
          </a:xfrm>
          <a:prstGeom prst="rect">
            <a:avLst/>
          </a:prstGeom>
          <a:noFill/>
        </p:spPr>
        <p:txBody>
          <a:bodyPr wrap="square" lIns="0" tIns="0" rIns="0" bIns="0" rtlCol="0" anchor="t">
            <a:normAutofit/>
          </a:bodyPr>
          <a:lstStyle/>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Standardized data types, formats, and field values during the preprocessing phase to enable consistent and reliable analysis.</a:t>
            </a:r>
            <a:endParaRPr lang="en-US" sz="900" dirty="0"/>
          </a:p>
        </p:txBody>
      </p:sp>
      <p:pic>
        <p:nvPicPr>
          <p:cNvPr id="20" name="Image 5"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20977" y="3494261"/>
            <a:ext cx="3931667" cy="940891"/>
          </a:xfrm>
          <a:prstGeom prst="rect">
            <a:avLst/>
          </a:prstGeom>
        </p:spPr>
      </p:pic>
      <p:sp>
        <p:nvSpPr>
          <p:cNvPr id="21" name="Text 13"/>
          <p:cNvSpPr/>
          <p:nvPr/>
        </p:nvSpPr>
        <p:spPr>
          <a:xfrm>
            <a:off x="4910584" y="3626718"/>
            <a:ext cx="3609603" cy="193923"/>
          </a:xfrm>
          <a:prstGeom prst="rect">
            <a:avLst/>
          </a:prstGeom>
          <a:noFill/>
        </p:spPr>
        <p:txBody>
          <a:bodyPr wrap="none" lIns="0" tIns="0" rIns="0" bIns="0" rtlCol="0" anchor="t"/>
          <a:lstStyle/>
          <a:p>
            <a:pPr marL="0" indent="0" algn="l">
              <a:lnSpc>
                <a:spcPct val="104000"/>
              </a:lnSpc>
              <a:buNone/>
            </a:pPr>
            <a:r>
              <a:rPr lang="en-US" sz="1200" b="1" dirty="0">
                <a:solidFill>
                  <a:srgbClr val="272525"/>
                </a:solidFill>
                <a:latin typeface="Petrona Bold" pitchFamily="34" charset="0"/>
                <a:ea typeface="Petrona Bold" pitchFamily="34" charset="-122"/>
                <a:cs typeface="Petrona Bold" pitchFamily="34" charset="-120"/>
              </a:rPr>
              <a:t>03 — Focused Modeling</a:t>
            </a:r>
            <a:endParaRPr lang="en-US" sz="1200" dirty="0"/>
          </a:p>
        </p:txBody>
      </p:sp>
      <p:sp>
        <p:nvSpPr>
          <p:cNvPr id="22" name="Text 14"/>
          <p:cNvSpPr/>
          <p:nvPr/>
        </p:nvSpPr>
        <p:spPr>
          <a:xfrm>
            <a:off x="4910584" y="3933304"/>
            <a:ext cx="3609603" cy="369391"/>
          </a:xfrm>
          <a:prstGeom prst="rect">
            <a:avLst/>
          </a:prstGeom>
          <a:noFill/>
        </p:spPr>
        <p:txBody>
          <a:bodyPr wrap="square" lIns="0" tIns="0" rIns="0" bIns="0" rtlCol="0" anchor="t">
            <a:normAutofit/>
          </a:bodyPr>
          <a:lstStyle/>
          <a:p>
            <a:pPr marL="0" indent="0" algn="l">
              <a:lnSpc>
                <a:spcPct val="130000"/>
              </a:lnSpc>
              <a:buNone/>
            </a:pPr>
            <a:r>
              <a:rPr lang="en-US" sz="900" dirty="0">
                <a:solidFill>
                  <a:srgbClr val="272525"/>
                </a:solidFill>
                <a:latin typeface="Inter" panose="02000503000000020004" pitchFamily="34" charset="0"/>
                <a:ea typeface="Inter" panose="02000503000000020004" pitchFamily="34" charset="-122"/>
                <a:cs typeface="Inter" panose="02000503000000020004" pitchFamily="34" charset="-120"/>
              </a:rPr>
              <a:t>Organized the data through modeling and selected relevant KPIs and visualizations to focus the analysis on actionable insights.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19" y="611312"/>
            <a:ext cx="8151763" cy="407045"/>
          </a:xfrm>
          <a:prstGeom prst="rect">
            <a:avLst/>
          </a:prstGeom>
          <a:noFill/>
        </p:spPr>
        <p:txBody>
          <a:bodyPr wrap="none" lIns="0" tIns="0" rIns="0" bIns="0" rtlCol="0" anchor="t"/>
          <a:lstStyle/>
          <a:p>
            <a:pPr marL="0" indent="0" algn="l">
              <a:lnSpc>
                <a:spcPct val="104000"/>
              </a:lnSpc>
              <a:buNone/>
            </a:pPr>
            <a:r>
              <a:rPr lang="en-US" sz="2550" b="1" dirty="0">
                <a:solidFill>
                  <a:srgbClr val="000000"/>
                </a:solidFill>
                <a:latin typeface="Petrona Bold" pitchFamily="34" charset="0"/>
                <a:ea typeface="Petrona Bold" pitchFamily="34" charset="-122"/>
                <a:cs typeface="Petrona Bold" pitchFamily="34" charset="-120"/>
              </a:rPr>
              <a:t>Future Enhancements &amp; Key Insights</a:t>
            </a:r>
            <a:endParaRPr lang="en-US" sz="2550" dirty="0"/>
          </a:p>
        </p:txBody>
      </p:sp>
      <p:sp>
        <p:nvSpPr>
          <p:cNvPr id="3" name="Shape 1"/>
          <p:cNvSpPr/>
          <p:nvPr/>
        </p:nvSpPr>
        <p:spPr>
          <a:xfrm>
            <a:off x="406822" y="1204392"/>
            <a:ext cx="4103191" cy="3327797"/>
          </a:xfrm>
          <a:prstGeom prst="roundRect">
            <a:avLst>
              <a:gd name="adj" fmla="val 2684"/>
            </a:avLst>
          </a:prstGeom>
          <a:solidFill>
            <a:srgbClr val="E7EEF9">
              <a:alpha val="95000"/>
            </a:srgbClr>
          </a:solidFill>
        </p:spPr>
      </p:sp>
      <p:sp>
        <p:nvSpPr>
          <p:cNvPr id="4" name="Text 2"/>
          <p:cNvSpPr/>
          <p:nvPr/>
        </p:nvSpPr>
        <p:spPr>
          <a:xfrm>
            <a:off x="530796" y="1328365"/>
            <a:ext cx="3855244" cy="203522"/>
          </a:xfrm>
          <a:prstGeom prst="rect">
            <a:avLst/>
          </a:prstGeom>
          <a:noFill/>
        </p:spPr>
        <p:txBody>
          <a:bodyPr wrap="none" lIns="0" tIns="0" rIns="0" bIns="0" rtlCol="0" anchor="t"/>
          <a:lstStyle/>
          <a:p>
            <a:pPr marL="0" indent="0" algn="l">
              <a:lnSpc>
                <a:spcPct val="104000"/>
              </a:lnSpc>
              <a:buNone/>
            </a:pPr>
            <a:r>
              <a:rPr lang="en-US" sz="1250" b="1" dirty="0">
                <a:solidFill>
                  <a:srgbClr val="000000"/>
                </a:solidFill>
                <a:latin typeface="Petrona Bold" pitchFamily="34" charset="0"/>
                <a:ea typeface="Petrona Bold" pitchFamily="34" charset="-122"/>
                <a:cs typeface="Petrona Bold" pitchFamily="34" charset="-120"/>
              </a:rPr>
              <a:t>Future Enhancements</a:t>
            </a:r>
            <a:endParaRPr lang="en-US" sz="1250" dirty="0"/>
          </a:p>
        </p:txBody>
      </p:sp>
      <p:sp>
        <p:nvSpPr>
          <p:cNvPr id="5" name="Text 3"/>
          <p:cNvSpPr/>
          <p:nvPr/>
        </p:nvSpPr>
        <p:spPr>
          <a:xfrm>
            <a:off x="933822" y="1711672"/>
            <a:ext cx="3452217" cy="198462"/>
          </a:xfrm>
          <a:prstGeom prst="rect">
            <a:avLst/>
          </a:prstGeom>
          <a:noFill/>
        </p:spPr>
        <p:txBody>
          <a:bodyPr wrap="none" lIns="0" tIns="0" rIns="0" bIns="0" rtlCol="0" anchor="t"/>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Add real-time shipment and delivery tracking</a:t>
            </a:r>
            <a:endParaRPr lang="en-US" sz="950" dirty="0"/>
          </a:p>
        </p:txBody>
      </p:sp>
      <p:sp>
        <p:nvSpPr>
          <p:cNvPr id="6" name="Text 4"/>
          <p:cNvSpPr/>
          <p:nvPr/>
        </p:nvSpPr>
        <p:spPr>
          <a:xfrm>
            <a:off x="933822" y="2238747"/>
            <a:ext cx="3452217" cy="396925"/>
          </a:xfrm>
          <a:prstGeom prst="rect">
            <a:avLst/>
          </a:prstGeom>
          <a:noFill/>
        </p:spPr>
        <p:txBody>
          <a:bodyPr wrap="square" lIns="0" tIns="0" rIns="0" bIns="0" rtlCol="0" anchor="t">
            <a:normAutofit/>
          </a:bodyPr>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Integrate predictive analytics for demand and inventory forecasting</a:t>
            </a:r>
            <a:endParaRPr lang="en-US" sz="950" dirty="0"/>
          </a:p>
        </p:txBody>
      </p:sp>
      <p:sp>
        <p:nvSpPr>
          <p:cNvPr id="7" name="Text 5"/>
          <p:cNvSpPr/>
          <p:nvPr/>
        </p:nvSpPr>
        <p:spPr>
          <a:xfrm>
            <a:off x="933822" y="2923952"/>
            <a:ext cx="3452217" cy="396925"/>
          </a:xfrm>
          <a:prstGeom prst="rect">
            <a:avLst/>
          </a:prstGeom>
          <a:noFill/>
        </p:spPr>
        <p:txBody>
          <a:bodyPr wrap="square" lIns="0" tIns="0" rIns="0" bIns="0" rtlCol="0" anchor="t">
            <a:normAutofit/>
          </a:bodyPr>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Develop automated alerts for delayed shipments and supply chain risks</a:t>
            </a:r>
            <a:endParaRPr lang="en-US" sz="950" dirty="0"/>
          </a:p>
        </p:txBody>
      </p:sp>
      <p:sp>
        <p:nvSpPr>
          <p:cNvPr id="8" name="Text 6"/>
          <p:cNvSpPr/>
          <p:nvPr/>
        </p:nvSpPr>
        <p:spPr>
          <a:xfrm>
            <a:off x="933822" y="3609156"/>
            <a:ext cx="3452217" cy="396925"/>
          </a:xfrm>
          <a:prstGeom prst="rect">
            <a:avLst/>
          </a:prstGeom>
          <a:noFill/>
        </p:spPr>
        <p:txBody>
          <a:bodyPr wrap="square" lIns="0" tIns="0" rIns="0" bIns="0" rtlCol="0" anchor="t">
            <a:normAutofit/>
          </a:bodyPr>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Apply advanced analytics to predict bottlenecks and optimize logistics costs</a:t>
            </a:r>
            <a:endParaRPr lang="en-US" sz="950" dirty="0"/>
          </a:p>
        </p:txBody>
      </p:sp>
      <p:sp>
        <p:nvSpPr>
          <p:cNvPr id="9" name="Text 7"/>
          <p:cNvSpPr/>
          <p:nvPr/>
        </p:nvSpPr>
        <p:spPr>
          <a:xfrm>
            <a:off x="4728046" y="1328365"/>
            <a:ext cx="3924598" cy="203522"/>
          </a:xfrm>
          <a:prstGeom prst="rect">
            <a:avLst/>
          </a:prstGeom>
          <a:noFill/>
        </p:spPr>
        <p:txBody>
          <a:bodyPr wrap="none" lIns="0" tIns="0" rIns="0" bIns="0" rtlCol="0" anchor="t"/>
          <a:lstStyle/>
          <a:p>
            <a:pPr marL="0" indent="0" algn="l">
              <a:lnSpc>
                <a:spcPct val="104000"/>
              </a:lnSpc>
              <a:buNone/>
            </a:pPr>
            <a:r>
              <a:rPr lang="en-US" sz="1250" b="1" dirty="0">
                <a:solidFill>
                  <a:srgbClr val="000000"/>
                </a:solidFill>
                <a:latin typeface="Petrona Bold" pitchFamily="34" charset="0"/>
                <a:ea typeface="Petrona Bold" pitchFamily="34" charset="-122"/>
                <a:cs typeface="Petrona Bold" pitchFamily="34" charset="-120"/>
              </a:rPr>
              <a:t>Key Insights</a:t>
            </a:r>
            <a:endParaRPr lang="en-US" sz="1250" dirty="0"/>
          </a:p>
        </p:txBody>
      </p:sp>
      <p:sp>
        <p:nvSpPr>
          <p:cNvPr id="10" name="Shape 8"/>
          <p:cNvSpPr/>
          <p:nvPr/>
        </p:nvSpPr>
        <p:spPr>
          <a:xfrm>
            <a:off x="4728046" y="1671414"/>
            <a:ext cx="1900312" cy="1596330"/>
          </a:xfrm>
          <a:prstGeom prst="roundRect">
            <a:avLst>
              <a:gd name="adj" fmla="val 3264"/>
            </a:avLst>
          </a:prstGeom>
          <a:solidFill>
            <a:srgbClr val="FFFFFF">
              <a:alpha val="95000"/>
            </a:srgbClr>
          </a:solidFill>
          <a:ln w="14288">
            <a:solidFill>
              <a:srgbClr val="B2D4E5"/>
            </a:solidFill>
            <a:prstDash val="solid"/>
          </a:ln>
        </p:spPr>
      </p:sp>
      <p:sp>
        <p:nvSpPr>
          <p:cNvPr id="11" name="Text 9"/>
          <p:cNvSpPr/>
          <p:nvPr/>
        </p:nvSpPr>
        <p:spPr>
          <a:xfrm>
            <a:off x="4866308" y="1809676"/>
            <a:ext cx="162378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Operational Trends</a:t>
            </a:r>
            <a:endParaRPr lang="en-US" sz="1250" dirty="0"/>
          </a:p>
        </p:txBody>
      </p:sp>
      <p:sp>
        <p:nvSpPr>
          <p:cNvPr id="12" name="Text 10"/>
          <p:cNvSpPr/>
          <p:nvPr/>
        </p:nvSpPr>
        <p:spPr>
          <a:xfrm>
            <a:off x="4866308" y="2137172"/>
            <a:ext cx="1623789" cy="992312"/>
          </a:xfrm>
          <a:prstGeom prst="rect">
            <a:avLst/>
          </a:prstGeom>
          <a:noFill/>
        </p:spPr>
        <p:txBody>
          <a:bodyPr wrap="square" lIns="0" tIns="0" rIns="0" bIns="0" rtlCol="0" anchor="t">
            <a:normAutofit/>
          </a:bodyPr>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Shipment and delivery data can be used to identify operational trends and delays across the supply chain lifecycle.</a:t>
            </a:r>
            <a:endParaRPr lang="en-US" sz="950" dirty="0"/>
          </a:p>
        </p:txBody>
      </p:sp>
      <p:sp>
        <p:nvSpPr>
          <p:cNvPr id="13" name="Shape 11"/>
          <p:cNvSpPr/>
          <p:nvPr/>
        </p:nvSpPr>
        <p:spPr>
          <a:xfrm>
            <a:off x="6752332" y="1671414"/>
            <a:ext cx="1900312" cy="1596330"/>
          </a:xfrm>
          <a:prstGeom prst="roundRect">
            <a:avLst>
              <a:gd name="adj" fmla="val 3264"/>
            </a:avLst>
          </a:prstGeom>
          <a:solidFill>
            <a:srgbClr val="FFFFFF">
              <a:alpha val="95000"/>
            </a:srgbClr>
          </a:solidFill>
          <a:ln w="14288">
            <a:solidFill>
              <a:srgbClr val="B2D4E5"/>
            </a:solidFill>
            <a:prstDash val="solid"/>
          </a:ln>
        </p:spPr>
      </p:sp>
      <p:sp>
        <p:nvSpPr>
          <p:cNvPr id="14" name="Text 12"/>
          <p:cNvSpPr/>
          <p:nvPr/>
        </p:nvSpPr>
        <p:spPr>
          <a:xfrm>
            <a:off x="6890593" y="1809676"/>
            <a:ext cx="162378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Performance Drivers</a:t>
            </a:r>
            <a:endParaRPr lang="en-US" sz="1250" dirty="0"/>
          </a:p>
        </p:txBody>
      </p:sp>
      <p:sp>
        <p:nvSpPr>
          <p:cNvPr id="15" name="Text 13"/>
          <p:cNvSpPr/>
          <p:nvPr/>
        </p:nvSpPr>
        <p:spPr>
          <a:xfrm>
            <a:off x="6890593" y="2137172"/>
            <a:ext cx="1623789" cy="992312"/>
          </a:xfrm>
          <a:prstGeom prst="rect">
            <a:avLst/>
          </a:prstGeom>
          <a:noFill/>
        </p:spPr>
        <p:txBody>
          <a:bodyPr wrap="square" lIns="0" tIns="0" rIns="0" bIns="0" rtlCol="0" anchor="t">
            <a:normAutofit/>
          </a:bodyPr>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Supplier and transportation performance directly influence overall supply chain efficiency and on-time delivery rates.</a:t>
            </a:r>
            <a:endParaRPr lang="en-US" sz="950" dirty="0"/>
          </a:p>
        </p:txBody>
      </p:sp>
      <p:sp>
        <p:nvSpPr>
          <p:cNvPr id="16" name="Shape 14"/>
          <p:cNvSpPr/>
          <p:nvPr/>
        </p:nvSpPr>
        <p:spPr>
          <a:xfrm>
            <a:off x="4728046" y="3391719"/>
            <a:ext cx="3924598" cy="1000944"/>
          </a:xfrm>
          <a:prstGeom prst="roundRect">
            <a:avLst>
              <a:gd name="adj" fmla="val 5205"/>
            </a:avLst>
          </a:prstGeom>
          <a:solidFill>
            <a:srgbClr val="FFFFFF">
              <a:alpha val="95000"/>
            </a:srgbClr>
          </a:solidFill>
          <a:ln w="14288">
            <a:solidFill>
              <a:srgbClr val="B2D4E5"/>
            </a:solidFill>
            <a:prstDash val="solid"/>
          </a:ln>
        </p:spPr>
      </p:sp>
      <p:sp>
        <p:nvSpPr>
          <p:cNvPr id="17" name="Text 15"/>
          <p:cNvSpPr/>
          <p:nvPr/>
        </p:nvSpPr>
        <p:spPr>
          <a:xfrm>
            <a:off x="4866308" y="3529980"/>
            <a:ext cx="3648075"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Optimization Opportunities</a:t>
            </a:r>
            <a:endParaRPr lang="en-US" sz="1250" dirty="0"/>
          </a:p>
        </p:txBody>
      </p:sp>
      <p:sp>
        <p:nvSpPr>
          <p:cNvPr id="18" name="Text 16"/>
          <p:cNvSpPr/>
          <p:nvPr/>
        </p:nvSpPr>
        <p:spPr>
          <a:xfrm>
            <a:off x="4866308" y="3857476"/>
            <a:ext cx="3648075" cy="396925"/>
          </a:xfrm>
          <a:prstGeom prst="rect">
            <a:avLst/>
          </a:prstGeom>
          <a:noFill/>
        </p:spPr>
        <p:txBody>
          <a:bodyPr wrap="square" lIns="0" tIns="0" rIns="0" bIns="0" rtlCol="0" anchor="t">
            <a:normAutofit/>
          </a:bodyPr>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Cost, inventory, and product-level analysis helps identify specific areas where operational improvements can be made.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19" y="350937"/>
            <a:ext cx="8151763" cy="407045"/>
          </a:xfrm>
          <a:prstGeom prst="rect">
            <a:avLst/>
          </a:prstGeom>
          <a:noFill/>
        </p:spPr>
        <p:txBody>
          <a:bodyPr wrap="none" lIns="0" tIns="0" rIns="0" bIns="0" rtlCol="0" anchor="t"/>
          <a:lstStyle/>
          <a:p>
            <a:pPr marL="0" indent="0" algn="l">
              <a:lnSpc>
                <a:spcPct val="104000"/>
              </a:lnSpc>
              <a:buNone/>
            </a:pPr>
            <a:r>
              <a:rPr lang="en-US" sz="2550" b="1" dirty="0">
                <a:solidFill>
                  <a:srgbClr val="000000"/>
                </a:solidFill>
                <a:latin typeface="Petrona Bold" pitchFamily="34" charset="0"/>
                <a:ea typeface="Petrona Bold" pitchFamily="34" charset="-122"/>
                <a:cs typeface="Petrona Bold" pitchFamily="34" charset="-120"/>
              </a:rPr>
              <a:t>Conclusion</a:t>
            </a:r>
            <a:endParaRPr lang="en-US" sz="2550" dirty="0"/>
          </a:p>
        </p:txBody>
      </p:sp>
      <p:sp>
        <p:nvSpPr>
          <p:cNvPr id="3" name="Text 1"/>
          <p:cNvSpPr/>
          <p:nvPr/>
        </p:nvSpPr>
        <p:spPr>
          <a:xfrm>
            <a:off x="496119" y="1006004"/>
            <a:ext cx="8151763" cy="595387"/>
          </a:xfrm>
          <a:prstGeom prst="rect">
            <a:avLst/>
          </a:prstGeom>
          <a:noFill/>
        </p:spPr>
        <p:txBody>
          <a:bodyPr wrap="square" lIns="0" tIns="0" rIns="0" bIns="0" rtlCol="0" anchor="t">
            <a:normAutofit/>
          </a:bodyPr>
          <a:lstStyle/>
          <a:p>
            <a:pPr marL="0" indent="0" algn="l">
              <a:lnSpc>
                <a:spcPct val="133000"/>
              </a:lnSpc>
              <a:buNone/>
            </a:pPr>
            <a:r>
              <a:rPr lang="en-US" sz="950" dirty="0">
                <a:solidFill>
                  <a:srgbClr val="272525"/>
                </a:solidFill>
                <a:latin typeface="Inter" panose="02000503000000020004" pitchFamily="34" charset="0"/>
                <a:ea typeface="Inter" panose="02000503000000020004" pitchFamily="34" charset="-122"/>
                <a:cs typeface="Inter" panose="02000503000000020004" pitchFamily="34" charset="-120"/>
              </a:rPr>
              <a:t>Supply Chain Visibility and Optimization successfully transformed raw supply chain data into a structured and analytical Power BI solution. The project enabled better understanding of shipments, suppliers, inventory, transportation, costs, products, and delivery performance, helping identify important trends and areas for optimization.</a:t>
            </a:r>
            <a:endParaRPr lang="en-US" sz="950" dirty="0"/>
          </a:p>
        </p:txBody>
      </p:sp>
      <p:sp>
        <p:nvSpPr>
          <p:cNvPr id="4" name="Text 2"/>
          <p:cNvSpPr/>
          <p:nvPr/>
        </p:nvSpPr>
        <p:spPr>
          <a:xfrm>
            <a:off x="496119" y="1864891"/>
            <a:ext cx="3924598" cy="203522"/>
          </a:xfrm>
          <a:prstGeom prst="rect">
            <a:avLst/>
          </a:prstGeom>
          <a:noFill/>
        </p:spPr>
        <p:txBody>
          <a:bodyPr wrap="none" lIns="0" tIns="0" rIns="0" bIns="0" rtlCol="0" anchor="t"/>
          <a:lstStyle/>
          <a:p>
            <a:pPr marL="0" indent="0" algn="l">
              <a:lnSpc>
                <a:spcPct val="104000"/>
              </a:lnSpc>
              <a:buNone/>
            </a:pPr>
            <a:r>
              <a:rPr lang="en-US" sz="1250" b="1" dirty="0">
                <a:solidFill>
                  <a:srgbClr val="876CD4"/>
                </a:solidFill>
                <a:latin typeface="Petrona Bold" pitchFamily="34" charset="0"/>
                <a:ea typeface="Petrona Bold" pitchFamily="34" charset="-122"/>
                <a:cs typeface="Petrona Bold" pitchFamily="34" charset="-120"/>
              </a:rPr>
              <a:t>Technical Skills Developed</a:t>
            </a:r>
            <a:endParaRPr lang="en-US" sz="1250" dirty="0"/>
          </a:p>
        </p:txBody>
      </p:sp>
      <p:sp>
        <p:nvSpPr>
          <p:cNvPr id="5" name="Shape 3"/>
          <p:cNvSpPr/>
          <p:nvPr/>
        </p:nvSpPr>
        <p:spPr>
          <a:xfrm>
            <a:off x="496119" y="2207940"/>
            <a:ext cx="1900312" cy="1160562"/>
          </a:xfrm>
          <a:prstGeom prst="roundRect">
            <a:avLst>
              <a:gd name="adj" fmla="val 4489"/>
            </a:avLst>
          </a:prstGeom>
          <a:solidFill>
            <a:srgbClr val="CCEEFF"/>
          </a:solidFill>
          <a:ln w="4763">
            <a:solidFill>
              <a:srgbClr val="B2D4E5"/>
            </a:solidFill>
            <a:prstDash val="solid"/>
          </a:ln>
        </p:spPr>
      </p:sp>
      <p:sp>
        <p:nvSpPr>
          <p:cNvPr id="6" name="Shape 4"/>
          <p:cNvSpPr/>
          <p:nvPr/>
        </p:nvSpPr>
        <p:spPr>
          <a:xfrm>
            <a:off x="624855" y="2336676"/>
            <a:ext cx="372070" cy="372070"/>
          </a:xfrm>
          <a:prstGeom prst="ellipse">
            <a:avLst/>
          </a:prstGeom>
          <a:solidFill>
            <a:srgbClr val="007EBD"/>
          </a:solidFill>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7174" y="2438921"/>
            <a:ext cx="167432" cy="167432"/>
          </a:xfrm>
          <a:prstGeom prst="rect">
            <a:avLst/>
          </a:prstGeom>
        </p:spPr>
      </p:pic>
      <p:sp>
        <p:nvSpPr>
          <p:cNvPr id="8" name="Text 5"/>
          <p:cNvSpPr/>
          <p:nvPr/>
        </p:nvSpPr>
        <p:spPr>
          <a:xfrm>
            <a:off x="624855" y="2832720"/>
            <a:ext cx="164283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Power BI</a:t>
            </a:r>
            <a:endParaRPr lang="en-US" sz="1250" dirty="0"/>
          </a:p>
        </p:txBody>
      </p:sp>
      <p:sp>
        <p:nvSpPr>
          <p:cNvPr id="9" name="Shape 6"/>
          <p:cNvSpPr/>
          <p:nvPr/>
        </p:nvSpPr>
        <p:spPr>
          <a:xfrm>
            <a:off x="2520404" y="2207940"/>
            <a:ext cx="1900312" cy="1160562"/>
          </a:xfrm>
          <a:prstGeom prst="roundRect">
            <a:avLst>
              <a:gd name="adj" fmla="val 4489"/>
            </a:avLst>
          </a:prstGeom>
          <a:solidFill>
            <a:srgbClr val="CCEEFF"/>
          </a:solidFill>
          <a:ln w="4763">
            <a:solidFill>
              <a:srgbClr val="B2D4E5"/>
            </a:solidFill>
            <a:prstDash val="solid"/>
          </a:ln>
        </p:spPr>
      </p:sp>
      <p:sp>
        <p:nvSpPr>
          <p:cNvPr id="10" name="Shape 7"/>
          <p:cNvSpPr/>
          <p:nvPr/>
        </p:nvSpPr>
        <p:spPr>
          <a:xfrm>
            <a:off x="2649141" y="2336676"/>
            <a:ext cx="372070" cy="372070"/>
          </a:xfrm>
          <a:prstGeom prst="ellipse">
            <a:avLst/>
          </a:prstGeom>
          <a:solidFill>
            <a:srgbClr val="007EBD"/>
          </a:solidFill>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51460" y="2438921"/>
            <a:ext cx="167432" cy="167432"/>
          </a:xfrm>
          <a:prstGeom prst="rect">
            <a:avLst/>
          </a:prstGeom>
        </p:spPr>
      </p:pic>
      <p:sp>
        <p:nvSpPr>
          <p:cNvPr id="12" name="Text 8"/>
          <p:cNvSpPr/>
          <p:nvPr/>
        </p:nvSpPr>
        <p:spPr>
          <a:xfrm>
            <a:off x="2649141" y="2832720"/>
            <a:ext cx="1642839" cy="407045"/>
          </a:xfrm>
          <a:prstGeom prst="rect">
            <a:avLst/>
          </a:prstGeom>
          <a:noFill/>
        </p:spPr>
        <p:txBody>
          <a:bodyPr wrap="square" lIns="0" tIns="0" rIns="0" bIns="0" rtlCol="0" anchor="t">
            <a:normAutofit/>
          </a:bodyPr>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Data Preprocessing &amp; Modeling</a:t>
            </a:r>
            <a:endParaRPr lang="en-US" sz="1250" dirty="0"/>
          </a:p>
        </p:txBody>
      </p:sp>
      <p:sp>
        <p:nvSpPr>
          <p:cNvPr id="13" name="Shape 9"/>
          <p:cNvSpPr/>
          <p:nvPr/>
        </p:nvSpPr>
        <p:spPr>
          <a:xfrm>
            <a:off x="496119" y="3492475"/>
            <a:ext cx="1900312" cy="1160562"/>
          </a:xfrm>
          <a:prstGeom prst="roundRect">
            <a:avLst>
              <a:gd name="adj" fmla="val 4489"/>
            </a:avLst>
          </a:prstGeom>
          <a:solidFill>
            <a:srgbClr val="CCEEFF"/>
          </a:solidFill>
          <a:ln w="4763">
            <a:solidFill>
              <a:srgbClr val="B2D4E5"/>
            </a:solidFill>
            <a:prstDash val="solid"/>
          </a:ln>
        </p:spPr>
      </p:sp>
      <p:sp>
        <p:nvSpPr>
          <p:cNvPr id="14" name="Shape 10"/>
          <p:cNvSpPr/>
          <p:nvPr/>
        </p:nvSpPr>
        <p:spPr>
          <a:xfrm>
            <a:off x="624855" y="3621212"/>
            <a:ext cx="372070" cy="372070"/>
          </a:xfrm>
          <a:prstGeom prst="ellipse">
            <a:avLst/>
          </a:prstGeom>
          <a:solidFill>
            <a:srgbClr val="007EBD"/>
          </a:solidFill>
        </p:spPr>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7174" y="3723456"/>
            <a:ext cx="167432" cy="167432"/>
          </a:xfrm>
          <a:prstGeom prst="rect">
            <a:avLst/>
          </a:prstGeom>
        </p:spPr>
      </p:pic>
      <p:sp>
        <p:nvSpPr>
          <p:cNvPr id="16" name="Text 11"/>
          <p:cNvSpPr/>
          <p:nvPr/>
        </p:nvSpPr>
        <p:spPr>
          <a:xfrm>
            <a:off x="624855" y="4117256"/>
            <a:ext cx="1642839" cy="407045"/>
          </a:xfrm>
          <a:prstGeom prst="rect">
            <a:avLst/>
          </a:prstGeom>
          <a:noFill/>
        </p:spPr>
        <p:txBody>
          <a:bodyPr wrap="square" lIns="0" tIns="0" rIns="0" bIns="0" rtlCol="0" anchor="t">
            <a:normAutofit/>
          </a:bodyPr>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DAX &amp; Data Visualization</a:t>
            </a:r>
            <a:endParaRPr lang="en-US" sz="1250" dirty="0"/>
          </a:p>
        </p:txBody>
      </p:sp>
      <p:sp>
        <p:nvSpPr>
          <p:cNvPr id="17" name="Shape 12"/>
          <p:cNvSpPr/>
          <p:nvPr/>
        </p:nvSpPr>
        <p:spPr>
          <a:xfrm>
            <a:off x="2520404" y="3492475"/>
            <a:ext cx="1900312" cy="1160562"/>
          </a:xfrm>
          <a:prstGeom prst="roundRect">
            <a:avLst>
              <a:gd name="adj" fmla="val 4489"/>
            </a:avLst>
          </a:prstGeom>
          <a:solidFill>
            <a:srgbClr val="CCEEFF"/>
          </a:solidFill>
          <a:ln w="4763">
            <a:solidFill>
              <a:srgbClr val="B2D4E5"/>
            </a:solidFill>
            <a:prstDash val="solid"/>
          </a:ln>
        </p:spPr>
      </p:sp>
      <p:sp>
        <p:nvSpPr>
          <p:cNvPr id="18" name="Shape 13"/>
          <p:cNvSpPr/>
          <p:nvPr/>
        </p:nvSpPr>
        <p:spPr>
          <a:xfrm>
            <a:off x="2649141" y="3621212"/>
            <a:ext cx="372070" cy="372070"/>
          </a:xfrm>
          <a:prstGeom prst="ellipse">
            <a:avLst/>
          </a:prstGeom>
          <a:solidFill>
            <a:srgbClr val="007EBD"/>
          </a:solidFill>
        </p:spPr>
      </p:sp>
      <p:pic>
        <p:nvPicPr>
          <p:cNvPr id="1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51460" y="3723456"/>
            <a:ext cx="167432" cy="167432"/>
          </a:xfrm>
          <a:prstGeom prst="rect">
            <a:avLst/>
          </a:prstGeom>
        </p:spPr>
      </p:pic>
      <p:sp>
        <p:nvSpPr>
          <p:cNvPr id="20" name="Text 14"/>
          <p:cNvSpPr/>
          <p:nvPr/>
        </p:nvSpPr>
        <p:spPr>
          <a:xfrm>
            <a:off x="2649141" y="4117256"/>
            <a:ext cx="164283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Data Analysis</a:t>
            </a:r>
            <a:endParaRPr lang="en-US" sz="1250" dirty="0"/>
          </a:p>
        </p:txBody>
      </p:sp>
      <p:sp>
        <p:nvSpPr>
          <p:cNvPr id="21" name="Text 15"/>
          <p:cNvSpPr/>
          <p:nvPr/>
        </p:nvSpPr>
        <p:spPr>
          <a:xfrm>
            <a:off x="4728046" y="1864891"/>
            <a:ext cx="3924598" cy="203522"/>
          </a:xfrm>
          <a:prstGeom prst="rect">
            <a:avLst/>
          </a:prstGeom>
          <a:noFill/>
        </p:spPr>
        <p:txBody>
          <a:bodyPr wrap="none" lIns="0" tIns="0" rIns="0" bIns="0" rtlCol="0" anchor="t"/>
          <a:lstStyle/>
          <a:p>
            <a:pPr marL="0" indent="0" algn="l">
              <a:lnSpc>
                <a:spcPct val="104000"/>
              </a:lnSpc>
              <a:buNone/>
            </a:pPr>
            <a:r>
              <a:rPr lang="en-US" sz="1250" b="1" dirty="0">
                <a:solidFill>
                  <a:srgbClr val="D783D8"/>
                </a:solidFill>
                <a:latin typeface="Petrona Bold" pitchFamily="34" charset="0"/>
                <a:ea typeface="Petrona Bold" pitchFamily="34" charset="-122"/>
                <a:cs typeface="Petrona Bold" pitchFamily="34" charset="-120"/>
              </a:rPr>
              <a:t>Soft Skills Demonstrated</a:t>
            </a:r>
            <a:endParaRPr lang="en-US" sz="1250" dirty="0"/>
          </a:p>
        </p:txBody>
      </p:sp>
      <p:sp>
        <p:nvSpPr>
          <p:cNvPr id="22" name="Shape 16"/>
          <p:cNvSpPr/>
          <p:nvPr/>
        </p:nvSpPr>
        <p:spPr>
          <a:xfrm>
            <a:off x="4728046" y="2207940"/>
            <a:ext cx="1900312" cy="957039"/>
          </a:xfrm>
          <a:prstGeom prst="roundRect">
            <a:avLst>
              <a:gd name="adj" fmla="val 5444"/>
            </a:avLst>
          </a:prstGeom>
          <a:solidFill>
            <a:srgbClr val="CCEEFF"/>
          </a:solidFill>
          <a:ln w="4763">
            <a:solidFill>
              <a:srgbClr val="B2D4E5"/>
            </a:solidFill>
            <a:prstDash val="solid"/>
          </a:ln>
        </p:spPr>
      </p:sp>
      <p:sp>
        <p:nvSpPr>
          <p:cNvPr id="23" name="Shape 17"/>
          <p:cNvSpPr/>
          <p:nvPr/>
        </p:nvSpPr>
        <p:spPr>
          <a:xfrm>
            <a:off x="4856783" y="2336676"/>
            <a:ext cx="372070" cy="372070"/>
          </a:xfrm>
          <a:prstGeom prst="ellipse">
            <a:avLst/>
          </a:prstGeom>
          <a:solidFill>
            <a:srgbClr val="007EBD"/>
          </a:solidFill>
        </p:spPr>
      </p:sp>
      <p:pic>
        <p:nvPicPr>
          <p:cNvPr id="24"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9102" y="2438921"/>
            <a:ext cx="167432" cy="167432"/>
          </a:xfrm>
          <a:prstGeom prst="rect">
            <a:avLst/>
          </a:prstGeom>
        </p:spPr>
      </p:pic>
      <p:sp>
        <p:nvSpPr>
          <p:cNvPr id="25" name="Text 18"/>
          <p:cNvSpPr/>
          <p:nvPr/>
        </p:nvSpPr>
        <p:spPr>
          <a:xfrm>
            <a:off x="4856783" y="2832720"/>
            <a:ext cx="164283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Problem Solving</a:t>
            </a:r>
            <a:endParaRPr lang="en-US" sz="1250" dirty="0"/>
          </a:p>
        </p:txBody>
      </p:sp>
      <p:sp>
        <p:nvSpPr>
          <p:cNvPr id="26" name="Shape 19"/>
          <p:cNvSpPr/>
          <p:nvPr/>
        </p:nvSpPr>
        <p:spPr>
          <a:xfrm>
            <a:off x="6752332" y="2207940"/>
            <a:ext cx="1900312" cy="957039"/>
          </a:xfrm>
          <a:prstGeom prst="roundRect">
            <a:avLst>
              <a:gd name="adj" fmla="val 5444"/>
            </a:avLst>
          </a:prstGeom>
          <a:solidFill>
            <a:srgbClr val="CCEEFF"/>
          </a:solidFill>
          <a:ln w="4763">
            <a:solidFill>
              <a:srgbClr val="B2D4E5"/>
            </a:solidFill>
            <a:prstDash val="solid"/>
          </a:ln>
        </p:spPr>
      </p:sp>
      <p:sp>
        <p:nvSpPr>
          <p:cNvPr id="27" name="Shape 20"/>
          <p:cNvSpPr/>
          <p:nvPr/>
        </p:nvSpPr>
        <p:spPr>
          <a:xfrm>
            <a:off x="6881068" y="2336676"/>
            <a:ext cx="372070" cy="372070"/>
          </a:xfrm>
          <a:prstGeom prst="ellipse">
            <a:avLst/>
          </a:prstGeom>
          <a:solidFill>
            <a:srgbClr val="007EBD"/>
          </a:solidFill>
        </p:spPr>
      </p:sp>
      <p:pic>
        <p:nvPicPr>
          <p:cNvPr id="28"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83388" y="2438921"/>
            <a:ext cx="167432" cy="167432"/>
          </a:xfrm>
          <a:prstGeom prst="rect">
            <a:avLst/>
          </a:prstGeom>
        </p:spPr>
      </p:pic>
      <p:sp>
        <p:nvSpPr>
          <p:cNvPr id="29" name="Text 21"/>
          <p:cNvSpPr/>
          <p:nvPr/>
        </p:nvSpPr>
        <p:spPr>
          <a:xfrm>
            <a:off x="6881068" y="2832720"/>
            <a:ext cx="164283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Communication</a:t>
            </a:r>
            <a:endParaRPr lang="en-US" sz="1250" dirty="0"/>
          </a:p>
        </p:txBody>
      </p:sp>
      <p:sp>
        <p:nvSpPr>
          <p:cNvPr id="30" name="Shape 22"/>
          <p:cNvSpPr/>
          <p:nvPr/>
        </p:nvSpPr>
        <p:spPr>
          <a:xfrm>
            <a:off x="4728046" y="3288953"/>
            <a:ext cx="1900312" cy="957039"/>
          </a:xfrm>
          <a:prstGeom prst="roundRect">
            <a:avLst>
              <a:gd name="adj" fmla="val 5444"/>
            </a:avLst>
          </a:prstGeom>
          <a:solidFill>
            <a:srgbClr val="CCEEFF"/>
          </a:solidFill>
          <a:ln w="4763">
            <a:solidFill>
              <a:srgbClr val="B2D4E5"/>
            </a:solidFill>
            <a:prstDash val="solid"/>
          </a:ln>
        </p:spPr>
      </p:sp>
      <p:sp>
        <p:nvSpPr>
          <p:cNvPr id="31" name="Shape 23"/>
          <p:cNvSpPr/>
          <p:nvPr/>
        </p:nvSpPr>
        <p:spPr>
          <a:xfrm>
            <a:off x="4856783" y="3417689"/>
            <a:ext cx="372070" cy="372070"/>
          </a:xfrm>
          <a:prstGeom prst="ellipse">
            <a:avLst/>
          </a:prstGeom>
          <a:solidFill>
            <a:srgbClr val="007EBD"/>
          </a:solidFill>
        </p:spPr>
      </p:sp>
      <p:pic>
        <p:nvPicPr>
          <p:cNvPr id="32"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59102" y="3519934"/>
            <a:ext cx="167432" cy="167432"/>
          </a:xfrm>
          <a:prstGeom prst="rect">
            <a:avLst/>
          </a:prstGeom>
        </p:spPr>
      </p:pic>
      <p:sp>
        <p:nvSpPr>
          <p:cNvPr id="33" name="Text 24"/>
          <p:cNvSpPr/>
          <p:nvPr/>
        </p:nvSpPr>
        <p:spPr>
          <a:xfrm>
            <a:off x="4856783" y="3913733"/>
            <a:ext cx="164283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Teamwork</a:t>
            </a:r>
            <a:endParaRPr lang="en-US" sz="1250" dirty="0"/>
          </a:p>
        </p:txBody>
      </p:sp>
      <p:sp>
        <p:nvSpPr>
          <p:cNvPr id="34" name="Shape 25"/>
          <p:cNvSpPr/>
          <p:nvPr/>
        </p:nvSpPr>
        <p:spPr>
          <a:xfrm>
            <a:off x="6752332" y="3288953"/>
            <a:ext cx="1900312" cy="957039"/>
          </a:xfrm>
          <a:prstGeom prst="roundRect">
            <a:avLst>
              <a:gd name="adj" fmla="val 5444"/>
            </a:avLst>
          </a:prstGeom>
          <a:solidFill>
            <a:srgbClr val="CCEEFF"/>
          </a:solidFill>
          <a:ln w="4763">
            <a:solidFill>
              <a:srgbClr val="B2D4E5"/>
            </a:solidFill>
            <a:prstDash val="solid"/>
          </a:ln>
        </p:spPr>
      </p:sp>
      <p:sp>
        <p:nvSpPr>
          <p:cNvPr id="35" name="Shape 26"/>
          <p:cNvSpPr/>
          <p:nvPr/>
        </p:nvSpPr>
        <p:spPr>
          <a:xfrm>
            <a:off x="6881068" y="3417689"/>
            <a:ext cx="372070" cy="372070"/>
          </a:xfrm>
          <a:prstGeom prst="ellipse">
            <a:avLst/>
          </a:prstGeom>
          <a:solidFill>
            <a:srgbClr val="007EBD"/>
          </a:solidFill>
        </p:spPr>
      </p:sp>
      <p:pic>
        <p:nvPicPr>
          <p:cNvPr id="36"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3388" y="3519934"/>
            <a:ext cx="167432" cy="167432"/>
          </a:xfrm>
          <a:prstGeom prst="rect">
            <a:avLst/>
          </a:prstGeom>
        </p:spPr>
      </p:pic>
      <p:sp>
        <p:nvSpPr>
          <p:cNvPr id="37" name="Text 27"/>
          <p:cNvSpPr/>
          <p:nvPr/>
        </p:nvSpPr>
        <p:spPr>
          <a:xfrm>
            <a:off x="6881068" y="3913733"/>
            <a:ext cx="1642839" cy="203522"/>
          </a:xfrm>
          <a:prstGeom prst="rect">
            <a:avLst/>
          </a:prstGeom>
          <a:noFill/>
        </p:spPr>
        <p:txBody>
          <a:bodyPr wrap="none" lIns="0" tIns="0" rIns="0" bIns="0" rtlCol="0" anchor="t"/>
          <a:lstStyle/>
          <a:p>
            <a:pPr marL="0" indent="0" algn="l">
              <a:lnSpc>
                <a:spcPct val="104000"/>
              </a:lnSpc>
              <a:buNone/>
            </a:pPr>
            <a:r>
              <a:rPr lang="en-US" sz="1250" b="1" dirty="0">
                <a:solidFill>
                  <a:srgbClr val="272525"/>
                </a:solidFill>
                <a:latin typeface="Petrona Bold" pitchFamily="34" charset="0"/>
                <a:ea typeface="Petrona Bold" pitchFamily="34" charset="-122"/>
                <a:cs typeface="Petrona Bold" pitchFamily="34" charset="-120"/>
              </a:rPr>
              <a:t>Presentation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19" y="378916"/>
            <a:ext cx="8151763" cy="368871"/>
          </a:xfrm>
          <a:prstGeom prst="rect">
            <a:avLst/>
          </a:prstGeom>
          <a:noFill/>
        </p:spPr>
        <p:txBody>
          <a:bodyPr wrap="none" lIns="0" tIns="0" rIns="0" bIns="0" rtlCol="0" anchor="t"/>
          <a:lstStyle/>
          <a:p>
            <a:pPr marL="0" indent="0" algn="l">
              <a:lnSpc>
                <a:spcPct val="104000"/>
              </a:lnSpc>
              <a:buNone/>
            </a:pPr>
            <a:r>
              <a:rPr lang="en-US" sz="2300" b="1" dirty="0">
                <a:solidFill>
                  <a:srgbClr val="000000"/>
                </a:solidFill>
                <a:latin typeface="Petrona Bold" pitchFamily="34" charset="0"/>
                <a:ea typeface="Petrona Bold" pitchFamily="34" charset="-122"/>
                <a:cs typeface="Petrona Bold" pitchFamily="34" charset="-120"/>
              </a:rPr>
              <a:t>Acknowledgements &amp; References</a:t>
            </a:r>
            <a:endParaRPr lang="en-US" sz="2300" dirty="0"/>
          </a:p>
        </p:txBody>
      </p:sp>
      <p:sp>
        <p:nvSpPr>
          <p:cNvPr id="3" name="Shape 1"/>
          <p:cNvSpPr/>
          <p:nvPr/>
        </p:nvSpPr>
        <p:spPr>
          <a:xfrm>
            <a:off x="217037" y="862386"/>
            <a:ext cx="4475769" cy="4145712"/>
          </a:xfrm>
          <a:prstGeom prst="roundRect">
            <a:avLst>
              <a:gd name="adj" fmla="val 2614"/>
            </a:avLst>
          </a:prstGeom>
          <a:solidFill>
            <a:srgbClr val="E7EEF9">
              <a:alpha val="95000"/>
            </a:srgbClr>
          </a:solidFill>
        </p:spPr>
      </p:sp>
      <p:sp>
        <p:nvSpPr>
          <p:cNvPr id="4" name="Text 2"/>
          <p:cNvSpPr/>
          <p:nvPr/>
        </p:nvSpPr>
        <p:spPr>
          <a:xfrm>
            <a:off x="378989" y="938360"/>
            <a:ext cx="4024463" cy="248470"/>
          </a:xfrm>
          <a:prstGeom prst="rect">
            <a:avLst/>
          </a:prstGeom>
          <a:noFill/>
        </p:spPr>
        <p:txBody>
          <a:bodyPr wrap="none" lIns="0" tIns="0" rIns="0" bIns="0" rtlCol="0" anchor="t"/>
          <a:lstStyle/>
          <a:p>
            <a:pPr marL="0" indent="0" algn="l">
              <a:lnSpc>
                <a:spcPct val="104000"/>
              </a:lnSpc>
              <a:buNone/>
            </a:pPr>
            <a:r>
              <a:rPr lang="en-US" sz="1150" b="1" dirty="0">
                <a:solidFill>
                  <a:srgbClr val="000000"/>
                </a:solidFill>
                <a:latin typeface="Petrona Bold" pitchFamily="34" charset="0"/>
                <a:ea typeface="Petrona Bold" pitchFamily="34" charset="-122"/>
                <a:cs typeface="Petrona Bold" pitchFamily="34" charset="-120"/>
              </a:rPr>
              <a:t>Acknowledgements</a:t>
            </a:r>
            <a:endParaRPr lang="en-US" sz="1150" dirty="0"/>
          </a:p>
        </p:txBody>
      </p:sp>
      <p:sp>
        <p:nvSpPr>
          <p:cNvPr id="6" name="Text 3"/>
          <p:cNvSpPr/>
          <p:nvPr/>
        </p:nvSpPr>
        <p:spPr>
          <a:xfrm>
            <a:off x="527521" y="1709738"/>
            <a:ext cx="3875931" cy="184398"/>
          </a:xfrm>
          <a:prstGeom prst="rect">
            <a:avLst/>
          </a:prstGeom>
          <a:noFill/>
        </p:spPr>
        <p:txBody>
          <a:bodyPr wrap="none" lIns="0" tIns="0" rIns="0" bIns="0" rtlCol="0" anchor="t"/>
          <a:lstStyle/>
          <a:p>
            <a:pPr marL="0" indent="0" algn="l">
              <a:lnSpc>
                <a:spcPct val="104000"/>
              </a:lnSpc>
              <a:buNone/>
            </a:pPr>
            <a:endParaRPr lang="en-US" sz="1150" dirty="0"/>
          </a:p>
        </p:txBody>
      </p:sp>
      <p:sp>
        <p:nvSpPr>
          <p:cNvPr id="7" name="Text 4"/>
          <p:cNvSpPr/>
          <p:nvPr/>
        </p:nvSpPr>
        <p:spPr>
          <a:xfrm>
            <a:off x="527521" y="1996008"/>
            <a:ext cx="3875931" cy="342900"/>
          </a:xfrm>
          <a:prstGeom prst="rect">
            <a:avLst/>
          </a:prstGeom>
          <a:noFill/>
        </p:spPr>
        <p:txBody>
          <a:bodyPr wrap="square" lIns="0" tIns="0" rIns="0" bIns="0" rtlCol="0" anchor="t">
            <a:normAutofit/>
          </a:bodyPr>
          <a:lstStyle/>
          <a:p>
            <a:pPr marL="0" indent="0" algn="l">
              <a:lnSpc>
                <a:spcPct val="127000"/>
              </a:lnSpc>
              <a:buNone/>
            </a:pPr>
            <a:endParaRPr lang="en-US" sz="850" dirty="0"/>
          </a:p>
        </p:txBody>
      </p:sp>
      <p:sp>
        <p:nvSpPr>
          <p:cNvPr id="9" name="Text 5"/>
          <p:cNvSpPr/>
          <p:nvPr/>
        </p:nvSpPr>
        <p:spPr>
          <a:xfrm>
            <a:off x="527521" y="2950964"/>
            <a:ext cx="3875931" cy="184398"/>
          </a:xfrm>
          <a:prstGeom prst="rect">
            <a:avLst/>
          </a:prstGeom>
          <a:noFill/>
        </p:spPr>
        <p:txBody>
          <a:bodyPr wrap="none" lIns="0" tIns="0" rIns="0" bIns="0" rtlCol="0" anchor="t"/>
          <a:lstStyle/>
          <a:p>
            <a:pPr marL="0" indent="0" algn="l">
              <a:lnSpc>
                <a:spcPct val="104000"/>
              </a:lnSpc>
              <a:buNone/>
            </a:pPr>
            <a:endParaRPr lang="en-US" sz="1150" dirty="0"/>
          </a:p>
        </p:txBody>
      </p:sp>
      <p:sp>
        <p:nvSpPr>
          <p:cNvPr id="10" name="Text 6"/>
          <p:cNvSpPr/>
          <p:nvPr/>
        </p:nvSpPr>
        <p:spPr>
          <a:xfrm>
            <a:off x="527521" y="3237235"/>
            <a:ext cx="3875931" cy="171450"/>
          </a:xfrm>
          <a:prstGeom prst="rect">
            <a:avLst/>
          </a:prstGeom>
          <a:noFill/>
        </p:spPr>
        <p:txBody>
          <a:bodyPr wrap="none" lIns="0" tIns="0" rIns="0" bIns="0" rtlCol="0" anchor="t"/>
          <a:lstStyle/>
          <a:p>
            <a:pPr marL="0" indent="0" algn="l">
              <a:lnSpc>
                <a:spcPct val="127000"/>
              </a:lnSpc>
              <a:buNone/>
            </a:pPr>
            <a:endParaRPr lang="en-US" sz="850" dirty="0"/>
          </a:p>
        </p:txBody>
      </p:sp>
      <p:sp>
        <p:nvSpPr>
          <p:cNvPr id="12" name="Text 7"/>
          <p:cNvSpPr/>
          <p:nvPr/>
        </p:nvSpPr>
        <p:spPr>
          <a:xfrm>
            <a:off x="527521" y="4020741"/>
            <a:ext cx="3875931" cy="184398"/>
          </a:xfrm>
          <a:prstGeom prst="rect">
            <a:avLst/>
          </a:prstGeom>
          <a:noFill/>
        </p:spPr>
        <p:txBody>
          <a:bodyPr wrap="none" lIns="0" tIns="0" rIns="0" bIns="0" rtlCol="0" anchor="t"/>
          <a:lstStyle/>
          <a:p>
            <a:pPr marL="0" indent="0" algn="l">
              <a:lnSpc>
                <a:spcPct val="104000"/>
              </a:lnSpc>
              <a:buNone/>
            </a:pPr>
            <a:endParaRPr lang="en-US" sz="1150" dirty="0"/>
          </a:p>
        </p:txBody>
      </p:sp>
      <p:sp>
        <p:nvSpPr>
          <p:cNvPr id="13" name="Text 8"/>
          <p:cNvSpPr/>
          <p:nvPr/>
        </p:nvSpPr>
        <p:spPr>
          <a:xfrm>
            <a:off x="527521" y="4307012"/>
            <a:ext cx="3875931" cy="342900"/>
          </a:xfrm>
          <a:prstGeom prst="rect">
            <a:avLst/>
          </a:prstGeom>
          <a:noFill/>
        </p:spPr>
        <p:txBody>
          <a:bodyPr wrap="square" lIns="0" tIns="0" rIns="0" bIns="0" rtlCol="0" anchor="t">
            <a:normAutofit/>
          </a:bodyPr>
          <a:lstStyle/>
          <a:p>
            <a:pPr marL="0" indent="0" algn="l">
              <a:lnSpc>
                <a:spcPct val="127000"/>
              </a:lnSpc>
              <a:buNone/>
            </a:pPr>
            <a:endParaRPr lang="en-US" sz="850" dirty="0"/>
          </a:p>
        </p:txBody>
      </p:sp>
      <p:sp>
        <p:nvSpPr>
          <p:cNvPr id="14" name="Text 9"/>
          <p:cNvSpPr/>
          <p:nvPr/>
        </p:nvSpPr>
        <p:spPr>
          <a:xfrm>
            <a:off x="4988974" y="938360"/>
            <a:ext cx="3663670" cy="248470"/>
          </a:xfrm>
          <a:prstGeom prst="rect">
            <a:avLst/>
          </a:prstGeom>
          <a:noFill/>
        </p:spPr>
        <p:txBody>
          <a:bodyPr wrap="none" lIns="0" tIns="0" rIns="0" bIns="0" rtlCol="0" anchor="t"/>
          <a:lstStyle/>
          <a:p>
            <a:pPr marL="0" indent="0" algn="l">
              <a:lnSpc>
                <a:spcPct val="104000"/>
              </a:lnSpc>
              <a:buNone/>
            </a:pPr>
            <a:r>
              <a:rPr lang="en-US" sz="1150" b="1" dirty="0">
                <a:solidFill>
                  <a:srgbClr val="000000"/>
                </a:solidFill>
                <a:latin typeface="Petrona Bold" pitchFamily="34" charset="0"/>
                <a:ea typeface="Petrona Bold" pitchFamily="34" charset="-122"/>
                <a:cs typeface="Petrona Bold" pitchFamily="34" charset="-120"/>
              </a:rPr>
              <a:t>References</a:t>
            </a:r>
            <a:endParaRPr lang="en-US" sz="115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79962" y="1287140"/>
            <a:ext cx="3672681" cy="657746"/>
          </a:xfrm>
          <a:prstGeom prst="rect">
            <a:avLst/>
          </a:prstGeom>
        </p:spPr>
      </p:pic>
      <p:sp>
        <p:nvSpPr>
          <p:cNvPr id="16" name="Text 10"/>
          <p:cNvSpPr/>
          <p:nvPr/>
        </p:nvSpPr>
        <p:spPr>
          <a:xfrm>
            <a:off x="5057334" y="1301428"/>
            <a:ext cx="3595309" cy="184398"/>
          </a:xfrm>
          <a:prstGeom prst="rect">
            <a:avLst/>
          </a:prstGeom>
          <a:noFill/>
        </p:spPr>
        <p:txBody>
          <a:bodyPr wrap="none" lIns="0" tIns="0" rIns="0" bIns="0" rtlCol="0" anchor="t"/>
          <a:lstStyle/>
          <a:p>
            <a:pPr marL="0" indent="0" algn="l">
              <a:lnSpc>
                <a:spcPct val="104000"/>
              </a:lnSpc>
              <a:buNone/>
            </a:pPr>
            <a:r>
              <a:rPr lang="en-US" sz="1150" b="1" dirty="0">
                <a:solidFill>
                  <a:srgbClr val="272525"/>
                </a:solidFill>
                <a:latin typeface="Petrona Bold" pitchFamily="34" charset="0"/>
                <a:ea typeface="Petrona Bold" pitchFamily="34" charset="-122"/>
                <a:cs typeface="Petrona Bold" pitchFamily="34" charset="-120"/>
              </a:rPr>
              <a:t>Supply Chain Dataset</a:t>
            </a:r>
            <a:endParaRPr lang="en-US" sz="1150" dirty="0"/>
          </a:p>
        </p:txBody>
      </p:sp>
      <p:sp>
        <p:nvSpPr>
          <p:cNvPr id="17" name="Text 11"/>
          <p:cNvSpPr/>
          <p:nvPr/>
        </p:nvSpPr>
        <p:spPr>
          <a:xfrm>
            <a:off x="5057334" y="1586136"/>
            <a:ext cx="3595310" cy="344462"/>
          </a:xfrm>
          <a:prstGeom prst="rect">
            <a:avLst/>
          </a:prstGeom>
          <a:noFill/>
        </p:spPr>
        <p:txBody>
          <a:bodyPr wrap="square" lIns="0" tIns="0" rIns="0" bIns="0" rtlCol="0" anchor="t">
            <a:normAutofit/>
          </a:bodyPr>
          <a:lstStyle/>
          <a:p>
            <a:pPr marL="0" indent="0" algn="l">
              <a:lnSpc>
                <a:spcPct val="127000"/>
              </a:lnSpc>
              <a:buNone/>
            </a:pPr>
            <a:r>
              <a:rPr lang="en-US" sz="850" dirty="0">
                <a:solidFill>
                  <a:srgbClr val="272525"/>
                </a:solidFill>
                <a:latin typeface="Inter" panose="02000503000000020004" pitchFamily="34" charset="0"/>
                <a:ea typeface="Inter" panose="02000503000000020004" pitchFamily="34" charset="-122"/>
                <a:cs typeface="Inter" panose="02000503000000020004" pitchFamily="34" charset="-120"/>
              </a:rPr>
              <a:t>Supply chain dataset provided for the project, containing shipment, inventory, supplier, product, transportation, cost, and delivery data.</a:t>
            </a:r>
            <a:endParaRPr lang="en-US" sz="850" dirty="0"/>
          </a:p>
        </p:txBody>
      </p:sp>
      <p:pic>
        <p:nvPicPr>
          <p:cNvPr id="18"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73939" y="2091742"/>
            <a:ext cx="3953024" cy="657746"/>
          </a:xfrm>
          <a:prstGeom prst="rect">
            <a:avLst/>
          </a:prstGeom>
        </p:spPr>
      </p:pic>
      <p:sp>
        <p:nvSpPr>
          <p:cNvPr id="19" name="Text 12"/>
          <p:cNvSpPr/>
          <p:nvPr/>
        </p:nvSpPr>
        <p:spPr>
          <a:xfrm>
            <a:off x="5057334" y="2134344"/>
            <a:ext cx="3595310" cy="184398"/>
          </a:xfrm>
          <a:prstGeom prst="rect">
            <a:avLst/>
          </a:prstGeom>
          <a:noFill/>
        </p:spPr>
        <p:txBody>
          <a:bodyPr wrap="none" lIns="0" tIns="0" rIns="0" bIns="0" rtlCol="0" anchor="t"/>
          <a:lstStyle/>
          <a:p>
            <a:pPr marL="0" indent="0" algn="l">
              <a:lnSpc>
                <a:spcPct val="104000"/>
              </a:lnSpc>
              <a:buNone/>
            </a:pPr>
            <a:r>
              <a:rPr lang="en-US" sz="1150" b="1" dirty="0">
                <a:solidFill>
                  <a:srgbClr val="272525"/>
                </a:solidFill>
                <a:latin typeface="Petrona Bold" pitchFamily="34" charset="0"/>
                <a:ea typeface="Petrona Bold" pitchFamily="34" charset="-122"/>
                <a:cs typeface="Petrona Bold" pitchFamily="34" charset="-120"/>
              </a:rPr>
              <a:t>Microsoft Power BI</a:t>
            </a:r>
            <a:endParaRPr lang="en-US" sz="1150" dirty="0"/>
          </a:p>
        </p:txBody>
      </p:sp>
      <p:sp>
        <p:nvSpPr>
          <p:cNvPr id="20" name="Text 13"/>
          <p:cNvSpPr/>
          <p:nvPr/>
        </p:nvSpPr>
        <p:spPr>
          <a:xfrm>
            <a:off x="5057334" y="2390738"/>
            <a:ext cx="3595310" cy="372777"/>
          </a:xfrm>
          <a:prstGeom prst="rect">
            <a:avLst/>
          </a:prstGeom>
          <a:noFill/>
        </p:spPr>
        <p:txBody>
          <a:bodyPr wrap="square" lIns="0" tIns="0" rIns="0" bIns="0" rtlCol="0" anchor="t">
            <a:normAutofit/>
          </a:bodyPr>
          <a:lstStyle/>
          <a:p>
            <a:pPr marL="0" indent="0" algn="l">
              <a:lnSpc>
                <a:spcPct val="127000"/>
              </a:lnSpc>
              <a:buNone/>
            </a:pPr>
            <a:r>
              <a:rPr lang="en-US" sz="850" dirty="0">
                <a:solidFill>
                  <a:srgbClr val="272525"/>
                </a:solidFill>
                <a:latin typeface="Inter" panose="02000503000000020004" pitchFamily="34" charset="0"/>
                <a:ea typeface="Inter" panose="02000503000000020004" pitchFamily="34" charset="-122"/>
                <a:cs typeface="Inter" panose="02000503000000020004" pitchFamily="34" charset="-120"/>
              </a:rPr>
              <a:t>Official Microsoft Power BI documentation used for report development, DAX formulas, and data modeling guidance.</a:t>
            </a:r>
            <a:endParaRPr lang="en-US" sz="850" dirty="0"/>
          </a:p>
        </p:txBody>
      </p:sp>
      <p:pic>
        <p:nvPicPr>
          <p:cNvPr id="21" name="Image 5"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73939" y="2945959"/>
            <a:ext cx="3953024" cy="657746"/>
          </a:xfrm>
          <a:prstGeom prst="rect">
            <a:avLst/>
          </a:prstGeom>
        </p:spPr>
      </p:pic>
      <p:sp>
        <p:nvSpPr>
          <p:cNvPr id="22" name="Text 14"/>
          <p:cNvSpPr/>
          <p:nvPr/>
        </p:nvSpPr>
        <p:spPr>
          <a:xfrm>
            <a:off x="5057334" y="2967261"/>
            <a:ext cx="3595310" cy="184398"/>
          </a:xfrm>
          <a:prstGeom prst="rect">
            <a:avLst/>
          </a:prstGeom>
          <a:noFill/>
        </p:spPr>
        <p:txBody>
          <a:bodyPr wrap="none" lIns="0" tIns="0" rIns="0" bIns="0" rtlCol="0" anchor="t"/>
          <a:lstStyle/>
          <a:p>
            <a:pPr marL="0" indent="0" algn="l">
              <a:lnSpc>
                <a:spcPct val="104000"/>
              </a:lnSpc>
              <a:buNone/>
            </a:pPr>
            <a:r>
              <a:rPr lang="en-US" sz="1150" b="1" dirty="0">
                <a:solidFill>
                  <a:srgbClr val="272525"/>
                </a:solidFill>
                <a:latin typeface="Petrona Bold" pitchFamily="34" charset="0"/>
                <a:ea typeface="Petrona Bold" pitchFamily="34" charset="-122"/>
                <a:cs typeface="Petrona Bold" pitchFamily="34" charset="-120"/>
              </a:rPr>
              <a:t>Infosys Springboard</a:t>
            </a:r>
            <a:endParaRPr lang="en-US" sz="1150" dirty="0"/>
          </a:p>
        </p:txBody>
      </p:sp>
      <p:sp>
        <p:nvSpPr>
          <p:cNvPr id="23" name="Text 15"/>
          <p:cNvSpPr/>
          <p:nvPr/>
        </p:nvSpPr>
        <p:spPr>
          <a:xfrm>
            <a:off x="5057334" y="3253532"/>
            <a:ext cx="3595310" cy="342900"/>
          </a:xfrm>
          <a:prstGeom prst="rect">
            <a:avLst/>
          </a:prstGeom>
          <a:noFill/>
        </p:spPr>
        <p:txBody>
          <a:bodyPr wrap="square" lIns="0" tIns="0" rIns="0" bIns="0" rtlCol="0" anchor="t">
            <a:normAutofit/>
          </a:bodyPr>
          <a:lstStyle/>
          <a:p>
            <a:pPr marL="0" indent="0" algn="l">
              <a:lnSpc>
                <a:spcPct val="127000"/>
              </a:lnSpc>
              <a:buNone/>
            </a:pPr>
            <a:r>
              <a:rPr lang="en-US" sz="850" dirty="0">
                <a:solidFill>
                  <a:srgbClr val="272525"/>
                </a:solidFill>
                <a:latin typeface="Inter" panose="02000503000000020004" pitchFamily="34" charset="0"/>
                <a:ea typeface="Inter" panose="02000503000000020004" pitchFamily="34" charset="-122"/>
                <a:cs typeface="Inter" panose="02000503000000020004" pitchFamily="34" charset="-120"/>
              </a:rPr>
              <a:t>Infosys Springboard course and training materials provided as part of the Virtual Internship 7.0 curriculum.</a:t>
            </a:r>
            <a:endParaRPr lang="en-US" sz="850" dirty="0"/>
          </a:p>
        </p:txBody>
      </p:sp>
      <p:pic>
        <p:nvPicPr>
          <p:cNvPr id="24" name="Image 6"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67125" y="3785890"/>
            <a:ext cx="3953024" cy="657746"/>
          </a:xfrm>
          <a:prstGeom prst="rect">
            <a:avLst/>
          </a:prstGeom>
        </p:spPr>
      </p:pic>
      <p:sp>
        <p:nvSpPr>
          <p:cNvPr id="25" name="Text 16"/>
          <p:cNvSpPr/>
          <p:nvPr/>
        </p:nvSpPr>
        <p:spPr>
          <a:xfrm>
            <a:off x="5057334" y="3800177"/>
            <a:ext cx="3595310" cy="184398"/>
          </a:xfrm>
          <a:prstGeom prst="rect">
            <a:avLst/>
          </a:prstGeom>
          <a:noFill/>
        </p:spPr>
        <p:txBody>
          <a:bodyPr wrap="none" lIns="0" tIns="0" rIns="0" bIns="0" rtlCol="0" anchor="t"/>
          <a:lstStyle/>
          <a:p>
            <a:pPr marL="0" indent="0" algn="l">
              <a:lnSpc>
                <a:spcPct val="104000"/>
              </a:lnSpc>
              <a:buNone/>
            </a:pPr>
            <a:r>
              <a:rPr lang="en-US" sz="1150" b="1" dirty="0">
                <a:solidFill>
                  <a:srgbClr val="272525"/>
                </a:solidFill>
                <a:latin typeface="Petrona Bold" pitchFamily="34" charset="0"/>
                <a:ea typeface="Petrona Bold" pitchFamily="34" charset="-122"/>
                <a:cs typeface="Petrona Bold" pitchFamily="34" charset="-120"/>
              </a:rPr>
              <a:t>Power BI Resources</a:t>
            </a:r>
            <a:endParaRPr lang="en-US" sz="1150" dirty="0"/>
          </a:p>
        </p:txBody>
      </p:sp>
      <p:sp>
        <p:nvSpPr>
          <p:cNvPr id="26" name="Text 17"/>
          <p:cNvSpPr/>
          <p:nvPr/>
        </p:nvSpPr>
        <p:spPr>
          <a:xfrm>
            <a:off x="5057334" y="4093442"/>
            <a:ext cx="3595310" cy="335905"/>
          </a:xfrm>
          <a:prstGeom prst="rect">
            <a:avLst/>
          </a:prstGeom>
          <a:noFill/>
        </p:spPr>
        <p:txBody>
          <a:bodyPr wrap="square" lIns="0" tIns="0" rIns="0" bIns="0" rtlCol="0" anchor="t">
            <a:normAutofit/>
          </a:bodyPr>
          <a:lstStyle/>
          <a:p>
            <a:pPr marL="0" indent="0" algn="l">
              <a:lnSpc>
                <a:spcPct val="127000"/>
              </a:lnSpc>
              <a:buNone/>
            </a:pPr>
            <a:r>
              <a:rPr lang="en-US" sz="850" dirty="0">
                <a:solidFill>
                  <a:srgbClr val="272525"/>
                </a:solidFill>
                <a:latin typeface="Inter" panose="02000503000000020004" pitchFamily="34" charset="0"/>
                <a:ea typeface="Inter" panose="02000503000000020004" pitchFamily="34" charset="-122"/>
                <a:cs typeface="Inter" panose="02000503000000020004" pitchFamily="34" charset="-120"/>
              </a:rPr>
              <a:t>Power BI data modeling and visualization resources referenced during development and optimization phases.</a:t>
            </a:r>
            <a:endParaRPr lang="en-US" sz="850" dirty="0"/>
          </a:p>
        </p:txBody>
      </p:sp>
      <p:sp>
        <p:nvSpPr>
          <p:cNvPr id="27" name="TextBox 26"/>
          <p:cNvSpPr txBox="1"/>
          <p:nvPr/>
        </p:nvSpPr>
        <p:spPr>
          <a:xfrm>
            <a:off x="274321" y="1186830"/>
            <a:ext cx="4360984" cy="4223415"/>
          </a:xfrm>
          <a:prstGeom prst="rect">
            <a:avLst/>
          </a:prstGeom>
          <a:noFill/>
        </p:spPr>
        <p:txBody>
          <a:bodyPr wrap="square" rtlCol="0">
            <a:spAutoFit/>
          </a:bodyPr>
          <a:lstStyle/>
          <a:p>
            <a:r>
              <a:rPr lang="en-IN" sz="900" dirty="0"/>
              <a:t>We would like to express our sincere gratitude to the Infosys Springboard Team for organizing this highly enriching virtual internship program and for providing a structured, industry-aligned learning platform. The well-designed modules, milestone-based framework, and practical orientation of the internship enabled us to gain meaningful exposure to real-world business intelligence applications.</a:t>
            </a:r>
          </a:p>
          <a:p>
            <a:r>
              <a:rPr lang="en-IN" sz="900" dirty="0"/>
              <a:t> </a:t>
            </a:r>
          </a:p>
          <a:p>
            <a:r>
              <a:rPr lang="en-IN" sz="900" dirty="0"/>
              <a:t>We extend our heartfelt appreciation to our mentor, Ms. Nityasree, for her consistent guidance, valuable feedback, and continuous encouragement throughout the project lifecycle. Her insights and structured direction played a significant role in shaping the analytical depth and professional quality of this project. We would also like to acknowledge our team members for their strong collaboration, accountability, and shared commitment toward achieving project objectives. The coordinated distribution of responsibilities, open communication, and collective problem-solving approach significantly contributed to the successful execution of this project. In addition, we extend our appreciation to the creators and maintainers of Microsoft Power BI documentation and community resources, which served as essential references during dashboard development and KPI implementation. We are also grateful to Kaggle for providing access to publicly available datasets that facilitated practical, hands-on analytical experience. The structured learning resources and practical exposure provided through this internship have significantly strengthened our analytical thinking, technical proficiency, and business interpretation skills. This experience has enhanced our ability to approach data with a strategic mindset, collaborate effectively within a team environment, and execute projects with professional discipline. Overall, this internship has been a meaningful milestone in our academic and professional journey, reinforcing the value of data-driven decision-making and structured analytical execution in modern business environments.</a:t>
            </a:r>
          </a:p>
          <a:p>
            <a:endParaRPr lang="en-IN"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19" y="1969477"/>
            <a:ext cx="8151763" cy="900077"/>
          </a:xfrm>
          <a:prstGeom prst="rect">
            <a:avLst/>
          </a:prstGeom>
          <a:noFill/>
        </p:spPr>
        <p:txBody>
          <a:bodyPr wrap="none" lIns="0" tIns="0" rIns="0" bIns="0" rtlCol="0" anchor="t"/>
          <a:lstStyle/>
          <a:p>
            <a:pPr marL="0" indent="0" algn="ctr">
              <a:lnSpc>
                <a:spcPct val="104000"/>
              </a:lnSpc>
              <a:buNone/>
            </a:pPr>
            <a:r>
              <a:rPr lang="en-US" sz="4400" b="1" dirty="0">
                <a:latin typeface="Petrona Bold" pitchFamily="34" charset="0"/>
                <a:ea typeface="Petrona Bold" pitchFamily="34" charset="-122"/>
                <a:cs typeface="Times New Roman" panose="02020603050405020304" pitchFamily="18" charset="0"/>
              </a:rPr>
              <a:t>THhank youY</a:t>
            </a:r>
          </a:p>
          <a:p>
            <a:pPr marL="0" indent="0" algn="ctr">
              <a:lnSpc>
                <a:spcPct val="104000"/>
              </a:lnSpc>
              <a:buNone/>
            </a:pPr>
            <a:r>
              <a:rPr lang="en-US" sz="4400" b="1" dirty="0">
                <a:solidFill>
                  <a:srgbClr val="000000"/>
                </a:solidFill>
                <a:latin typeface="Petrona Bold" pitchFamily="34" charset="0"/>
                <a:ea typeface="Petrona Bold" pitchFamily="34" charset="-122"/>
                <a:cs typeface="Times New Roman" panose="02020603050405020304" pitchFamily="18" charset="0"/>
              </a:rPr>
              <a:t>U</a:t>
            </a:r>
            <a:endParaRPr lang="en-US" sz="4400" dirty="0">
              <a:latin typeface="Petrona Bold" pitchFamily="34" charset="0"/>
              <a:cs typeface="Times New Roman" panose="02020603050405020304" pitchFamily="18" charset="0"/>
            </a:endParaRPr>
          </a:p>
        </p:txBody>
      </p:sp>
      <p:sp>
        <p:nvSpPr>
          <p:cNvPr id="3" name="Text 1"/>
          <p:cNvSpPr/>
          <p:nvPr/>
        </p:nvSpPr>
        <p:spPr>
          <a:xfrm>
            <a:off x="496119" y="2333104"/>
            <a:ext cx="8151763" cy="536451"/>
          </a:xfrm>
          <a:prstGeom prst="rect">
            <a:avLst/>
          </a:prstGeom>
          <a:noFill/>
        </p:spPr>
        <p:txBody>
          <a:bodyPr wrap="square" lIns="0" tIns="0" rIns="0" bIns="0" rtlCol="0" anchor="t"/>
          <a:lstStyle/>
          <a:p>
            <a:pPr marL="0" indent="0" algn="ctr">
              <a:lnSpc>
                <a:spcPct val="133000"/>
              </a:lnSpc>
              <a:spcAft>
                <a:spcPts val="1050"/>
              </a:spcAft>
              <a:buNone/>
            </a:pPr>
            <a:endParaRPr lang="en-US" sz="950" dirty="0"/>
          </a:p>
        </p:txBody>
      </p:sp>
      <p:sp>
        <p:nvSpPr>
          <p:cNvPr id="6" name="Text 4"/>
          <p:cNvSpPr/>
          <p:nvPr/>
        </p:nvSpPr>
        <p:spPr>
          <a:xfrm>
            <a:off x="624855" y="3137818"/>
            <a:ext cx="3823171" cy="203522"/>
          </a:xfrm>
          <a:prstGeom prst="rect">
            <a:avLst/>
          </a:prstGeom>
          <a:noFill/>
        </p:spPr>
        <p:txBody>
          <a:bodyPr wrap="none" lIns="0" tIns="0" rIns="0" bIns="0" rtlCol="0" anchor="t"/>
          <a:lstStyle/>
          <a:p>
            <a:pPr marL="0" indent="0" algn="ctr">
              <a:lnSpc>
                <a:spcPct val="104000"/>
              </a:lnSpc>
              <a:buNone/>
            </a:pPr>
            <a:endParaRPr lang="en-US" sz="1250" dirty="0"/>
          </a:p>
        </p:txBody>
      </p:sp>
      <p:sp>
        <p:nvSpPr>
          <p:cNvPr id="7" name="Text 5"/>
          <p:cNvSpPr/>
          <p:nvPr/>
        </p:nvSpPr>
        <p:spPr>
          <a:xfrm>
            <a:off x="624855" y="3415754"/>
            <a:ext cx="3823171" cy="396925"/>
          </a:xfrm>
          <a:prstGeom prst="rect">
            <a:avLst/>
          </a:prstGeom>
          <a:noFill/>
        </p:spPr>
        <p:txBody>
          <a:bodyPr wrap="square" lIns="0" tIns="0" rIns="0" bIns="0" rtlCol="0" anchor="t">
            <a:normAutofit/>
          </a:bodyPr>
          <a:lstStyle/>
          <a:p>
            <a:pPr marL="0" indent="0" algn="ctr">
              <a:lnSpc>
                <a:spcPct val="133000"/>
              </a:lnSpc>
              <a:buNone/>
            </a:pPr>
            <a:endParaRPr lang="en-US" sz="950" dirty="0"/>
          </a:p>
        </p:txBody>
      </p:sp>
      <p:sp>
        <p:nvSpPr>
          <p:cNvPr id="10" name="Text 8"/>
          <p:cNvSpPr/>
          <p:nvPr/>
        </p:nvSpPr>
        <p:spPr>
          <a:xfrm>
            <a:off x="4695974" y="3137818"/>
            <a:ext cx="3823171" cy="203522"/>
          </a:xfrm>
          <a:prstGeom prst="rect">
            <a:avLst/>
          </a:prstGeom>
          <a:noFill/>
        </p:spPr>
        <p:txBody>
          <a:bodyPr wrap="none" lIns="0" tIns="0" rIns="0" bIns="0" rtlCol="0" anchor="t"/>
          <a:lstStyle/>
          <a:p>
            <a:pPr marL="0" indent="0" algn="ctr">
              <a:lnSpc>
                <a:spcPct val="104000"/>
              </a:lnSpc>
              <a:buNone/>
            </a:pPr>
            <a:endParaRPr lang="en-US" sz="1250" dirty="0"/>
          </a:p>
        </p:txBody>
      </p:sp>
      <p:sp>
        <p:nvSpPr>
          <p:cNvPr id="11" name="Text 9"/>
          <p:cNvSpPr/>
          <p:nvPr/>
        </p:nvSpPr>
        <p:spPr>
          <a:xfrm>
            <a:off x="4695974" y="3415754"/>
            <a:ext cx="3823171" cy="396925"/>
          </a:xfrm>
          <a:prstGeom prst="rect">
            <a:avLst/>
          </a:prstGeom>
          <a:noFill/>
        </p:spPr>
        <p:txBody>
          <a:bodyPr wrap="square" lIns="0" tIns="0" rIns="0" bIns="0" rtlCol="0" anchor="t">
            <a:normAutofit/>
          </a:bodyPr>
          <a:lstStyle/>
          <a:p>
            <a:pPr marL="0" indent="0" algn="ctr">
              <a:lnSpc>
                <a:spcPct val="133000"/>
              </a:lnSpc>
              <a:buNone/>
            </a:pPr>
            <a:endParaRPr lang="en-US" sz="950" dirty="0"/>
          </a:p>
        </p:txBody>
      </p:sp>
      <p:sp>
        <p:nvSpPr>
          <p:cNvPr id="12" name="Text 10"/>
          <p:cNvSpPr/>
          <p:nvPr/>
        </p:nvSpPr>
        <p:spPr>
          <a:xfrm>
            <a:off x="267519" y="4080942"/>
            <a:ext cx="8608963" cy="198462"/>
          </a:xfrm>
          <a:prstGeom prst="rect">
            <a:avLst/>
          </a:prstGeom>
          <a:noFill/>
        </p:spPr>
        <p:txBody>
          <a:bodyPr wrap="none" lIns="0" tIns="0" rIns="0" bIns="0" rtlCol="0" anchor="t"/>
          <a:lstStyle/>
          <a:p>
            <a:pPr marL="0" indent="0" algn="ctr">
              <a:lnSpc>
                <a:spcPct val="133000"/>
              </a:lnSpc>
              <a:buNone/>
            </a:pP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989</Words>
  <Application>Microsoft Office PowerPoint</Application>
  <PresentationFormat>On-screen Show (16:9)</PresentationFormat>
  <Paragraphs>106</Paragraphs>
  <Slides>8</Slides>
  <Notes>8</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vt:i4>
      </vt:variant>
    </vt:vector>
  </HeadingPairs>
  <TitlesOfParts>
    <vt:vector size="18" baseType="lpstr">
      <vt:lpstr>Times New Roman</vt:lpstr>
      <vt:lpstr>Inter</vt:lpstr>
      <vt:lpstr>Petrona Bold</vt:lpstr>
      <vt:lpstr>Aptos Display</vt:lpstr>
      <vt:lpstr>Inter Bold</vt:lpstr>
      <vt:lpstr>Calibri</vt:lpstr>
      <vt:lpstr>Arial</vt:lpstr>
      <vt:lpstr>Aptos</vt:lpstr>
      <vt:lpstr>Petrona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velpuri sai rohitha</dc:creator>
  <cp:lastModifiedBy>velpuri sai rohitha</cp:lastModifiedBy>
  <cp:revision>8</cp:revision>
  <dcterms:created xsi:type="dcterms:W3CDTF">2026-08-18T14:16:00Z</dcterms:created>
  <dcterms:modified xsi:type="dcterms:W3CDTF">2026-08-20T14:24:25Z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9AAA1D913D24458D8E791B5AE24E2DB9_13</vt:lpwstr>
  </property>
  <property fmtid="{D5CDD505-2E9C-101B-9397-08002B2CF9AE}" pid="3" name="KSOProductBuildVer">
    <vt:lpwstr>1033-12.1.0.28032</vt:lpwstr>
  </property>
</Properties>
</file>