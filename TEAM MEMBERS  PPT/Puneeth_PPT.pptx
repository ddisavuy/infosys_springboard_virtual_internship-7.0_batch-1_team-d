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6256000" cy="9144000"/>
  <p:notesSz cx="9144000" cy="16256000"/>
  <p:embeddedFontLst>
    <p:embeddedFont>
      <p:font typeface="Inter" charset="-122" pitchFamily="34"/>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E"/>
        </a:solidFill>
      </p:bgPr>
    </p:bg>
    <p:spTree>
      <p:nvGrpSpPr>
        <p:cNvPr id="1" name=""/>
        <p:cNvGrpSpPr/>
        <p:nvPr/>
      </p:nvGrpSpPr>
      <p:grpSpPr>
        <a:xfrm>
          <a:off x="0" y="0"/>
          <a:ext cx="0" cy="0"/>
          <a:chOff x="0" y="0"/>
          <a:chExt cx="0" cy="0"/>
        </a:xfrm>
      </p:grpSpPr>
      <p:sp>
        <p:nvSpPr>
          <p:cNvPr id="2" name="cover-dark-panel"/>
          <p:cNvSpPr/>
          <p:nvPr/>
        </p:nvSpPr>
        <p:spPr>
          <a:xfrm>
            <a:off x="0" y="0"/>
            <a:ext cx="9144000" cy="9144000"/>
          </a:xfrm>
          <a:prstGeom prst="rect">
            <a:avLst/>
          </a:prstGeom>
          <a:solidFill>
            <a:srgbClr val="242424"/>
          </a:solidFill>
          <a:ln/>
        </p:spPr>
      </p:sp>
      <p:pic>
        <p:nvPicPr>
          <p:cNvPr id="3" name="cover-image" descr="preencoded.png">    </p:cNvPr>
          <p:cNvPicPr>
            <a:picLocks noChangeAspect="1"/>
          </p:cNvPicPr>
          <p:nvPr/>
        </p:nvPicPr>
        <p:blipFill>
          <a:blip r:embed="rId1"/>
          <a:srcRect l="28894" r="28894" t="0" b="0"/>
          <a:stretch/>
        </p:blipFill>
        <p:spPr>
          <a:xfrm>
            <a:off x="9398000" y="0"/>
            <a:ext cx="6858000" cy="9144000"/>
          </a:xfrm>
          <a:prstGeom prst="rect">
            <a:avLst/>
          </a:prstGeom>
        </p:spPr>
      </p:pic>
      <p:sp>
        <p:nvSpPr>
          <p:cNvPr id="4" name="cover-orange-rule"/>
          <p:cNvSpPr/>
          <p:nvPr/>
        </p:nvSpPr>
        <p:spPr>
          <a:xfrm>
            <a:off x="812800" y="1117600"/>
            <a:ext cx="1498600" cy="9144"/>
          </a:xfrm>
          <a:prstGeom prst="line">
            <a:avLst/>
          </a:prstGeom>
          <a:ln w="63500">
            <a:solidFill>
              <a:srgbClr val="F36B21"/>
            </a:solidFill>
            <a:prstDash val="solid"/>
          </a:ln>
        </p:spPr>
      </p:sp>
      <p:sp>
        <p:nvSpPr>
          <p:cNvPr id="5" name="cover-label"/>
          <p:cNvSpPr/>
          <p:nvPr/>
        </p:nvSpPr>
        <p:spPr>
          <a:xfrm>
            <a:off x="812800" y="533400"/>
            <a:ext cx="7874000" cy="304800"/>
          </a:xfrm>
          <a:prstGeom prst="rect">
            <a:avLst/>
          </a:prstGeom>
          <a:noFill/>
          <a:ln/>
        </p:spPr>
        <p:txBody>
          <a:bodyPr wrap="none" lIns="0" tIns="0" rIns="0" bIns="0" rtlCol="0" anchor="t"/>
          <a:lstStyle/>
          <a:p>
            <a:pPr algn="l" indent="0" marL="0">
              <a:buNone/>
            </a:pPr>
            <a:r>
              <a:rPr lang="en-US" altLang="en-US" sz="1300" dirty="0">
                <a:solidFill>
                  <a:srgbClr val="F7F3EE"/>
                </a:solidFill>
                <a:latin typeface="Inter" pitchFamily="34" charset="0"/>
                <a:ea typeface="Inter" pitchFamily="34" charset="-122"/>
                <a:cs typeface="Inter" pitchFamily="34" charset="-120"/>
              </a:rPr>
              <a:t>INFOSYS SPRINGBOARD • VIRTUAL INTERNSHIP 7.0</a:t>
            </a:r>
            <a:endParaRPr lang="en-US" sz="1300" dirty="0"/>
          </a:p>
        </p:txBody>
      </p:sp>
      <p:sp>
        <p:nvSpPr>
          <p:cNvPr id="6" name="cover-title"/>
          <p:cNvSpPr/>
          <p:nvPr/>
        </p:nvSpPr>
        <p:spPr>
          <a:xfrm>
            <a:off x="812800" y="1422400"/>
            <a:ext cx="7874000" cy="1397000"/>
          </a:xfrm>
          <a:prstGeom prst="rect">
            <a:avLst/>
          </a:prstGeom>
          <a:noFill/>
          <a:ln/>
        </p:spPr>
        <p:txBody>
          <a:bodyPr wrap="square" lIns="0" tIns="0" rIns="0" bIns="0" rtlCol="0" anchor="t">
            <a:normAutofit/>
          </a:bodyPr>
          <a:lstStyle/>
          <a:p>
            <a:pPr algn="l" indent="0" marL="0">
              <a:lnSpc>
                <a:spcPts val="3360"/>
              </a:lnSpc>
              <a:buNone/>
            </a:pPr>
            <a:r>
              <a:rPr lang="en-US" altLang="en-US" sz="3200" dirty="0">
                <a:solidFill>
                  <a:srgbClr val="F36B21"/>
                </a:solidFill>
                <a:latin typeface="Aptos Display" pitchFamily="34" charset="0"/>
                <a:ea typeface="Aptos Display" pitchFamily="34" charset="-122"/>
                <a:cs typeface="Aptos Display" pitchFamily="34" charset="-120"/>
              </a:rPr>
              <a:t>SUPPLY CHAIN VISIBILITY SYSTEM</a:t>
            </a:r>
            <a:endParaRPr lang="en-US" sz="3200" dirty="0"/>
          </a:p>
          <a:p>
            <a:pPr algn="l" indent="0" marL="0">
              <a:lnSpc>
                <a:spcPts val="3360"/>
              </a:lnSpc>
              <a:buNone/>
            </a:pPr>
            <a:r>
              <a:rPr lang="en-US" altLang="en-US" sz="3200" dirty="0">
                <a:solidFill>
                  <a:srgbClr val="F36B21"/>
                </a:solidFill>
                <a:latin typeface="Aptos Display" pitchFamily="34" charset="0"/>
                <a:ea typeface="Aptos Display" pitchFamily="34" charset="-122"/>
                <a:cs typeface="Aptos Display" pitchFamily="34" charset="-120"/>
              </a:rPr>
              <a:t>WITH OPTIMIZATION ANALYTICS</a:t>
            </a:r>
            <a:endParaRPr lang="en-US" sz="3200" dirty="0"/>
          </a:p>
        </p:txBody>
      </p:sp>
      <p:sp>
        <p:nvSpPr>
          <p:cNvPr id="7" name="cover-subtitle"/>
          <p:cNvSpPr/>
          <p:nvPr/>
        </p:nvSpPr>
        <p:spPr>
          <a:xfrm>
            <a:off x="812800" y="3073400"/>
            <a:ext cx="7620000" cy="558800"/>
          </a:xfrm>
          <a:prstGeom prst="rect">
            <a:avLst/>
          </a:prstGeom>
          <a:noFill/>
          <a:ln/>
        </p:spPr>
        <p:txBody>
          <a:bodyPr wrap="square" lIns="0" tIns="0" rIns="0" bIns="0" rtlCol="0" anchor="t"/>
          <a:lstStyle/>
          <a:p>
            <a:pPr algn="l" indent="0" marL="0">
              <a:lnSpc>
                <a:spcPts val="2160"/>
              </a:lnSpc>
              <a:buNone/>
            </a:pPr>
            <a:r>
              <a:rPr lang="en-US" altLang="en-US" sz="1800" dirty="0">
                <a:solidFill>
                  <a:srgbClr val="F7F3EE"/>
                </a:solidFill>
                <a:latin typeface="Inter" pitchFamily="34" charset="0"/>
                <a:ea typeface="Inter" pitchFamily="34" charset="-122"/>
                <a:cs typeface="Inter" pitchFamily="34" charset="-120"/>
              </a:rPr>
              <a:t>Turning supply-chain data into clear visibility and actionable decision support with Power BI</a:t>
            </a:r>
            <a:endParaRPr lang="en-US" sz="1800" dirty="0"/>
          </a:p>
        </p:txBody>
      </p:sp>
      <p:sp>
        <p:nvSpPr>
          <p:cNvPr id="8" name="cover-team-heading"/>
          <p:cNvSpPr/>
          <p:nvPr/>
        </p:nvSpPr>
        <p:spPr>
          <a:xfrm>
            <a:off x="812800" y="4191000"/>
            <a:ext cx="2921000" cy="304800"/>
          </a:xfrm>
          <a:prstGeom prst="rect">
            <a:avLst/>
          </a:prstGeom>
          <a:noFill/>
          <a:ln/>
        </p:spPr>
        <p:txBody>
          <a:bodyPr wrap="none" lIns="0" tIns="0" rIns="0" bIns="0" rtlCol="0" anchor="t"/>
          <a:lstStyle/>
          <a:p>
            <a:pPr algn="l" indent="0" marL="0">
              <a:buNone/>
            </a:pPr>
            <a:r>
              <a:rPr lang="en-US" altLang="en-US" sz="1600" b="1" dirty="0">
                <a:solidFill>
                  <a:srgbClr val="F36B21"/>
                </a:solidFill>
                <a:latin typeface="Inter" pitchFamily="34" charset="0"/>
                <a:ea typeface="Inter" pitchFamily="34" charset="-122"/>
                <a:cs typeface="Inter" pitchFamily="34" charset="-120"/>
              </a:rPr>
              <a:t>Team Members</a:t>
            </a:r>
            <a:endParaRPr lang="en-US" sz="1600" dirty="0"/>
          </a:p>
        </p:txBody>
      </p:sp>
      <p:sp>
        <p:nvSpPr>
          <p:cNvPr id="9" name="cover-team"/>
          <p:cNvSpPr/>
          <p:nvPr/>
        </p:nvSpPr>
        <p:spPr>
          <a:xfrm>
            <a:off x="812800" y="4572000"/>
            <a:ext cx="4953000" cy="1600200"/>
          </a:xfrm>
          <a:prstGeom prst="rect">
            <a:avLst/>
          </a:prstGeom>
          <a:noFill/>
          <a:ln/>
        </p:spPr>
        <p:txBody>
          <a:bodyPr wrap="square" lIns="0" tIns="0" rIns="0" bIns="0" rtlCol="0" anchor="t"/>
          <a:lstStyle/>
          <a:p>
            <a:pPr algn="l" indent="0" marL="0">
              <a:lnSpc>
                <a:spcPts val="2048"/>
              </a:lnSpc>
              <a:buNone/>
            </a:pPr>
            <a:r>
              <a:rPr lang="en-US" altLang="en-US" sz="1600" dirty="0">
                <a:solidFill>
                  <a:srgbClr val="F7F3EE"/>
                </a:solidFill>
                <a:latin typeface="Inter" pitchFamily="34" charset="0"/>
                <a:ea typeface="Inter" pitchFamily="34" charset="-122"/>
                <a:cs typeface="Inter" pitchFamily="34" charset="-120"/>
              </a:rPr>
              <a:t>Umeshwaran R</a:t>
            </a:r>
            <a:endParaRPr lang="en-US" sz="1600" dirty="0"/>
          </a:p>
          <a:p>
            <a:pPr algn="l" indent="0" marL="0">
              <a:lnSpc>
                <a:spcPts val="2048"/>
              </a:lnSpc>
              <a:buNone/>
            </a:pPr>
            <a:r>
              <a:rPr lang="en-US" altLang="en-US" sz="1600" dirty="0">
                <a:solidFill>
                  <a:srgbClr val="F7F3EE"/>
                </a:solidFill>
                <a:latin typeface="Inter" pitchFamily="34" charset="0"/>
                <a:ea typeface="Inter" pitchFamily="34" charset="-122"/>
                <a:cs typeface="Inter" pitchFamily="34" charset="-120"/>
              </a:rPr>
              <a:t>Uppala BhavyaSri</a:t>
            </a:r>
            <a:endParaRPr lang="en-US" sz="1600" dirty="0"/>
          </a:p>
          <a:p>
            <a:pPr algn="l" indent="0" marL="0">
              <a:lnSpc>
                <a:spcPts val="2048"/>
              </a:lnSpc>
              <a:buNone/>
            </a:pPr>
            <a:r>
              <a:rPr lang="en-US" altLang="en-US" sz="1600" dirty="0">
                <a:solidFill>
                  <a:srgbClr val="F7F3EE"/>
                </a:solidFill>
                <a:latin typeface="Inter" pitchFamily="34" charset="0"/>
                <a:ea typeface="Inter" pitchFamily="34" charset="-122"/>
                <a:cs typeface="Inter" pitchFamily="34" charset="-120"/>
              </a:rPr>
              <a:t>V. Charita Sree</a:t>
            </a:r>
            <a:endParaRPr lang="en-US" sz="1600" dirty="0"/>
          </a:p>
          <a:p>
            <a:pPr algn="l" indent="0" marL="0">
              <a:lnSpc>
                <a:spcPts val="2048"/>
              </a:lnSpc>
              <a:buNone/>
            </a:pPr>
            <a:r>
              <a:rPr lang="en-US" altLang="en-US" sz="1600" dirty="0">
                <a:solidFill>
                  <a:srgbClr val="F7F3EE"/>
                </a:solidFill>
                <a:latin typeface="Inter" pitchFamily="34" charset="0"/>
                <a:ea typeface="Inter" pitchFamily="34" charset="-122"/>
                <a:cs typeface="Inter" pitchFamily="34" charset="-120"/>
              </a:rPr>
              <a:t>Velpuri Sai Rohitha</a:t>
            </a:r>
            <a:endParaRPr lang="en-US" sz="1600" dirty="0"/>
          </a:p>
          <a:p>
            <a:pPr algn="l" indent="0" marL="0">
              <a:lnSpc>
                <a:spcPts val="2048"/>
              </a:lnSpc>
              <a:buNone/>
            </a:pPr>
            <a:r>
              <a:rPr lang="en-US" altLang="en-US" sz="1600" dirty="0">
                <a:solidFill>
                  <a:srgbClr val="F7F3EE"/>
                </a:solidFill>
                <a:latin typeface="Inter" pitchFamily="34" charset="0"/>
                <a:ea typeface="Inter" pitchFamily="34" charset="-122"/>
                <a:cs typeface="Inter" pitchFamily="34" charset="-120"/>
              </a:rPr>
              <a:t>Venkata Puneeth Kothapalli</a:t>
            </a:r>
            <a:endParaRPr lang="en-US" sz="1600" dirty="0"/>
          </a:p>
          <a:p>
            <a:pPr algn="l" indent="0" marL="0">
              <a:lnSpc>
                <a:spcPts val="2048"/>
              </a:lnSpc>
              <a:buNone/>
            </a:pPr>
            <a:r>
              <a:rPr lang="en-US" altLang="en-US" sz="1600" dirty="0">
                <a:solidFill>
                  <a:srgbClr val="F7F3EE"/>
                </a:solidFill>
                <a:latin typeface="Inter" pitchFamily="34" charset="0"/>
                <a:ea typeface="Inter" pitchFamily="34" charset="-122"/>
                <a:cs typeface="Inter" pitchFamily="34" charset="-120"/>
              </a:rPr>
              <a:t>Yuvasree P</a:t>
            </a:r>
            <a:endParaRPr lang="en-US" sz="1600" dirty="0"/>
          </a:p>
        </p:txBody>
      </p:sp>
      <p:sp>
        <p:nvSpPr>
          <p:cNvPr id="10" name="cover-group"/>
          <p:cNvSpPr/>
          <p:nvPr/>
        </p:nvSpPr>
        <p:spPr>
          <a:xfrm>
            <a:off x="812800" y="6604000"/>
            <a:ext cx="4318000" cy="381000"/>
          </a:xfrm>
          <a:prstGeom prst="rect">
            <a:avLst/>
          </a:prstGeom>
          <a:noFill/>
          <a:ln/>
        </p:spPr>
        <p:txBody>
          <a:bodyPr wrap="none" lIns="0" tIns="0" rIns="0" bIns="0" rtlCol="0" anchor="t"/>
          <a:lstStyle/>
          <a:p>
            <a:pPr algn="l" indent="0" marL="0">
              <a:buNone/>
            </a:pPr>
            <a:r>
              <a:rPr lang="en-US" altLang="en-US" sz="1700" b="1" dirty="0">
                <a:solidFill>
                  <a:srgbClr val="F36B21"/>
                </a:solidFill>
                <a:latin typeface="Inter" pitchFamily="34" charset="0"/>
                <a:ea typeface="Inter" pitchFamily="34" charset="-122"/>
                <a:cs typeface="Inter" pitchFamily="34" charset="-120"/>
              </a:rPr>
              <a:t>Team D • Group 1</a:t>
            </a:r>
            <a:endParaRPr lang="en-US" sz="1700" dirty="0"/>
          </a:p>
        </p:txBody>
      </p:sp>
      <p:sp>
        <p:nvSpPr>
          <p:cNvPr id="11" name="cover-mentor-heading"/>
          <p:cNvSpPr/>
          <p:nvPr/>
        </p:nvSpPr>
        <p:spPr>
          <a:xfrm>
            <a:off x="812800" y="7340600"/>
            <a:ext cx="2794000" cy="304800"/>
          </a:xfrm>
          <a:prstGeom prst="rect">
            <a:avLst/>
          </a:prstGeom>
          <a:noFill/>
          <a:ln/>
        </p:spPr>
        <p:txBody>
          <a:bodyPr wrap="none" lIns="0" tIns="0" rIns="0" bIns="0" rtlCol="0" anchor="t"/>
          <a:lstStyle/>
          <a:p>
            <a:pPr algn="l" indent="0" marL="0">
              <a:buNone/>
            </a:pPr>
            <a:r>
              <a:rPr lang="en-US" altLang="en-US" sz="1600" b="1" dirty="0">
                <a:solidFill>
                  <a:srgbClr val="F36B21"/>
                </a:solidFill>
                <a:latin typeface="Inter" pitchFamily="34" charset="0"/>
                <a:ea typeface="Inter" pitchFamily="34" charset="-122"/>
                <a:cs typeface="Inter" pitchFamily="34" charset="-120"/>
              </a:rPr>
              <a:t>Mentor</a:t>
            </a:r>
            <a:endParaRPr lang="en-US" sz="1600" dirty="0"/>
          </a:p>
        </p:txBody>
      </p:sp>
      <p:sp>
        <p:nvSpPr>
          <p:cNvPr id="12" name="cover-mentor"/>
          <p:cNvSpPr/>
          <p:nvPr/>
        </p:nvSpPr>
        <p:spPr>
          <a:xfrm>
            <a:off x="812800" y="7721600"/>
            <a:ext cx="3810000" cy="355600"/>
          </a:xfrm>
          <a:prstGeom prst="rect">
            <a:avLst/>
          </a:prstGeom>
          <a:noFill/>
          <a:ln/>
        </p:spPr>
        <p:txBody>
          <a:bodyPr wrap="none" lIns="0" tIns="0" rIns="0" bIns="0" rtlCol="0" anchor="t"/>
          <a:lstStyle/>
          <a:p>
            <a:pPr algn="l" indent="0" marL="0">
              <a:buNone/>
            </a:pPr>
            <a:r>
              <a:rPr lang="en-US" altLang="en-US" sz="1600" dirty="0">
                <a:solidFill>
                  <a:srgbClr val="F7F3EE"/>
                </a:solidFill>
                <a:latin typeface="Inter" pitchFamily="34" charset="0"/>
                <a:ea typeface="Inter" pitchFamily="34" charset="-122"/>
                <a:cs typeface="Inter" pitchFamily="34" charset="-120"/>
              </a:rPr>
              <a:t>Ms. Nityasree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E"/>
        </a:solidFill>
      </p:bgPr>
    </p:bg>
    <p:spTree>
      <p:nvGrpSpPr>
        <p:cNvPr id="1" name=""/>
        <p:cNvGrpSpPr/>
        <p:nvPr/>
      </p:nvGrpSpPr>
      <p:grpSpPr>
        <a:xfrm>
          <a:off x="0" y="0"/>
          <a:ext cx="0" cy="0"/>
          <a:chOff x="0" y="0"/>
          <a:chExt cx="0" cy="0"/>
        </a:xfrm>
      </p:grpSpPr>
      <p:sp>
        <p:nvSpPr>
          <p:cNvPr id="2" name="objective-title"/>
          <p:cNvSpPr/>
          <p:nvPr/>
        </p:nvSpPr>
        <p:spPr>
          <a:xfrm>
            <a:off x="812800" y="660400"/>
            <a:ext cx="9144000" cy="609600"/>
          </a:xfrm>
          <a:prstGeom prst="rect">
            <a:avLst/>
          </a:prstGeom>
          <a:noFill/>
          <a:ln/>
        </p:spPr>
        <p:txBody>
          <a:bodyPr wrap="none" lIns="0" tIns="0" rIns="0" bIns="0" rtlCol="0" anchor="t"/>
          <a:lstStyle/>
          <a:p>
            <a:pPr algn="l" indent="0" marL="0">
              <a:buNone/>
            </a:pPr>
            <a:r>
              <a:rPr lang="en-US" altLang="en-US" sz="3400" dirty="0">
                <a:solidFill>
                  <a:srgbClr val="1E1E1E"/>
                </a:solidFill>
                <a:latin typeface="Aptos Display" pitchFamily="34" charset="0"/>
                <a:ea typeface="Aptos Display" pitchFamily="34" charset="-122"/>
                <a:cs typeface="Aptos Display" pitchFamily="34" charset="-120"/>
              </a:rPr>
              <a:t>Project Objective</a:t>
            </a:r>
            <a:endParaRPr lang="en-US" sz="3400" dirty="0"/>
          </a:p>
        </p:txBody>
      </p:sp>
      <p:sp>
        <p:nvSpPr>
          <p:cNvPr id="3" name="objective-rule"/>
          <p:cNvSpPr/>
          <p:nvPr/>
        </p:nvSpPr>
        <p:spPr>
          <a:xfrm>
            <a:off x="812800" y="1422400"/>
            <a:ext cx="1473200" cy="9144"/>
          </a:xfrm>
          <a:prstGeom prst="line">
            <a:avLst/>
          </a:prstGeom>
          <a:ln w="50800">
            <a:solidFill>
              <a:srgbClr val="F36B21"/>
            </a:solidFill>
            <a:prstDash val="solid"/>
          </a:ln>
        </p:spPr>
      </p:sp>
      <p:sp>
        <p:nvSpPr>
          <p:cNvPr id="4" name="objective-subtitle"/>
          <p:cNvSpPr/>
          <p:nvPr/>
        </p:nvSpPr>
        <p:spPr>
          <a:xfrm>
            <a:off x="812800" y="1752600"/>
            <a:ext cx="6858000" cy="3810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Our Project Focus</a:t>
            </a:r>
            <a:endParaRPr lang="en-US" sz="1800" dirty="0"/>
          </a:p>
        </p:txBody>
      </p:sp>
      <p:pic>
        <p:nvPicPr>
          <p:cNvPr id="5" name="objective-icon-1" descr="preencoded.png">    </p:cNvPr>
          <p:cNvPicPr>
            <a:picLocks noChangeAspect="1"/>
          </p:cNvPicPr>
          <p:nvPr/>
        </p:nvPicPr>
        <p:blipFill>
          <a:blip r:embed="rId1"/>
          <a:stretch>
            <a:fillRect/>
          </a:stretch>
        </p:blipFill>
        <p:spPr>
          <a:xfrm>
            <a:off x="889000" y="2413000"/>
            <a:ext cx="279400" cy="279400"/>
          </a:xfrm>
          <a:prstGeom prst="rect">
            <a:avLst/>
          </a:prstGeom>
        </p:spPr>
      </p:pic>
      <p:sp>
        <p:nvSpPr>
          <p:cNvPr id="6" name="objective-text-1"/>
          <p:cNvSpPr/>
          <p:nvPr/>
        </p:nvSpPr>
        <p:spPr>
          <a:xfrm>
            <a:off x="1371600" y="2336800"/>
            <a:ext cx="6858000" cy="635000"/>
          </a:xfrm>
          <a:prstGeom prst="rect">
            <a:avLst/>
          </a:prstGeom>
          <a:noFill/>
          <a:ln/>
        </p:spPr>
        <p:txBody>
          <a:bodyPr wrap="square" lIns="0" tIns="0" rIns="0" bIns="0" rtlCol="0" anchor="t"/>
          <a:lstStyle/>
          <a:p>
            <a:pPr algn="l" indent="0" marL="0">
              <a:lnSpc>
                <a:spcPts val="1955"/>
              </a:lnSpc>
              <a:buNone/>
            </a:pPr>
            <a:r>
              <a:rPr lang="en-US" altLang="en-US" sz="1700" dirty="0">
                <a:solidFill>
                  <a:srgbClr val="1E1E1E"/>
                </a:solidFill>
                <a:latin typeface="Inter" pitchFamily="34" charset="0"/>
                <a:ea typeface="Inter" pitchFamily="34" charset="-122"/>
                <a:cs typeface="Inter" pitchFamily="34" charset="-120"/>
              </a:rPr>
              <a:t>Create a clearer, end-to-end view of supply-chain activity.</a:t>
            </a:r>
            <a:endParaRPr lang="en-US" sz="1700" dirty="0"/>
          </a:p>
        </p:txBody>
      </p:sp>
      <p:pic>
        <p:nvPicPr>
          <p:cNvPr id="7" name="objective-icon-2" descr="preencoded.png">    </p:cNvPr>
          <p:cNvPicPr>
            <a:picLocks noChangeAspect="1"/>
          </p:cNvPicPr>
          <p:nvPr/>
        </p:nvPicPr>
        <p:blipFill>
          <a:blip r:embed="rId2"/>
          <a:stretch>
            <a:fillRect/>
          </a:stretch>
        </p:blipFill>
        <p:spPr>
          <a:xfrm>
            <a:off x="889000" y="3225800"/>
            <a:ext cx="279400" cy="279400"/>
          </a:xfrm>
          <a:prstGeom prst="rect">
            <a:avLst/>
          </a:prstGeom>
        </p:spPr>
      </p:pic>
      <p:sp>
        <p:nvSpPr>
          <p:cNvPr id="8" name="objective-text-2"/>
          <p:cNvSpPr/>
          <p:nvPr/>
        </p:nvSpPr>
        <p:spPr>
          <a:xfrm>
            <a:off x="1371600" y="3149600"/>
            <a:ext cx="6858000" cy="685800"/>
          </a:xfrm>
          <a:prstGeom prst="rect">
            <a:avLst/>
          </a:prstGeom>
          <a:noFill/>
          <a:ln/>
        </p:spPr>
        <p:txBody>
          <a:bodyPr wrap="square" lIns="0" tIns="0" rIns="0" bIns="0" rtlCol="0" anchor="t"/>
          <a:lstStyle/>
          <a:p>
            <a:pPr algn="l" indent="0" marL="0">
              <a:lnSpc>
                <a:spcPts val="1955"/>
              </a:lnSpc>
              <a:buNone/>
            </a:pPr>
            <a:r>
              <a:rPr lang="en-US" altLang="en-US" sz="1700" dirty="0">
                <a:solidFill>
                  <a:srgbClr val="1E1E1E"/>
                </a:solidFill>
                <a:latin typeface="Inter" pitchFamily="34" charset="0"/>
                <a:ea typeface="Inter" pitchFamily="34" charset="-122"/>
                <a:cs typeface="Inter" pitchFamily="34" charset="-120"/>
              </a:rPr>
              <a:t>Track the key operational areas: shipments, deliveries, stock, suppliers, and transport.</a:t>
            </a:r>
            <a:endParaRPr lang="en-US" sz="1700" dirty="0"/>
          </a:p>
        </p:txBody>
      </p:sp>
      <p:pic>
        <p:nvPicPr>
          <p:cNvPr id="9" name="objective-icon-3" descr="preencoded.png">    </p:cNvPr>
          <p:cNvPicPr>
            <a:picLocks noChangeAspect="1"/>
          </p:cNvPicPr>
          <p:nvPr/>
        </p:nvPicPr>
        <p:blipFill>
          <a:blip r:embed="rId3"/>
          <a:stretch>
            <a:fillRect/>
          </a:stretch>
        </p:blipFill>
        <p:spPr>
          <a:xfrm>
            <a:off x="889000" y="4216400"/>
            <a:ext cx="279400" cy="279400"/>
          </a:xfrm>
          <a:prstGeom prst="rect">
            <a:avLst/>
          </a:prstGeom>
        </p:spPr>
      </p:pic>
      <p:sp>
        <p:nvSpPr>
          <p:cNvPr id="10" name="objective-text-3"/>
          <p:cNvSpPr/>
          <p:nvPr/>
        </p:nvSpPr>
        <p:spPr>
          <a:xfrm>
            <a:off x="1371600" y="4140200"/>
            <a:ext cx="6858000" cy="685800"/>
          </a:xfrm>
          <a:prstGeom prst="rect">
            <a:avLst/>
          </a:prstGeom>
          <a:noFill/>
          <a:ln/>
        </p:spPr>
        <p:txBody>
          <a:bodyPr wrap="square" lIns="0" tIns="0" rIns="0" bIns="0" rtlCol="0" anchor="t"/>
          <a:lstStyle/>
          <a:p>
            <a:pPr algn="l" indent="0" marL="0">
              <a:lnSpc>
                <a:spcPts val="1955"/>
              </a:lnSpc>
              <a:buNone/>
            </a:pPr>
            <a:r>
              <a:rPr lang="en-US" altLang="en-US" sz="1700" dirty="0">
                <a:solidFill>
                  <a:srgbClr val="1E1E1E"/>
                </a:solidFill>
                <a:latin typeface="Inter" pitchFamily="34" charset="0"/>
                <a:ea typeface="Inter" pitchFamily="34" charset="-122"/>
                <a:cs typeface="Inter" pitchFamily="34" charset="-120"/>
              </a:rPr>
              <a:t>Expose avoidable costs, process bottlenecks, and efficiency gaps.</a:t>
            </a:r>
            <a:endParaRPr lang="en-US" sz="1700" dirty="0"/>
          </a:p>
        </p:txBody>
      </p:sp>
      <p:pic>
        <p:nvPicPr>
          <p:cNvPr id="11" name="objective-icon-4" descr="preencoded.png">    </p:cNvPr>
          <p:cNvPicPr>
            <a:picLocks noChangeAspect="1"/>
          </p:cNvPicPr>
          <p:nvPr/>
        </p:nvPicPr>
        <p:blipFill>
          <a:blip r:embed="rId4"/>
          <a:stretch>
            <a:fillRect/>
          </a:stretch>
        </p:blipFill>
        <p:spPr>
          <a:xfrm>
            <a:off x="889000" y="5207000"/>
            <a:ext cx="279400" cy="279400"/>
          </a:xfrm>
          <a:prstGeom prst="rect">
            <a:avLst/>
          </a:prstGeom>
        </p:spPr>
      </p:pic>
      <p:sp>
        <p:nvSpPr>
          <p:cNvPr id="12" name="objective-text-4"/>
          <p:cNvSpPr/>
          <p:nvPr/>
        </p:nvSpPr>
        <p:spPr>
          <a:xfrm>
            <a:off x="1371600" y="5130800"/>
            <a:ext cx="6858000" cy="685800"/>
          </a:xfrm>
          <a:prstGeom prst="rect">
            <a:avLst/>
          </a:prstGeom>
          <a:noFill/>
          <a:ln/>
        </p:spPr>
        <p:txBody>
          <a:bodyPr wrap="square" lIns="0" tIns="0" rIns="0" bIns="0" rtlCol="0" anchor="t"/>
          <a:lstStyle/>
          <a:p>
            <a:pPr algn="l" indent="0" marL="0">
              <a:lnSpc>
                <a:spcPts val="1955"/>
              </a:lnSpc>
              <a:buNone/>
            </a:pPr>
            <a:r>
              <a:rPr lang="en-US" altLang="en-US" sz="1700" dirty="0">
                <a:solidFill>
                  <a:srgbClr val="1E1E1E"/>
                </a:solidFill>
                <a:latin typeface="Inter" pitchFamily="34" charset="0"/>
                <a:ea typeface="Inter" pitchFamily="34" charset="-122"/>
                <a:cs typeface="Inter" pitchFamily="34" charset="-120"/>
              </a:rPr>
              <a:t>Evaluate performance across products, suppliers, logistics, and service delivery.</a:t>
            </a:r>
            <a:endParaRPr lang="en-US" sz="1700" dirty="0"/>
          </a:p>
        </p:txBody>
      </p:sp>
      <p:pic>
        <p:nvPicPr>
          <p:cNvPr id="13" name="objective-icon-5" descr="preencoded.png">    </p:cNvPr>
          <p:cNvPicPr>
            <a:picLocks noChangeAspect="1"/>
          </p:cNvPicPr>
          <p:nvPr/>
        </p:nvPicPr>
        <p:blipFill>
          <a:blip r:embed="rId5"/>
          <a:stretch>
            <a:fillRect/>
          </a:stretch>
        </p:blipFill>
        <p:spPr>
          <a:xfrm>
            <a:off x="889000" y="6197600"/>
            <a:ext cx="279400" cy="279400"/>
          </a:xfrm>
          <a:prstGeom prst="rect">
            <a:avLst/>
          </a:prstGeom>
        </p:spPr>
      </p:pic>
      <p:sp>
        <p:nvSpPr>
          <p:cNvPr id="14" name="objective-text-5"/>
          <p:cNvSpPr/>
          <p:nvPr/>
        </p:nvSpPr>
        <p:spPr>
          <a:xfrm>
            <a:off x="1371600" y="6121400"/>
            <a:ext cx="6858000" cy="685800"/>
          </a:xfrm>
          <a:prstGeom prst="rect">
            <a:avLst/>
          </a:prstGeom>
          <a:noFill/>
          <a:ln/>
        </p:spPr>
        <p:txBody>
          <a:bodyPr wrap="square" lIns="0" tIns="0" rIns="0" bIns="0" rtlCol="0" anchor="t"/>
          <a:lstStyle/>
          <a:p>
            <a:pPr algn="l" indent="0" marL="0">
              <a:lnSpc>
                <a:spcPts val="1955"/>
              </a:lnSpc>
              <a:buNone/>
            </a:pPr>
            <a:r>
              <a:rPr lang="en-US" altLang="en-US" sz="1700" dirty="0">
                <a:solidFill>
                  <a:srgbClr val="1E1E1E"/>
                </a:solidFill>
                <a:latin typeface="Inter" pitchFamily="34" charset="0"/>
                <a:ea typeface="Inter" pitchFamily="34" charset="-122"/>
                <a:cs typeface="Inter" pitchFamily="34" charset="-120"/>
              </a:rPr>
              <a:t>Build decision-ready KPIs that support more informed operational choices.</a:t>
            </a:r>
            <a:endParaRPr lang="en-US" sz="1700" dirty="0"/>
          </a:p>
        </p:txBody>
      </p:sp>
      <p:sp>
        <p:nvSpPr>
          <p:cNvPr id="15" name="modules-panel"/>
          <p:cNvSpPr/>
          <p:nvPr/>
        </p:nvSpPr>
        <p:spPr>
          <a:xfrm>
            <a:off x="8890000" y="1422400"/>
            <a:ext cx="6553200" cy="6959600"/>
          </a:xfrm>
          <a:prstGeom prst="roundRect">
            <a:avLst>
              <a:gd name="adj" fmla="val 2713"/>
            </a:avLst>
          </a:prstGeom>
          <a:solidFill>
            <a:srgbClr val="E8E2DC"/>
          </a:solidFill>
          <a:ln/>
        </p:spPr>
      </p:sp>
      <p:sp>
        <p:nvSpPr>
          <p:cNvPr id="16" name="modules-heading"/>
          <p:cNvSpPr/>
          <p:nvPr/>
        </p:nvSpPr>
        <p:spPr>
          <a:xfrm>
            <a:off x="9245600" y="1778000"/>
            <a:ext cx="5461000" cy="4064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Workstream Breakdown</a:t>
            </a:r>
            <a:endParaRPr lang="en-US" sz="1800" dirty="0"/>
          </a:p>
        </p:txBody>
      </p:sp>
      <p:sp>
        <p:nvSpPr>
          <p:cNvPr id="17" name="module-1-num"/>
          <p:cNvSpPr/>
          <p:nvPr/>
        </p:nvSpPr>
        <p:spPr>
          <a:xfrm>
            <a:off x="9245600" y="2463800"/>
            <a:ext cx="482600" cy="304800"/>
          </a:xfrm>
          <a:prstGeom prst="rect">
            <a:avLst/>
          </a:prstGeom>
          <a:noFill/>
          <a:ln/>
        </p:spPr>
        <p:txBody>
          <a:bodyPr wrap="none" lIns="0" tIns="0" rIns="0" bIns="0" rtlCol="0" anchor="t"/>
          <a:lstStyle/>
          <a:p>
            <a:pPr algn="l" indent="0" marL="0">
              <a:buNone/>
            </a:pPr>
            <a:r>
              <a:rPr lang="en-US" altLang="en-US" sz="1400" dirty="0">
                <a:solidFill>
                  <a:srgbClr val="1E1E1E"/>
                </a:solidFill>
                <a:latin typeface="Inter" pitchFamily="34" charset="0"/>
                <a:ea typeface="Inter" pitchFamily="34" charset="-122"/>
                <a:cs typeface="Inter" pitchFamily="34" charset="-120"/>
              </a:rPr>
              <a:t>01</a:t>
            </a:r>
            <a:endParaRPr lang="en-US" sz="1400" dirty="0"/>
          </a:p>
        </p:txBody>
      </p:sp>
      <p:sp>
        <p:nvSpPr>
          <p:cNvPr id="18" name="module-1"/>
          <p:cNvSpPr/>
          <p:nvPr/>
        </p:nvSpPr>
        <p:spPr>
          <a:xfrm>
            <a:off x="9829800" y="2413000"/>
            <a:ext cx="4851400" cy="355600"/>
          </a:xfrm>
          <a:prstGeom prst="rect">
            <a:avLst/>
          </a:prstGeom>
          <a:noFill/>
          <a:ln/>
        </p:spPr>
        <p:txBody>
          <a:bodyPr wrap="none" lIns="0" tIns="0" rIns="0" bIns="0" rtlCol="0" anchor="t"/>
          <a:lstStyle/>
          <a:p>
            <a:pPr algn="l" indent="0" marL="0">
              <a:buNone/>
            </a:pPr>
            <a:r>
              <a:rPr lang="en-US" altLang="en-US" sz="1700" dirty="0">
                <a:solidFill>
                  <a:srgbClr val="1E1E1E"/>
                </a:solidFill>
                <a:latin typeface="Inter" pitchFamily="34" charset="0"/>
                <a:ea typeface="Inter" pitchFamily="34" charset="-122"/>
                <a:cs typeface="Inter" pitchFamily="34" charset="-120"/>
              </a:rPr>
              <a:t>Business Context &amp; Requirements</a:t>
            </a:r>
            <a:endParaRPr lang="en-US" sz="1700" dirty="0"/>
          </a:p>
        </p:txBody>
      </p:sp>
      <p:sp>
        <p:nvSpPr>
          <p:cNvPr id="19" name="module-rule-1"/>
          <p:cNvSpPr/>
          <p:nvPr/>
        </p:nvSpPr>
        <p:spPr>
          <a:xfrm>
            <a:off x="9245600" y="2971800"/>
            <a:ext cx="5562600" cy="9144"/>
          </a:xfrm>
          <a:prstGeom prst="line">
            <a:avLst/>
          </a:prstGeom>
          <a:ln w="25400">
            <a:solidFill>
              <a:srgbClr val="F36B21"/>
            </a:solidFill>
            <a:prstDash val="solid"/>
          </a:ln>
        </p:spPr>
      </p:sp>
      <p:sp>
        <p:nvSpPr>
          <p:cNvPr id="20" name="module-2-num"/>
          <p:cNvSpPr/>
          <p:nvPr/>
        </p:nvSpPr>
        <p:spPr>
          <a:xfrm>
            <a:off x="9245600" y="3327400"/>
            <a:ext cx="482600" cy="304800"/>
          </a:xfrm>
          <a:prstGeom prst="rect">
            <a:avLst/>
          </a:prstGeom>
          <a:noFill/>
          <a:ln/>
        </p:spPr>
        <p:txBody>
          <a:bodyPr wrap="none" lIns="0" tIns="0" rIns="0" bIns="0" rtlCol="0" anchor="t"/>
          <a:lstStyle/>
          <a:p>
            <a:pPr algn="l" indent="0" marL="0">
              <a:buNone/>
            </a:pPr>
            <a:r>
              <a:rPr lang="en-US" altLang="en-US" sz="1400" dirty="0">
                <a:solidFill>
                  <a:srgbClr val="1E1E1E"/>
                </a:solidFill>
                <a:latin typeface="Inter" pitchFamily="34" charset="0"/>
                <a:ea typeface="Inter" pitchFamily="34" charset="-122"/>
                <a:cs typeface="Inter" pitchFamily="34" charset="-120"/>
              </a:rPr>
              <a:t>02</a:t>
            </a:r>
            <a:endParaRPr lang="en-US" sz="1400" dirty="0"/>
          </a:p>
        </p:txBody>
      </p:sp>
      <p:sp>
        <p:nvSpPr>
          <p:cNvPr id="21" name="module-2"/>
          <p:cNvSpPr/>
          <p:nvPr/>
        </p:nvSpPr>
        <p:spPr>
          <a:xfrm>
            <a:off x="9829800" y="3276600"/>
            <a:ext cx="4851400" cy="355600"/>
          </a:xfrm>
          <a:prstGeom prst="rect">
            <a:avLst/>
          </a:prstGeom>
          <a:noFill/>
          <a:ln/>
        </p:spPr>
        <p:txBody>
          <a:bodyPr wrap="none" lIns="0" tIns="0" rIns="0" bIns="0" rtlCol="0" anchor="t"/>
          <a:lstStyle/>
          <a:p>
            <a:pPr algn="l" indent="0" marL="0">
              <a:buNone/>
            </a:pPr>
            <a:r>
              <a:rPr lang="en-US" altLang="en-US" sz="1700" dirty="0">
                <a:solidFill>
                  <a:srgbClr val="1E1E1E"/>
                </a:solidFill>
                <a:latin typeface="Inter" pitchFamily="34" charset="0"/>
                <a:ea typeface="Inter" pitchFamily="34" charset="-122"/>
                <a:cs typeface="Inter" pitchFamily="34" charset="-120"/>
              </a:rPr>
              <a:t>Data Sourcing &amp; Familiarization</a:t>
            </a:r>
            <a:endParaRPr lang="en-US" sz="1700" dirty="0"/>
          </a:p>
        </p:txBody>
      </p:sp>
      <p:sp>
        <p:nvSpPr>
          <p:cNvPr id="22" name="module-rule-2"/>
          <p:cNvSpPr/>
          <p:nvPr/>
        </p:nvSpPr>
        <p:spPr>
          <a:xfrm>
            <a:off x="9245600" y="3835400"/>
            <a:ext cx="5562600" cy="9144"/>
          </a:xfrm>
          <a:prstGeom prst="line">
            <a:avLst/>
          </a:prstGeom>
          <a:ln w="25400">
            <a:solidFill>
              <a:srgbClr val="F36B21"/>
            </a:solidFill>
            <a:prstDash val="solid"/>
          </a:ln>
        </p:spPr>
      </p:sp>
      <p:sp>
        <p:nvSpPr>
          <p:cNvPr id="23" name="module-3-num"/>
          <p:cNvSpPr/>
          <p:nvPr/>
        </p:nvSpPr>
        <p:spPr>
          <a:xfrm>
            <a:off x="9245600" y="4191000"/>
            <a:ext cx="482600" cy="304800"/>
          </a:xfrm>
          <a:prstGeom prst="rect">
            <a:avLst/>
          </a:prstGeom>
          <a:noFill/>
          <a:ln/>
        </p:spPr>
        <p:txBody>
          <a:bodyPr wrap="none" lIns="0" tIns="0" rIns="0" bIns="0" rtlCol="0" anchor="t"/>
          <a:lstStyle/>
          <a:p>
            <a:pPr algn="l" indent="0" marL="0">
              <a:buNone/>
            </a:pPr>
            <a:r>
              <a:rPr lang="en-US" altLang="en-US" sz="1400" dirty="0">
                <a:solidFill>
                  <a:srgbClr val="1E1E1E"/>
                </a:solidFill>
                <a:latin typeface="Inter" pitchFamily="34" charset="0"/>
                <a:ea typeface="Inter" pitchFamily="34" charset="-122"/>
                <a:cs typeface="Inter" pitchFamily="34" charset="-120"/>
              </a:rPr>
              <a:t>03</a:t>
            </a:r>
            <a:endParaRPr lang="en-US" sz="1400" dirty="0"/>
          </a:p>
        </p:txBody>
      </p:sp>
      <p:sp>
        <p:nvSpPr>
          <p:cNvPr id="24" name="module-3"/>
          <p:cNvSpPr/>
          <p:nvPr/>
        </p:nvSpPr>
        <p:spPr>
          <a:xfrm>
            <a:off x="9829800" y="4140200"/>
            <a:ext cx="4851400" cy="355600"/>
          </a:xfrm>
          <a:prstGeom prst="rect">
            <a:avLst/>
          </a:prstGeom>
          <a:noFill/>
          <a:ln/>
        </p:spPr>
        <p:txBody>
          <a:bodyPr wrap="none" lIns="0" tIns="0" rIns="0" bIns="0" rtlCol="0" anchor="t"/>
          <a:lstStyle/>
          <a:p>
            <a:pPr algn="l" indent="0" marL="0">
              <a:buNone/>
            </a:pPr>
            <a:r>
              <a:rPr lang="en-US" altLang="en-US" sz="1700" dirty="0">
                <a:solidFill>
                  <a:srgbClr val="1E1E1E"/>
                </a:solidFill>
                <a:latin typeface="Inter" pitchFamily="34" charset="0"/>
                <a:ea typeface="Inter" pitchFamily="34" charset="-122"/>
                <a:cs typeface="Inter" pitchFamily="34" charset="-120"/>
              </a:rPr>
              <a:t>Data Cleansing &amp; Preparation</a:t>
            </a:r>
            <a:endParaRPr lang="en-US" sz="1700" dirty="0"/>
          </a:p>
        </p:txBody>
      </p:sp>
      <p:sp>
        <p:nvSpPr>
          <p:cNvPr id="25" name="module-rule-3"/>
          <p:cNvSpPr/>
          <p:nvPr/>
        </p:nvSpPr>
        <p:spPr>
          <a:xfrm>
            <a:off x="9245600" y="4699000"/>
            <a:ext cx="5562600" cy="9144"/>
          </a:xfrm>
          <a:prstGeom prst="line">
            <a:avLst/>
          </a:prstGeom>
          <a:ln w="25400">
            <a:solidFill>
              <a:srgbClr val="F36B21"/>
            </a:solidFill>
            <a:prstDash val="solid"/>
          </a:ln>
        </p:spPr>
      </p:sp>
      <p:sp>
        <p:nvSpPr>
          <p:cNvPr id="26" name="module-4-num"/>
          <p:cNvSpPr/>
          <p:nvPr/>
        </p:nvSpPr>
        <p:spPr>
          <a:xfrm>
            <a:off x="9245600" y="5054600"/>
            <a:ext cx="482600" cy="304800"/>
          </a:xfrm>
          <a:prstGeom prst="rect">
            <a:avLst/>
          </a:prstGeom>
          <a:noFill/>
          <a:ln/>
        </p:spPr>
        <p:txBody>
          <a:bodyPr wrap="none" lIns="0" tIns="0" rIns="0" bIns="0" rtlCol="0" anchor="t"/>
          <a:lstStyle/>
          <a:p>
            <a:pPr algn="l" indent="0" marL="0">
              <a:buNone/>
            </a:pPr>
            <a:r>
              <a:rPr lang="en-US" altLang="en-US" sz="1400" dirty="0">
                <a:solidFill>
                  <a:srgbClr val="1E1E1E"/>
                </a:solidFill>
                <a:latin typeface="Inter" pitchFamily="34" charset="0"/>
                <a:ea typeface="Inter" pitchFamily="34" charset="-122"/>
                <a:cs typeface="Inter" pitchFamily="34" charset="-120"/>
              </a:rPr>
              <a:t>04</a:t>
            </a:r>
            <a:endParaRPr lang="en-US" sz="1400" dirty="0"/>
          </a:p>
        </p:txBody>
      </p:sp>
      <p:sp>
        <p:nvSpPr>
          <p:cNvPr id="27" name="module-4"/>
          <p:cNvSpPr/>
          <p:nvPr/>
        </p:nvSpPr>
        <p:spPr>
          <a:xfrm>
            <a:off x="9829800" y="5003800"/>
            <a:ext cx="4851400" cy="355600"/>
          </a:xfrm>
          <a:prstGeom prst="rect">
            <a:avLst/>
          </a:prstGeom>
          <a:noFill/>
          <a:ln/>
        </p:spPr>
        <p:txBody>
          <a:bodyPr wrap="none" lIns="0" tIns="0" rIns="0" bIns="0" rtlCol="0" anchor="t"/>
          <a:lstStyle/>
          <a:p>
            <a:pPr algn="l" indent="0" marL="0">
              <a:buNone/>
            </a:pPr>
            <a:r>
              <a:rPr lang="en-US" altLang="en-US" sz="1700" dirty="0">
                <a:solidFill>
                  <a:srgbClr val="1E1E1E"/>
                </a:solidFill>
                <a:latin typeface="Inter" pitchFamily="34" charset="0"/>
                <a:ea typeface="Inter" pitchFamily="34" charset="-122"/>
                <a:cs typeface="Inter" pitchFamily="34" charset="-120"/>
              </a:rPr>
              <a:t>Data Model Design</a:t>
            </a:r>
            <a:endParaRPr lang="en-US" sz="1700" dirty="0"/>
          </a:p>
        </p:txBody>
      </p:sp>
      <p:sp>
        <p:nvSpPr>
          <p:cNvPr id="28" name="module-rule-4"/>
          <p:cNvSpPr/>
          <p:nvPr/>
        </p:nvSpPr>
        <p:spPr>
          <a:xfrm>
            <a:off x="9245600" y="5562600"/>
            <a:ext cx="5562600" cy="9144"/>
          </a:xfrm>
          <a:prstGeom prst="line">
            <a:avLst/>
          </a:prstGeom>
          <a:ln w="25400">
            <a:solidFill>
              <a:srgbClr val="F36B21"/>
            </a:solidFill>
            <a:prstDash val="solid"/>
          </a:ln>
        </p:spPr>
      </p:sp>
      <p:sp>
        <p:nvSpPr>
          <p:cNvPr id="29" name="module-5-num"/>
          <p:cNvSpPr/>
          <p:nvPr/>
        </p:nvSpPr>
        <p:spPr>
          <a:xfrm>
            <a:off x="9245600" y="5918200"/>
            <a:ext cx="482600" cy="304800"/>
          </a:xfrm>
          <a:prstGeom prst="rect">
            <a:avLst/>
          </a:prstGeom>
          <a:noFill/>
          <a:ln/>
        </p:spPr>
        <p:txBody>
          <a:bodyPr wrap="none" lIns="0" tIns="0" rIns="0" bIns="0" rtlCol="0" anchor="t"/>
          <a:lstStyle/>
          <a:p>
            <a:pPr algn="l" indent="0" marL="0">
              <a:buNone/>
            </a:pPr>
            <a:r>
              <a:rPr lang="en-US" altLang="en-US" sz="1400" dirty="0">
                <a:solidFill>
                  <a:srgbClr val="1E1E1E"/>
                </a:solidFill>
                <a:latin typeface="Inter" pitchFamily="34" charset="0"/>
                <a:ea typeface="Inter" pitchFamily="34" charset="-122"/>
                <a:cs typeface="Inter" pitchFamily="34" charset="-120"/>
              </a:rPr>
              <a:t>05</a:t>
            </a:r>
            <a:endParaRPr lang="en-US" sz="1400" dirty="0"/>
          </a:p>
        </p:txBody>
      </p:sp>
      <p:sp>
        <p:nvSpPr>
          <p:cNvPr id="30" name="module-5"/>
          <p:cNvSpPr/>
          <p:nvPr/>
        </p:nvSpPr>
        <p:spPr>
          <a:xfrm>
            <a:off x="9829800" y="5867400"/>
            <a:ext cx="4851400" cy="533400"/>
          </a:xfrm>
          <a:prstGeom prst="rect">
            <a:avLst/>
          </a:prstGeom>
          <a:noFill/>
          <a:ln/>
        </p:spPr>
        <p:txBody>
          <a:bodyPr wrap="square" lIns="0" tIns="0" rIns="0" bIns="0" rtlCol="0" anchor="t"/>
          <a:lstStyle/>
          <a:p>
            <a:pPr algn="l" indent="0" marL="0">
              <a:lnSpc>
                <a:spcPts val="1955"/>
              </a:lnSpc>
              <a:buNone/>
            </a:pPr>
            <a:r>
              <a:rPr lang="en-US" altLang="en-US" sz="1700" dirty="0">
                <a:solidFill>
                  <a:srgbClr val="1E1E1E"/>
                </a:solidFill>
                <a:latin typeface="Inter" pitchFamily="34" charset="0"/>
                <a:ea typeface="Inter" pitchFamily="34" charset="-122"/>
                <a:cs typeface="Inter" pitchFamily="34" charset="-120"/>
              </a:rPr>
              <a:t>Interactive Reporting &amp; Insight Generation</a:t>
            </a:r>
            <a:endParaRPr lang="en-US" sz="1700" dirty="0"/>
          </a:p>
        </p:txBody>
      </p:sp>
      <p:sp>
        <p:nvSpPr>
          <p:cNvPr id="31" name="module-rule-5"/>
          <p:cNvSpPr/>
          <p:nvPr/>
        </p:nvSpPr>
        <p:spPr>
          <a:xfrm>
            <a:off x="9245600" y="6731000"/>
            <a:ext cx="5562600" cy="9144"/>
          </a:xfrm>
          <a:prstGeom prst="line">
            <a:avLst/>
          </a:prstGeom>
          <a:ln w="25400">
            <a:solidFill>
              <a:srgbClr val="F36B21"/>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E"/>
        </a:solidFill>
      </p:bgPr>
    </p:bg>
    <p:spTree>
      <p:nvGrpSpPr>
        <p:cNvPr id="1" name=""/>
        <p:cNvGrpSpPr/>
        <p:nvPr/>
      </p:nvGrpSpPr>
      <p:grpSpPr>
        <a:xfrm>
          <a:off x="0" y="0"/>
          <a:ext cx="0" cy="0"/>
          <a:chOff x="0" y="0"/>
          <a:chExt cx="0" cy="0"/>
        </a:xfrm>
      </p:grpSpPr>
      <p:sp>
        <p:nvSpPr>
          <p:cNvPr id="2" name="milestones-title"/>
          <p:cNvSpPr/>
          <p:nvPr/>
        </p:nvSpPr>
        <p:spPr>
          <a:xfrm>
            <a:off x="812800" y="660400"/>
            <a:ext cx="10414000" cy="609600"/>
          </a:xfrm>
          <a:prstGeom prst="rect">
            <a:avLst/>
          </a:prstGeom>
          <a:noFill/>
          <a:ln/>
        </p:spPr>
        <p:txBody>
          <a:bodyPr wrap="none" lIns="0" tIns="0" rIns="0" bIns="0" rtlCol="0" anchor="t"/>
          <a:lstStyle/>
          <a:p>
            <a:pPr algn="l" indent="0" marL="0">
              <a:buNone/>
            </a:pPr>
            <a:r>
              <a:rPr lang="en-US" altLang="en-US" sz="3400" dirty="0">
                <a:solidFill>
                  <a:srgbClr val="1E1E1E"/>
                </a:solidFill>
                <a:latin typeface="Aptos Display" pitchFamily="34" charset="0"/>
                <a:ea typeface="Aptos Display" pitchFamily="34" charset="-122"/>
                <a:cs typeface="Aptos Display" pitchFamily="34" charset="-120"/>
              </a:rPr>
              <a:t>Project Execution Milestones</a:t>
            </a:r>
            <a:endParaRPr lang="en-US" sz="3400" dirty="0"/>
          </a:p>
        </p:txBody>
      </p:sp>
      <p:sp>
        <p:nvSpPr>
          <p:cNvPr id="3" name="milestones-rule"/>
          <p:cNvSpPr/>
          <p:nvPr/>
        </p:nvSpPr>
        <p:spPr>
          <a:xfrm>
            <a:off x="812800" y="1422400"/>
            <a:ext cx="2133600" cy="9144"/>
          </a:xfrm>
          <a:prstGeom prst="line">
            <a:avLst/>
          </a:prstGeom>
          <a:ln w="50800">
            <a:solidFill>
              <a:srgbClr val="F36B21"/>
            </a:solidFill>
            <a:prstDash val="solid"/>
          </a:ln>
        </p:spPr>
      </p:sp>
      <p:pic>
        <p:nvPicPr>
          <p:cNvPr id="4" name="milestones-photo" descr="preencoded.png">    </p:cNvPr>
          <p:cNvPicPr>
            <a:picLocks noChangeAspect="1"/>
          </p:cNvPicPr>
          <p:nvPr/>
        </p:nvPicPr>
        <p:blipFill>
          <a:blip r:embed="rId1"/>
          <a:srcRect l="0" r="0" t="25252" b="25252"/>
          <a:stretch/>
        </p:blipFill>
        <p:spPr>
          <a:xfrm>
            <a:off x="11887200" y="533400"/>
            <a:ext cx="3556000" cy="990600"/>
          </a:xfrm>
          <a:prstGeom prst="rect">
            <a:avLst/>
          </a:prstGeom>
          <a:ln w="50800">
            <a:solidFill>
              <a:srgbClr val="F36B21"/>
            </a:solidFill>
          </a:ln>
        </p:spPr>
      </p:pic>
      <p:sp>
        <p:nvSpPr>
          <p:cNvPr id="5" name="milestone-card-1"/>
          <p:cNvSpPr/>
          <p:nvPr/>
        </p:nvSpPr>
        <p:spPr>
          <a:xfrm>
            <a:off x="812800" y="1828800"/>
            <a:ext cx="6858000" cy="3073400"/>
          </a:xfrm>
          <a:prstGeom prst="roundRect">
            <a:avLst>
              <a:gd name="adj" fmla="val 5785"/>
            </a:avLst>
          </a:prstGeom>
          <a:solidFill>
            <a:srgbClr val="F7F3EE"/>
          </a:solidFill>
          <a:ln w="12700">
            <a:solidFill>
              <a:srgbClr val="F36B21"/>
            </a:solidFill>
            <a:prstDash val="solid"/>
          </a:ln>
        </p:spPr>
      </p:sp>
      <p:sp>
        <p:nvSpPr>
          <p:cNvPr id="6" name="milestone-bar-1"/>
          <p:cNvSpPr/>
          <p:nvPr/>
        </p:nvSpPr>
        <p:spPr>
          <a:xfrm>
            <a:off x="812800" y="1828800"/>
            <a:ext cx="9144" cy="3073400"/>
          </a:xfrm>
          <a:prstGeom prst="line">
            <a:avLst/>
          </a:prstGeom>
          <a:ln w="63500">
            <a:solidFill>
              <a:srgbClr val="F36B21"/>
            </a:solidFill>
            <a:prstDash val="solid"/>
          </a:ln>
        </p:spPr>
      </p:sp>
      <p:sp>
        <p:nvSpPr>
          <p:cNvPr id="7" name="milestone-1-label"/>
          <p:cNvSpPr/>
          <p:nvPr/>
        </p:nvSpPr>
        <p:spPr>
          <a:xfrm>
            <a:off x="1168400" y="2159000"/>
            <a:ext cx="3302000" cy="304800"/>
          </a:xfrm>
          <a:prstGeom prst="rect">
            <a:avLst/>
          </a:prstGeom>
          <a:noFill/>
          <a:ln/>
        </p:spPr>
        <p:txBody>
          <a:bodyPr wrap="none" lIns="0" tIns="0" rIns="0" bIns="0" rtlCol="0" anchor="t"/>
          <a:lstStyle/>
          <a:p>
            <a:pPr algn="l" indent="0" marL="0">
              <a:buNone/>
            </a:pPr>
            <a:r>
              <a:rPr lang="en-US" altLang="en-US" sz="1400" b="1" dirty="0">
                <a:solidFill>
                  <a:srgbClr val="1E1E1E"/>
                </a:solidFill>
                <a:latin typeface="Inter" pitchFamily="34" charset="0"/>
                <a:ea typeface="Inter" pitchFamily="34" charset="-122"/>
                <a:cs typeface="Inter" pitchFamily="34" charset="-120"/>
              </a:rPr>
              <a:t>Milestone 1</a:t>
            </a:r>
            <a:endParaRPr lang="en-US" sz="1400" dirty="0"/>
          </a:p>
        </p:txBody>
      </p:sp>
      <p:sp>
        <p:nvSpPr>
          <p:cNvPr id="8" name="milestone-1-heading"/>
          <p:cNvSpPr/>
          <p:nvPr/>
        </p:nvSpPr>
        <p:spPr>
          <a:xfrm>
            <a:off x="1168400" y="2590800"/>
            <a:ext cx="58166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Dataset Intake &amp; Quality Preparation</a:t>
            </a:r>
            <a:endParaRPr lang="en-US" sz="1800" dirty="0"/>
          </a:p>
        </p:txBody>
      </p:sp>
      <p:sp>
        <p:nvSpPr>
          <p:cNvPr id="9" name="milestone-1-body"/>
          <p:cNvSpPr/>
          <p:nvPr/>
        </p:nvSpPr>
        <p:spPr>
          <a:xfrm>
            <a:off x="1168400" y="3098800"/>
            <a:ext cx="5816600" cy="1422400"/>
          </a:xfrm>
          <a:prstGeom prst="rect">
            <a:avLst/>
          </a:prstGeom>
          <a:noFill/>
          <a:ln/>
        </p:spPr>
        <p:txBody>
          <a:bodyPr wrap="square" lIns="0" tIns="0" rIns="0" bIns="0" rtlCol="0" anchor="t">
            <a:normAutofit/>
          </a:bodyPr>
          <a:lstStyle/>
          <a:p>
            <a:pPr algn="l" indent="0" marL="0">
              <a:lnSpc>
                <a:spcPts val="1952"/>
              </a:lnSpc>
              <a:buNone/>
            </a:pPr>
            <a:r>
              <a:rPr lang="en-US" altLang="en-US" sz="1600" dirty="0">
                <a:solidFill>
                  <a:srgbClr val="1E1E1E"/>
                </a:solidFill>
                <a:latin typeface="Inter" pitchFamily="34" charset="0"/>
                <a:ea typeface="Inter" pitchFamily="34" charset="-122"/>
                <a:cs typeface="Inter" pitchFamily="34" charset="-120"/>
              </a:rPr>
              <a:t>Brought together and profiled supply-chain data covering shipments, inventory, suppliers, products, transport, costs, and delivery. Prepared it for analysis by addressing gaps and duplicates, removing nonessential fields, and aligning data types and formats.</a:t>
            </a:r>
            <a:endParaRPr lang="en-US" sz="1600" dirty="0"/>
          </a:p>
        </p:txBody>
      </p:sp>
      <p:sp>
        <p:nvSpPr>
          <p:cNvPr id="10" name="milestone-card-2"/>
          <p:cNvSpPr/>
          <p:nvPr/>
        </p:nvSpPr>
        <p:spPr>
          <a:xfrm>
            <a:off x="8509000" y="1828800"/>
            <a:ext cx="6858000" cy="3073400"/>
          </a:xfrm>
          <a:prstGeom prst="roundRect">
            <a:avLst>
              <a:gd name="adj" fmla="val 5785"/>
            </a:avLst>
          </a:prstGeom>
          <a:solidFill>
            <a:srgbClr val="F7F3EE"/>
          </a:solidFill>
          <a:ln w="12700">
            <a:solidFill>
              <a:srgbClr val="F36B21"/>
            </a:solidFill>
            <a:prstDash val="solid"/>
          </a:ln>
        </p:spPr>
      </p:sp>
      <p:sp>
        <p:nvSpPr>
          <p:cNvPr id="11" name="milestone-bar-2"/>
          <p:cNvSpPr/>
          <p:nvPr/>
        </p:nvSpPr>
        <p:spPr>
          <a:xfrm>
            <a:off x="8509000" y="1828800"/>
            <a:ext cx="9144" cy="3073400"/>
          </a:xfrm>
          <a:prstGeom prst="line">
            <a:avLst/>
          </a:prstGeom>
          <a:ln w="63500">
            <a:solidFill>
              <a:srgbClr val="F36B21"/>
            </a:solidFill>
            <a:prstDash val="solid"/>
          </a:ln>
        </p:spPr>
      </p:sp>
      <p:sp>
        <p:nvSpPr>
          <p:cNvPr id="12" name="milestone-2-label"/>
          <p:cNvSpPr/>
          <p:nvPr/>
        </p:nvSpPr>
        <p:spPr>
          <a:xfrm>
            <a:off x="8864600" y="2159000"/>
            <a:ext cx="3302000" cy="304800"/>
          </a:xfrm>
          <a:prstGeom prst="rect">
            <a:avLst/>
          </a:prstGeom>
          <a:noFill/>
          <a:ln/>
        </p:spPr>
        <p:txBody>
          <a:bodyPr wrap="none" lIns="0" tIns="0" rIns="0" bIns="0" rtlCol="0" anchor="t"/>
          <a:lstStyle/>
          <a:p>
            <a:pPr algn="l" indent="0" marL="0">
              <a:buNone/>
            </a:pPr>
            <a:r>
              <a:rPr lang="en-US" altLang="en-US" sz="1400" b="1" dirty="0">
                <a:solidFill>
                  <a:srgbClr val="1E1E1E"/>
                </a:solidFill>
                <a:latin typeface="Inter" pitchFamily="34" charset="0"/>
                <a:ea typeface="Inter" pitchFamily="34" charset="-122"/>
                <a:cs typeface="Inter" pitchFamily="34" charset="-120"/>
              </a:rPr>
              <a:t>Milestone 2</a:t>
            </a:r>
            <a:endParaRPr lang="en-US" sz="1400" dirty="0"/>
          </a:p>
        </p:txBody>
      </p:sp>
      <p:sp>
        <p:nvSpPr>
          <p:cNvPr id="13" name="milestone-2-heading"/>
          <p:cNvSpPr/>
          <p:nvPr/>
        </p:nvSpPr>
        <p:spPr>
          <a:xfrm>
            <a:off x="8864600" y="2590800"/>
            <a:ext cx="58166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Analytical Model Construction</a:t>
            </a:r>
            <a:endParaRPr lang="en-US" sz="1800" dirty="0"/>
          </a:p>
        </p:txBody>
      </p:sp>
      <p:sp>
        <p:nvSpPr>
          <p:cNvPr id="14" name="milestone-2-body"/>
          <p:cNvSpPr/>
          <p:nvPr/>
        </p:nvSpPr>
        <p:spPr>
          <a:xfrm>
            <a:off x="8864600" y="3098800"/>
            <a:ext cx="5816600" cy="1422400"/>
          </a:xfrm>
          <a:prstGeom prst="rect">
            <a:avLst/>
          </a:prstGeom>
          <a:noFill/>
          <a:ln/>
        </p:spPr>
        <p:txBody>
          <a:bodyPr wrap="square" lIns="0" tIns="0" rIns="0" bIns="0" rtlCol="0" anchor="t"/>
          <a:lstStyle/>
          <a:p>
            <a:pPr algn="l" indent="0" marL="0">
              <a:lnSpc>
                <a:spcPts val="1952"/>
              </a:lnSpc>
              <a:buNone/>
            </a:pPr>
            <a:r>
              <a:rPr lang="en-US" altLang="en-US" sz="1600" dirty="0">
                <a:solidFill>
                  <a:srgbClr val="1E1E1E"/>
                </a:solidFill>
                <a:latin typeface="Inter" pitchFamily="34" charset="0"/>
                <a:ea typeface="Inter" pitchFamily="34" charset="-122"/>
                <a:cs typeface="Inter" pitchFamily="34" charset="-120"/>
              </a:rPr>
              <a:t>Structured the cleaned information into an analysis-ready model, defining suitable relationships and organizing fields for dependable reporting and KPI calculation.</a:t>
            </a:r>
            <a:endParaRPr lang="en-US" sz="1600" dirty="0"/>
          </a:p>
        </p:txBody>
      </p:sp>
      <p:sp>
        <p:nvSpPr>
          <p:cNvPr id="15" name="milestone-card-3"/>
          <p:cNvSpPr/>
          <p:nvPr/>
        </p:nvSpPr>
        <p:spPr>
          <a:xfrm>
            <a:off x="812800" y="5283200"/>
            <a:ext cx="6858000" cy="3073400"/>
          </a:xfrm>
          <a:prstGeom prst="roundRect">
            <a:avLst>
              <a:gd name="adj" fmla="val 5785"/>
            </a:avLst>
          </a:prstGeom>
          <a:solidFill>
            <a:srgbClr val="F7F3EE"/>
          </a:solidFill>
          <a:ln w="12700">
            <a:solidFill>
              <a:srgbClr val="F36B21"/>
            </a:solidFill>
            <a:prstDash val="solid"/>
          </a:ln>
        </p:spPr>
      </p:sp>
      <p:sp>
        <p:nvSpPr>
          <p:cNvPr id="16" name="milestone-bar-3"/>
          <p:cNvSpPr/>
          <p:nvPr/>
        </p:nvSpPr>
        <p:spPr>
          <a:xfrm>
            <a:off x="812800" y="5283200"/>
            <a:ext cx="9144" cy="3073400"/>
          </a:xfrm>
          <a:prstGeom prst="line">
            <a:avLst/>
          </a:prstGeom>
          <a:ln w="63500">
            <a:solidFill>
              <a:srgbClr val="F36B21"/>
            </a:solidFill>
            <a:prstDash val="solid"/>
          </a:ln>
        </p:spPr>
      </p:sp>
      <p:sp>
        <p:nvSpPr>
          <p:cNvPr id="17" name="milestone-3-label"/>
          <p:cNvSpPr/>
          <p:nvPr/>
        </p:nvSpPr>
        <p:spPr>
          <a:xfrm>
            <a:off x="1168400" y="5613400"/>
            <a:ext cx="3302000" cy="304800"/>
          </a:xfrm>
          <a:prstGeom prst="rect">
            <a:avLst/>
          </a:prstGeom>
          <a:noFill/>
          <a:ln/>
        </p:spPr>
        <p:txBody>
          <a:bodyPr wrap="none" lIns="0" tIns="0" rIns="0" bIns="0" rtlCol="0" anchor="t"/>
          <a:lstStyle/>
          <a:p>
            <a:pPr algn="l" indent="0" marL="0">
              <a:buNone/>
            </a:pPr>
            <a:r>
              <a:rPr lang="en-US" altLang="en-US" sz="1400" b="1" dirty="0">
                <a:solidFill>
                  <a:srgbClr val="1E1E1E"/>
                </a:solidFill>
                <a:latin typeface="Inter" pitchFamily="34" charset="0"/>
                <a:ea typeface="Inter" pitchFamily="34" charset="-122"/>
                <a:cs typeface="Inter" pitchFamily="34" charset="-120"/>
              </a:rPr>
              <a:t>Milestone 3</a:t>
            </a:r>
            <a:endParaRPr lang="en-US" sz="1400" dirty="0"/>
          </a:p>
        </p:txBody>
      </p:sp>
      <p:sp>
        <p:nvSpPr>
          <p:cNvPr id="18" name="milestone-3-heading"/>
          <p:cNvSpPr/>
          <p:nvPr/>
        </p:nvSpPr>
        <p:spPr>
          <a:xfrm>
            <a:off x="1168400" y="6045200"/>
            <a:ext cx="58166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Dashboard &amp; Analytics Build</a:t>
            </a:r>
            <a:endParaRPr lang="en-US" sz="1800" dirty="0"/>
          </a:p>
        </p:txBody>
      </p:sp>
      <p:sp>
        <p:nvSpPr>
          <p:cNvPr id="19" name="milestone-3-body"/>
          <p:cNvSpPr/>
          <p:nvPr/>
        </p:nvSpPr>
        <p:spPr>
          <a:xfrm>
            <a:off x="1168400" y="6553200"/>
            <a:ext cx="5816600" cy="1422400"/>
          </a:xfrm>
          <a:prstGeom prst="rect">
            <a:avLst/>
          </a:prstGeom>
          <a:noFill/>
          <a:ln/>
        </p:spPr>
        <p:txBody>
          <a:bodyPr wrap="square" lIns="0" tIns="0" rIns="0" bIns="0" rtlCol="0" anchor="t"/>
          <a:lstStyle/>
          <a:p>
            <a:pPr algn="l" indent="0" marL="0">
              <a:lnSpc>
                <a:spcPts val="1952"/>
              </a:lnSpc>
              <a:buNone/>
            </a:pPr>
            <a:r>
              <a:rPr lang="en-US" altLang="en-US" sz="1600" dirty="0">
                <a:solidFill>
                  <a:srgbClr val="1E1E1E"/>
                </a:solidFill>
                <a:latin typeface="Inter" pitchFamily="34" charset="0"/>
                <a:ea typeface="Inter" pitchFamily="34" charset="-122"/>
                <a:cs typeface="Inter" pitchFamily="34" charset="-120"/>
              </a:rPr>
              <a:t>Created a Power BI reporting solution with KPIs, visuals, and analytical views that reveal patterns in shipments, supplier delivery, logistics, costs, inventory, and product performance.</a:t>
            </a:r>
            <a:endParaRPr lang="en-US" sz="1600" dirty="0"/>
          </a:p>
        </p:txBody>
      </p:sp>
      <p:sp>
        <p:nvSpPr>
          <p:cNvPr id="20" name="milestone-card-4"/>
          <p:cNvSpPr/>
          <p:nvPr/>
        </p:nvSpPr>
        <p:spPr>
          <a:xfrm>
            <a:off x="8509000" y="5283200"/>
            <a:ext cx="6858000" cy="3073400"/>
          </a:xfrm>
          <a:prstGeom prst="roundRect">
            <a:avLst>
              <a:gd name="adj" fmla="val 5785"/>
            </a:avLst>
          </a:prstGeom>
          <a:solidFill>
            <a:srgbClr val="F7F3EE"/>
          </a:solidFill>
          <a:ln w="12700">
            <a:solidFill>
              <a:srgbClr val="F36B21"/>
            </a:solidFill>
            <a:prstDash val="solid"/>
          </a:ln>
        </p:spPr>
      </p:sp>
      <p:sp>
        <p:nvSpPr>
          <p:cNvPr id="21" name="milestone-bar-4"/>
          <p:cNvSpPr/>
          <p:nvPr/>
        </p:nvSpPr>
        <p:spPr>
          <a:xfrm>
            <a:off x="8509000" y="5283200"/>
            <a:ext cx="9144" cy="3073400"/>
          </a:xfrm>
          <a:prstGeom prst="line">
            <a:avLst/>
          </a:prstGeom>
          <a:ln w="63500">
            <a:solidFill>
              <a:srgbClr val="F36B21"/>
            </a:solidFill>
            <a:prstDash val="solid"/>
          </a:ln>
        </p:spPr>
      </p:sp>
      <p:sp>
        <p:nvSpPr>
          <p:cNvPr id="22" name="milestone-4-label"/>
          <p:cNvSpPr/>
          <p:nvPr/>
        </p:nvSpPr>
        <p:spPr>
          <a:xfrm>
            <a:off x="8864600" y="5613400"/>
            <a:ext cx="3302000" cy="304800"/>
          </a:xfrm>
          <a:prstGeom prst="rect">
            <a:avLst/>
          </a:prstGeom>
          <a:noFill/>
          <a:ln/>
        </p:spPr>
        <p:txBody>
          <a:bodyPr wrap="none" lIns="0" tIns="0" rIns="0" bIns="0" rtlCol="0" anchor="t"/>
          <a:lstStyle/>
          <a:p>
            <a:pPr algn="l" indent="0" marL="0">
              <a:buNone/>
            </a:pPr>
            <a:r>
              <a:rPr lang="en-US" altLang="en-US" sz="1400" b="1" dirty="0">
                <a:solidFill>
                  <a:srgbClr val="1E1E1E"/>
                </a:solidFill>
                <a:latin typeface="Inter" pitchFamily="34" charset="0"/>
                <a:ea typeface="Inter" pitchFamily="34" charset="-122"/>
                <a:cs typeface="Inter" pitchFamily="34" charset="-120"/>
              </a:rPr>
              <a:t>Milestone 4</a:t>
            </a:r>
            <a:endParaRPr lang="en-US" sz="1400" dirty="0"/>
          </a:p>
        </p:txBody>
      </p:sp>
      <p:sp>
        <p:nvSpPr>
          <p:cNvPr id="23" name="milestone-4-heading"/>
          <p:cNvSpPr/>
          <p:nvPr/>
        </p:nvSpPr>
        <p:spPr>
          <a:xfrm>
            <a:off x="8864600" y="6045200"/>
            <a:ext cx="58166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Insight Review &amp; Refinement</a:t>
            </a:r>
            <a:endParaRPr lang="en-US" sz="1800" dirty="0"/>
          </a:p>
        </p:txBody>
      </p:sp>
      <p:sp>
        <p:nvSpPr>
          <p:cNvPr id="24" name="milestone-4-body"/>
          <p:cNvSpPr/>
          <p:nvPr/>
        </p:nvSpPr>
        <p:spPr>
          <a:xfrm>
            <a:off x="8864600" y="6553200"/>
            <a:ext cx="5816600" cy="1422400"/>
          </a:xfrm>
          <a:prstGeom prst="rect">
            <a:avLst/>
          </a:prstGeom>
          <a:noFill/>
          <a:ln/>
        </p:spPr>
        <p:txBody>
          <a:bodyPr wrap="square" lIns="0" tIns="0" rIns="0" bIns="0" rtlCol="0" anchor="t">
            <a:normAutofit/>
          </a:bodyPr>
          <a:lstStyle/>
          <a:p>
            <a:pPr algn="l" indent="0" marL="0">
              <a:lnSpc>
                <a:spcPts val="1952"/>
              </a:lnSpc>
              <a:buNone/>
            </a:pPr>
            <a:r>
              <a:rPr lang="en-US" altLang="en-US" sz="1600" dirty="0">
                <a:solidFill>
                  <a:srgbClr val="1E1E1E"/>
                </a:solidFill>
                <a:latin typeface="Inter" pitchFamily="34" charset="0"/>
                <a:ea typeface="Inter" pitchFamily="34" charset="-122"/>
                <a:cs typeface="Inter" pitchFamily="34" charset="-120"/>
              </a:rPr>
              <a:t>Validated findings, examined emerging patterns and bottlenecks, and improved both the data model and visual outputs to make insights easier to interpret and apply.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3EE"/>
        </a:solidFill>
      </p:bgPr>
    </p:bg>
    <p:spTree>
      <p:nvGrpSpPr>
        <p:cNvPr id="1" name=""/>
        <p:cNvGrpSpPr/>
        <p:nvPr/>
      </p:nvGrpSpPr>
      <p:grpSpPr>
        <a:xfrm>
          <a:off x="0" y="0"/>
          <a:ext cx="0" cy="0"/>
          <a:chOff x="0" y="0"/>
          <a:chExt cx="0" cy="0"/>
        </a:xfrm>
      </p:grpSpPr>
      <p:sp>
        <p:nvSpPr>
          <p:cNvPr id="2" name="challenges-title"/>
          <p:cNvSpPr/>
          <p:nvPr/>
        </p:nvSpPr>
        <p:spPr>
          <a:xfrm>
            <a:off x="812800" y="660400"/>
            <a:ext cx="11430000" cy="609600"/>
          </a:xfrm>
          <a:prstGeom prst="rect">
            <a:avLst/>
          </a:prstGeom>
          <a:noFill/>
          <a:ln/>
        </p:spPr>
        <p:txBody>
          <a:bodyPr wrap="none" lIns="0" tIns="0" rIns="0" bIns="0" rtlCol="0" anchor="t"/>
          <a:lstStyle/>
          <a:p>
            <a:pPr algn="l" indent="0" marL="0">
              <a:buNone/>
            </a:pPr>
            <a:r>
              <a:rPr lang="en-US" altLang="en-US" sz="3400" dirty="0">
                <a:solidFill>
                  <a:srgbClr val="1E1E1E"/>
                </a:solidFill>
                <a:latin typeface="Aptos Display" pitchFamily="34" charset="0"/>
                <a:ea typeface="Aptos Display" pitchFamily="34" charset="-122"/>
                <a:cs typeface="Aptos Display" pitchFamily="34" charset="-120"/>
              </a:rPr>
              <a:t>Challenges &amp; Resolutions</a:t>
            </a:r>
            <a:endParaRPr lang="en-US" sz="3400" dirty="0"/>
          </a:p>
        </p:txBody>
      </p:sp>
      <p:sp>
        <p:nvSpPr>
          <p:cNvPr id="3" name="challenges-rule"/>
          <p:cNvSpPr/>
          <p:nvPr/>
        </p:nvSpPr>
        <p:spPr>
          <a:xfrm>
            <a:off x="812800" y="1422400"/>
            <a:ext cx="2184400" cy="9144"/>
          </a:xfrm>
          <a:prstGeom prst="line">
            <a:avLst/>
          </a:prstGeom>
          <a:ln w="50800">
            <a:solidFill>
              <a:srgbClr val="F36B21"/>
            </a:solidFill>
            <a:prstDash val="solid"/>
          </a:ln>
        </p:spPr>
      </p:sp>
      <p:sp>
        <p:nvSpPr>
          <p:cNvPr id="4" name="challenge-heading"/>
          <p:cNvSpPr/>
          <p:nvPr/>
        </p:nvSpPr>
        <p:spPr>
          <a:xfrm>
            <a:off x="812800" y="1727200"/>
            <a:ext cx="5715000" cy="355600"/>
          </a:xfrm>
          <a:prstGeom prst="rect">
            <a:avLst/>
          </a:prstGeom>
          <a:noFill/>
          <a:ln/>
        </p:spPr>
        <p:txBody>
          <a:bodyPr wrap="none" lIns="0" tIns="0" rIns="0" bIns="0" rtlCol="0" anchor="t"/>
          <a:lstStyle/>
          <a:p>
            <a:pPr algn="l" indent="0" marL="0">
              <a:buNone/>
            </a:pPr>
            <a:r>
              <a:rPr lang="en-US" altLang="en-US" sz="1800" b="1" dirty="0">
                <a:solidFill>
                  <a:srgbClr val="C84A1B"/>
                </a:solidFill>
                <a:latin typeface="Inter" pitchFamily="34" charset="0"/>
                <a:ea typeface="Inter" pitchFamily="34" charset="-122"/>
                <a:cs typeface="Inter" pitchFamily="34" charset="-120"/>
              </a:rPr>
              <a:t>Key Challenges</a:t>
            </a:r>
            <a:endParaRPr lang="en-US" sz="1800" dirty="0"/>
          </a:p>
        </p:txBody>
      </p:sp>
      <p:sp>
        <p:nvSpPr>
          <p:cNvPr id="5" name="resolution-heading"/>
          <p:cNvSpPr/>
          <p:nvPr/>
        </p:nvSpPr>
        <p:spPr>
          <a:xfrm>
            <a:off x="8509000" y="1727200"/>
            <a:ext cx="5715000" cy="355600"/>
          </a:xfrm>
          <a:prstGeom prst="rect">
            <a:avLst/>
          </a:prstGeom>
          <a:noFill/>
          <a:ln/>
        </p:spPr>
        <p:txBody>
          <a:bodyPr wrap="none" lIns="0" tIns="0" rIns="0" bIns="0" rtlCol="0" anchor="t"/>
          <a:lstStyle/>
          <a:p>
            <a:pPr algn="l" indent="0" marL="0">
              <a:buNone/>
            </a:pPr>
            <a:r>
              <a:rPr lang="en-US" altLang="en-US" sz="1800" b="1" dirty="0">
                <a:solidFill>
                  <a:srgbClr val="C84A1B"/>
                </a:solidFill>
                <a:latin typeface="Inter" pitchFamily="34" charset="0"/>
                <a:ea typeface="Inter" pitchFamily="34" charset="-122"/>
                <a:cs typeface="Inter" pitchFamily="34" charset="-120"/>
              </a:rPr>
              <a:t>Actions Taken</a:t>
            </a:r>
            <a:endParaRPr lang="en-US" sz="1800" dirty="0"/>
          </a:p>
        </p:txBody>
      </p:sp>
      <p:sp>
        <p:nvSpPr>
          <p:cNvPr id="6" name="challenge-card-1"/>
          <p:cNvSpPr/>
          <p:nvPr/>
        </p:nvSpPr>
        <p:spPr>
          <a:xfrm>
            <a:off x="812800" y="2133600"/>
            <a:ext cx="6858000" cy="1524000"/>
          </a:xfrm>
          <a:prstGeom prst="roundRect">
            <a:avLst>
              <a:gd name="adj" fmla="val 10000"/>
            </a:avLst>
          </a:prstGeom>
          <a:solidFill>
            <a:srgbClr val="F7F3EE"/>
          </a:solidFill>
          <a:ln w="12700">
            <a:solidFill>
              <a:srgbClr val="F36B21"/>
            </a:solidFill>
            <a:prstDash val="solid"/>
          </a:ln>
        </p:spPr>
      </p:sp>
      <p:sp>
        <p:nvSpPr>
          <p:cNvPr id="7" name="challenge-bar-1"/>
          <p:cNvSpPr/>
          <p:nvPr/>
        </p:nvSpPr>
        <p:spPr>
          <a:xfrm>
            <a:off x="812800" y="2133600"/>
            <a:ext cx="9144" cy="1524000"/>
          </a:xfrm>
          <a:prstGeom prst="line">
            <a:avLst/>
          </a:prstGeom>
          <a:ln w="63500">
            <a:solidFill>
              <a:srgbClr val="F36B21"/>
            </a:solidFill>
            <a:prstDash val="solid"/>
          </a:ln>
        </p:spPr>
      </p:sp>
      <p:sp>
        <p:nvSpPr>
          <p:cNvPr id="8" name="challenge-1-label"/>
          <p:cNvSpPr/>
          <p:nvPr/>
        </p:nvSpPr>
        <p:spPr>
          <a:xfrm>
            <a:off x="1168400" y="2387600"/>
            <a:ext cx="5969000" cy="304800"/>
          </a:xfrm>
          <a:prstGeom prst="rect">
            <a:avLst/>
          </a:prstGeom>
          <a:noFill/>
          <a:ln/>
        </p:spPr>
        <p:txBody>
          <a:bodyPr wrap="none" lIns="0" tIns="0" rIns="0" bIns="0" rtlCol="0" anchor="t"/>
          <a:lstStyle/>
          <a:p>
            <a:pPr algn="l" indent="0" marL="0">
              <a:buNone/>
            </a:pPr>
            <a:r>
              <a:rPr lang="en-US" altLang="en-US" sz="1600" b="1" dirty="0">
                <a:solidFill>
                  <a:srgbClr val="1E1E1E"/>
                </a:solidFill>
                <a:latin typeface="Inter" pitchFamily="34" charset="0"/>
                <a:ea typeface="Inter" pitchFamily="34" charset="-122"/>
                <a:cs typeface="Inter" pitchFamily="34" charset="-120"/>
              </a:rPr>
              <a:t>01 — Inconsistent Source Data</a:t>
            </a:r>
            <a:endParaRPr lang="en-US" sz="1600" dirty="0"/>
          </a:p>
        </p:txBody>
      </p:sp>
      <p:sp>
        <p:nvSpPr>
          <p:cNvPr id="9" name="challenge-1-body"/>
          <p:cNvSpPr/>
          <p:nvPr/>
        </p:nvSpPr>
        <p:spPr>
          <a:xfrm>
            <a:off x="1168400" y="2819400"/>
            <a:ext cx="5969000" cy="609600"/>
          </a:xfrm>
          <a:prstGeom prst="rect">
            <a:avLst/>
          </a:prstGeom>
          <a:noFill/>
          <a:ln/>
        </p:spPr>
        <p:txBody>
          <a:bodyPr wrap="square" lIns="0" tIns="0" rIns="0" bIns="0" rtlCol="0" anchor="t"/>
          <a:lstStyle/>
          <a:p>
            <a:pPr algn="l" indent="0" marL="0">
              <a:lnSpc>
                <a:spcPts val="1770"/>
              </a:lnSpc>
              <a:buNone/>
            </a:pPr>
            <a:r>
              <a:rPr lang="en-US" altLang="en-US" sz="1500" dirty="0">
                <a:solidFill>
                  <a:srgbClr val="1E1E1E"/>
                </a:solidFill>
                <a:latin typeface="Inter" pitchFamily="34" charset="0"/>
                <a:ea typeface="Inter" pitchFamily="34" charset="-122"/>
                <a:cs typeface="Inter" pitchFamily="34" charset="-120"/>
              </a:rPr>
              <a:t>The source file contained null values, duplicate records, and fields with little analytical value, so it required quality checks before reporting could begin.</a:t>
            </a:r>
            <a:endParaRPr lang="en-US" sz="1500" dirty="0"/>
          </a:p>
        </p:txBody>
      </p:sp>
      <p:sp>
        <p:nvSpPr>
          <p:cNvPr id="10" name="challenge-card-2"/>
          <p:cNvSpPr/>
          <p:nvPr/>
        </p:nvSpPr>
        <p:spPr>
          <a:xfrm>
            <a:off x="812800" y="4013200"/>
            <a:ext cx="6858000" cy="1524000"/>
          </a:xfrm>
          <a:prstGeom prst="roundRect">
            <a:avLst>
              <a:gd name="adj" fmla="val 10000"/>
            </a:avLst>
          </a:prstGeom>
          <a:solidFill>
            <a:srgbClr val="F7F3EE"/>
          </a:solidFill>
          <a:ln w="12700">
            <a:solidFill>
              <a:srgbClr val="F36B21"/>
            </a:solidFill>
            <a:prstDash val="solid"/>
          </a:ln>
        </p:spPr>
      </p:sp>
      <p:sp>
        <p:nvSpPr>
          <p:cNvPr id="11" name="challenge-bar-2"/>
          <p:cNvSpPr/>
          <p:nvPr/>
        </p:nvSpPr>
        <p:spPr>
          <a:xfrm>
            <a:off x="812800" y="4013200"/>
            <a:ext cx="9144" cy="1524000"/>
          </a:xfrm>
          <a:prstGeom prst="line">
            <a:avLst/>
          </a:prstGeom>
          <a:ln w="63500">
            <a:solidFill>
              <a:srgbClr val="F36B21"/>
            </a:solidFill>
            <a:prstDash val="solid"/>
          </a:ln>
        </p:spPr>
      </p:sp>
      <p:sp>
        <p:nvSpPr>
          <p:cNvPr id="12" name="challenge-2-label"/>
          <p:cNvSpPr/>
          <p:nvPr/>
        </p:nvSpPr>
        <p:spPr>
          <a:xfrm>
            <a:off x="1168400" y="4267200"/>
            <a:ext cx="5969000" cy="304800"/>
          </a:xfrm>
          <a:prstGeom prst="rect">
            <a:avLst/>
          </a:prstGeom>
          <a:noFill/>
          <a:ln/>
        </p:spPr>
        <p:txBody>
          <a:bodyPr wrap="none" lIns="0" tIns="0" rIns="0" bIns="0" rtlCol="0" anchor="t"/>
          <a:lstStyle/>
          <a:p>
            <a:pPr algn="l" indent="0" marL="0">
              <a:buNone/>
            </a:pPr>
            <a:r>
              <a:rPr lang="en-US" altLang="en-US" sz="1600" b="1" dirty="0">
                <a:solidFill>
                  <a:srgbClr val="1E1E1E"/>
                </a:solidFill>
                <a:latin typeface="Inter" pitchFamily="34" charset="0"/>
                <a:ea typeface="Inter" pitchFamily="34" charset="-122"/>
                <a:cs typeface="Inter" pitchFamily="34" charset="-120"/>
              </a:rPr>
              <a:t>02 — Mixed Formats &amp; Types</a:t>
            </a:r>
            <a:endParaRPr lang="en-US" sz="1600" dirty="0"/>
          </a:p>
        </p:txBody>
      </p:sp>
      <p:sp>
        <p:nvSpPr>
          <p:cNvPr id="13" name="challenge-2-body"/>
          <p:cNvSpPr/>
          <p:nvPr/>
        </p:nvSpPr>
        <p:spPr>
          <a:xfrm>
            <a:off x="1168400" y="4699000"/>
            <a:ext cx="5969000" cy="609600"/>
          </a:xfrm>
          <a:prstGeom prst="rect">
            <a:avLst/>
          </a:prstGeom>
          <a:noFill/>
          <a:ln/>
        </p:spPr>
        <p:txBody>
          <a:bodyPr wrap="square" lIns="0" tIns="0" rIns="0" bIns="0" rtlCol="0" anchor="t"/>
          <a:lstStyle/>
          <a:p>
            <a:pPr algn="l" indent="0" marL="0">
              <a:lnSpc>
                <a:spcPts val="1770"/>
              </a:lnSpc>
              <a:buNone/>
            </a:pPr>
            <a:r>
              <a:rPr lang="en-US" altLang="en-US" sz="1500" dirty="0">
                <a:solidFill>
                  <a:srgbClr val="1E1E1E"/>
                </a:solidFill>
                <a:latin typeface="Inter" pitchFamily="34" charset="0"/>
                <a:ea typeface="Inter" pitchFamily="34" charset="-122"/>
                <a:cs typeface="Inter" pitchFamily="34" charset="-120"/>
              </a:rPr>
              <a:t>Dates, categories, and other fields appeared in different formats, preventing dependable comparison until they were normalized.</a:t>
            </a:r>
            <a:endParaRPr lang="en-US" sz="1500" dirty="0"/>
          </a:p>
        </p:txBody>
      </p:sp>
      <p:sp>
        <p:nvSpPr>
          <p:cNvPr id="14" name="challenge-card-3"/>
          <p:cNvSpPr/>
          <p:nvPr/>
        </p:nvSpPr>
        <p:spPr>
          <a:xfrm>
            <a:off x="812800" y="5892800"/>
            <a:ext cx="6858000" cy="1524000"/>
          </a:xfrm>
          <a:prstGeom prst="roundRect">
            <a:avLst>
              <a:gd name="adj" fmla="val 10000"/>
            </a:avLst>
          </a:prstGeom>
          <a:solidFill>
            <a:srgbClr val="F7F3EE"/>
          </a:solidFill>
          <a:ln w="12700">
            <a:solidFill>
              <a:srgbClr val="F36B21"/>
            </a:solidFill>
            <a:prstDash val="solid"/>
          </a:ln>
        </p:spPr>
      </p:sp>
      <p:sp>
        <p:nvSpPr>
          <p:cNvPr id="15" name="challenge-bar-3"/>
          <p:cNvSpPr/>
          <p:nvPr/>
        </p:nvSpPr>
        <p:spPr>
          <a:xfrm>
            <a:off x="812800" y="5892800"/>
            <a:ext cx="9144" cy="1524000"/>
          </a:xfrm>
          <a:prstGeom prst="line">
            <a:avLst/>
          </a:prstGeom>
          <a:ln w="63500">
            <a:solidFill>
              <a:srgbClr val="F36B21"/>
            </a:solidFill>
            <a:prstDash val="solid"/>
          </a:ln>
        </p:spPr>
      </p:sp>
      <p:sp>
        <p:nvSpPr>
          <p:cNvPr id="16" name="challenge-3-label"/>
          <p:cNvSpPr/>
          <p:nvPr/>
        </p:nvSpPr>
        <p:spPr>
          <a:xfrm>
            <a:off x="1168400" y="6146800"/>
            <a:ext cx="5969000" cy="304800"/>
          </a:xfrm>
          <a:prstGeom prst="rect">
            <a:avLst/>
          </a:prstGeom>
          <a:noFill/>
          <a:ln/>
        </p:spPr>
        <p:txBody>
          <a:bodyPr wrap="none" lIns="0" tIns="0" rIns="0" bIns="0" rtlCol="0" anchor="t"/>
          <a:lstStyle/>
          <a:p>
            <a:pPr algn="l" indent="0" marL="0">
              <a:buNone/>
            </a:pPr>
            <a:r>
              <a:rPr lang="en-US" altLang="en-US" sz="1600" b="1" dirty="0">
                <a:solidFill>
                  <a:srgbClr val="1E1E1E"/>
                </a:solidFill>
                <a:latin typeface="Inter" pitchFamily="34" charset="0"/>
                <a:ea typeface="Inter" pitchFamily="34" charset="-122"/>
                <a:cs typeface="Inter" pitchFamily="34" charset="-120"/>
              </a:rPr>
              <a:t>03 — Too Many Potential Inputs</a:t>
            </a:r>
            <a:endParaRPr lang="en-US" sz="1600" dirty="0"/>
          </a:p>
        </p:txBody>
      </p:sp>
      <p:sp>
        <p:nvSpPr>
          <p:cNvPr id="17" name="challenge-3-body"/>
          <p:cNvSpPr/>
          <p:nvPr/>
        </p:nvSpPr>
        <p:spPr>
          <a:xfrm>
            <a:off x="1168400" y="6578600"/>
            <a:ext cx="5969000" cy="609600"/>
          </a:xfrm>
          <a:prstGeom prst="rect">
            <a:avLst/>
          </a:prstGeom>
          <a:noFill/>
          <a:ln/>
        </p:spPr>
        <p:txBody>
          <a:bodyPr wrap="square" lIns="0" tIns="0" rIns="0" bIns="0" rtlCol="0" anchor="t"/>
          <a:lstStyle/>
          <a:p>
            <a:pPr algn="l" indent="0" marL="0">
              <a:lnSpc>
                <a:spcPts val="1770"/>
              </a:lnSpc>
              <a:buNone/>
            </a:pPr>
            <a:r>
              <a:rPr lang="en-US" altLang="en-US" sz="1500" dirty="0">
                <a:solidFill>
                  <a:srgbClr val="1E1E1E"/>
                </a:solidFill>
                <a:latin typeface="Inter" pitchFamily="34" charset="0"/>
                <a:ea typeface="Inter" pitchFamily="34" charset="-122"/>
                <a:cs typeface="Inter" pitchFamily="34" charset="-120"/>
              </a:rPr>
              <a:t>The dataset included a wide set of supply-chain attributes, making it harder to prioritize the measures most useful for analysis.</a:t>
            </a:r>
            <a:endParaRPr lang="en-US" sz="1500" dirty="0"/>
          </a:p>
        </p:txBody>
      </p:sp>
      <p:sp>
        <p:nvSpPr>
          <p:cNvPr id="18" name="resolution-card-1"/>
          <p:cNvSpPr/>
          <p:nvPr/>
        </p:nvSpPr>
        <p:spPr>
          <a:xfrm>
            <a:off x="8509000" y="2133600"/>
            <a:ext cx="6858000" cy="1524000"/>
          </a:xfrm>
          <a:prstGeom prst="roundRect">
            <a:avLst>
              <a:gd name="adj" fmla="val 10000"/>
            </a:avLst>
          </a:prstGeom>
          <a:solidFill>
            <a:srgbClr val="F7F3EE"/>
          </a:solidFill>
          <a:ln w="12700">
            <a:solidFill>
              <a:srgbClr val="F36B21"/>
            </a:solidFill>
            <a:prstDash val="solid"/>
          </a:ln>
        </p:spPr>
      </p:sp>
      <p:sp>
        <p:nvSpPr>
          <p:cNvPr id="19" name="resolution-bar-1"/>
          <p:cNvSpPr/>
          <p:nvPr/>
        </p:nvSpPr>
        <p:spPr>
          <a:xfrm>
            <a:off x="8509000" y="2133600"/>
            <a:ext cx="9144" cy="1524000"/>
          </a:xfrm>
          <a:prstGeom prst="line">
            <a:avLst/>
          </a:prstGeom>
          <a:ln w="63500">
            <a:solidFill>
              <a:srgbClr val="F36B21"/>
            </a:solidFill>
            <a:prstDash val="solid"/>
          </a:ln>
        </p:spPr>
      </p:sp>
      <p:sp>
        <p:nvSpPr>
          <p:cNvPr id="20" name="resolution-1-label"/>
          <p:cNvSpPr/>
          <p:nvPr/>
        </p:nvSpPr>
        <p:spPr>
          <a:xfrm>
            <a:off x="8864600" y="2387600"/>
            <a:ext cx="5969000" cy="304800"/>
          </a:xfrm>
          <a:prstGeom prst="rect">
            <a:avLst/>
          </a:prstGeom>
          <a:noFill/>
          <a:ln/>
        </p:spPr>
        <p:txBody>
          <a:bodyPr wrap="none" lIns="0" tIns="0" rIns="0" bIns="0" rtlCol="0" anchor="t"/>
          <a:lstStyle/>
          <a:p>
            <a:pPr algn="l" indent="0" marL="0">
              <a:buNone/>
            </a:pPr>
            <a:r>
              <a:rPr lang="en-US" altLang="en-US" sz="1600" b="1" dirty="0">
                <a:solidFill>
                  <a:srgbClr val="1E1E1E"/>
                </a:solidFill>
                <a:latin typeface="Inter" pitchFamily="34" charset="0"/>
                <a:ea typeface="Inter" pitchFamily="34" charset="-122"/>
                <a:cs typeface="Inter" pitchFamily="34" charset="-120"/>
              </a:rPr>
              <a:t>01 — Quality-First Cleaning</a:t>
            </a:r>
            <a:endParaRPr lang="en-US" sz="1600" dirty="0"/>
          </a:p>
        </p:txBody>
      </p:sp>
      <p:sp>
        <p:nvSpPr>
          <p:cNvPr id="21" name="resolution-1-body"/>
          <p:cNvSpPr/>
          <p:nvPr/>
        </p:nvSpPr>
        <p:spPr>
          <a:xfrm>
            <a:off x="8864600" y="2819400"/>
            <a:ext cx="5969000" cy="609600"/>
          </a:xfrm>
          <a:prstGeom prst="rect">
            <a:avLst/>
          </a:prstGeom>
          <a:noFill/>
          <a:ln/>
        </p:spPr>
        <p:txBody>
          <a:bodyPr wrap="square" lIns="0" tIns="0" rIns="0" bIns="0" rtlCol="0" anchor="t"/>
          <a:lstStyle/>
          <a:p>
            <a:pPr algn="l" indent="0" marL="0">
              <a:lnSpc>
                <a:spcPts val="1770"/>
              </a:lnSpc>
              <a:buNone/>
            </a:pPr>
            <a:r>
              <a:rPr lang="en-US" altLang="en-US" sz="1500" dirty="0">
                <a:solidFill>
                  <a:srgbClr val="1E1E1E"/>
                </a:solidFill>
                <a:latin typeface="Inter" pitchFamily="34" charset="0"/>
                <a:ea typeface="Inter" pitchFamily="34" charset="-122"/>
                <a:cs typeface="Inter" pitchFamily="34" charset="-120"/>
              </a:rPr>
              <a:t>We addressed missing values, duplicate rows, and unnecessary attributes to create a more dependable dataset for analysis.</a:t>
            </a:r>
            <a:endParaRPr lang="en-US" sz="1500" dirty="0"/>
          </a:p>
        </p:txBody>
      </p:sp>
      <p:sp>
        <p:nvSpPr>
          <p:cNvPr id="22" name="resolution-card-2"/>
          <p:cNvSpPr/>
          <p:nvPr/>
        </p:nvSpPr>
        <p:spPr>
          <a:xfrm>
            <a:off x="8509000" y="4013200"/>
            <a:ext cx="6858000" cy="1524000"/>
          </a:xfrm>
          <a:prstGeom prst="roundRect">
            <a:avLst>
              <a:gd name="adj" fmla="val 10000"/>
            </a:avLst>
          </a:prstGeom>
          <a:solidFill>
            <a:srgbClr val="F7F3EE"/>
          </a:solidFill>
          <a:ln w="12700">
            <a:solidFill>
              <a:srgbClr val="F36B21"/>
            </a:solidFill>
            <a:prstDash val="solid"/>
          </a:ln>
        </p:spPr>
      </p:sp>
      <p:sp>
        <p:nvSpPr>
          <p:cNvPr id="23" name="resolution-bar-2"/>
          <p:cNvSpPr/>
          <p:nvPr/>
        </p:nvSpPr>
        <p:spPr>
          <a:xfrm>
            <a:off x="8509000" y="4013200"/>
            <a:ext cx="9144" cy="1524000"/>
          </a:xfrm>
          <a:prstGeom prst="line">
            <a:avLst/>
          </a:prstGeom>
          <a:ln w="63500">
            <a:solidFill>
              <a:srgbClr val="F36B21"/>
            </a:solidFill>
            <a:prstDash val="solid"/>
          </a:ln>
        </p:spPr>
      </p:sp>
      <p:sp>
        <p:nvSpPr>
          <p:cNvPr id="24" name="resolution-2-label"/>
          <p:cNvSpPr/>
          <p:nvPr/>
        </p:nvSpPr>
        <p:spPr>
          <a:xfrm>
            <a:off x="8864600" y="4267200"/>
            <a:ext cx="5969000" cy="304800"/>
          </a:xfrm>
          <a:prstGeom prst="rect">
            <a:avLst/>
          </a:prstGeom>
          <a:noFill/>
          <a:ln/>
        </p:spPr>
        <p:txBody>
          <a:bodyPr wrap="none" lIns="0" tIns="0" rIns="0" bIns="0" rtlCol="0" anchor="t"/>
          <a:lstStyle/>
          <a:p>
            <a:pPr algn="l" indent="0" marL="0">
              <a:buNone/>
            </a:pPr>
            <a:r>
              <a:rPr lang="en-US" altLang="en-US" sz="1600" b="1" dirty="0">
                <a:solidFill>
                  <a:srgbClr val="1E1E1E"/>
                </a:solidFill>
                <a:latin typeface="Inter" pitchFamily="34" charset="0"/>
                <a:ea typeface="Inter" pitchFamily="34" charset="-122"/>
                <a:cs typeface="Inter" pitchFamily="34" charset="-120"/>
              </a:rPr>
              <a:t>02 — Standardized Preparation</a:t>
            </a:r>
            <a:endParaRPr lang="en-US" sz="1600" dirty="0"/>
          </a:p>
        </p:txBody>
      </p:sp>
      <p:sp>
        <p:nvSpPr>
          <p:cNvPr id="25" name="resolution-2-body"/>
          <p:cNvSpPr/>
          <p:nvPr/>
        </p:nvSpPr>
        <p:spPr>
          <a:xfrm>
            <a:off x="8864600" y="4699000"/>
            <a:ext cx="5969000" cy="609600"/>
          </a:xfrm>
          <a:prstGeom prst="rect">
            <a:avLst/>
          </a:prstGeom>
          <a:noFill/>
          <a:ln/>
        </p:spPr>
        <p:txBody>
          <a:bodyPr wrap="square" lIns="0" tIns="0" rIns="0" bIns="0" rtlCol="0" anchor="t"/>
          <a:lstStyle/>
          <a:p>
            <a:pPr algn="l" indent="0" marL="0">
              <a:lnSpc>
                <a:spcPts val="1770"/>
              </a:lnSpc>
              <a:buNone/>
            </a:pPr>
            <a:r>
              <a:rPr lang="en-US" altLang="en-US" sz="1500" dirty="0">
                <a:solidFill>
                  <a:srgbClr val="1E1E1E"/>
                </a:solidFill>
                <a:latin typeface="Inter" pitchFamily="34" charset="0"/>
                <a:ea typeface="Inter" pitchFamily="34" charset="-122"/>
                <a:cs typeface="Inter" pitchFamily="34" charset="-120"/>
              </a:rPr>
              <a:t>A repeatable preparation process aligned data types, formats, and naming conventions before reporting began.</a:t>
            </a:r>
            <a:endParaRPr lang="en-US" sz="1500" dirty="0"/>
          </a:p>
        </p:txBody>
      </p:sp>
      <p:sp>
        <p:nvSpPr>
          <p:cNvPr id="26" name="resolution-card-3"/>
          <p:cNvSpPr/>
          <p:nvPr/>
        </p:nvSpPr>
        <p:spPr>
          <a:xfrm>
            <a:off x="8509000" y="5892800"/>
            <a:ext cx="6858000" cy="1524000"/>
          </a:xfrm>
          <a:prstGeom prst="roundRect">
            <a:avLst>
              <a:gd name="adj" fmla="val 10000"/>
            </a:avLst>
          </a:prstGeom>
          <a:solidFill>
            <a:srgbClr val="F7F3EE"/>
          </a:solidFill>
          <a:ln w="12700">
            <a:solidFill>
              <a:srgbClr val="F36B21"/>
            </a:solidFill>
            <a:prstDash val="solid"/>
          </a:ln>
        </p:spPr>
      </p:sp>
      <p:sp>
        <p:nvSpPr>
          <p:cNvPr id="27" name="resolution-bar-3"/>
          <p:cNvSpPr/>
          <p:nvPr/>
        </p:nvSpPr>
        <p:spPr>
          <a:xfrm>
            <a:off x="8509000" y="5892800"/>
            <a:ext cx="9144" cy="1524000"/>
          </a:xfrm>
          <a:prstGeom prst="line">
            <a:avLst/>
          </a:prstGeom>
          <a:ln w="63500">
            <a:solidFill>
              <a:srgbClr val="F36B21"/>
            </a:solidFill>
            <a:prstDash val="solid"/>
          </a:ln>
        </p:spPr>
      </p:sp>
      <p:sp>
        <p:nvSpPr>
          <p:cNvPr id="28" name="resolution-3-label"/>
          <p:cNvSpPr/>
          <p:nvPr/>
        </p:nvSpPr>
        <p:spPr>
          <a:xfrm>
            <a:off x="8864600" y="6146800"/>
            <a:ext cx="5969000" cy="304800"/>
          </a:xfrm>
          <a:prstGeom prst="rect">
            <a:avLst/>
          </a:prstGeom>
          <a:noFill/>
          <a:ln/>
        </p:spPr>
        <p:txBody>
          <a:bodyPr wrap="none" lIns="0" tIns="0" rIns="0" bIns="0" rtlCol="0" anchor="t"/>
          <a:lstStyle/>
          <a:p>
            <a:pPr algn="l" indent="0" marL="0">
              <a:buNone/>
            </a:pPr>
            <a:r>
              <a:rPr lang="en-US" altLang="en-US" sz="1600" b="1" dirty="0">
                <a:solidFill>
                  <a:srgbClr val="1E1E1E"/>
                </a:solidFill>
                <a:latin typeface="Inter" pitchFamily="34" charset="0"/>
                <a:ea typeface="Inter" pitchFamily="34" charset="-122"/>
                <a:cs typeface="Inter" pitchFamily="34" charset="-120"/>
              </a:rPr>
              <a:t>03 — Purpose-Led Modeling</a:t>
            </a:r>
            <a:endParaRPr lang="en-US" sz="1600" dirty="0"/>
          </a:p>
        </p:txBody>
      </p:sp>
      <p:sp>
        <p:nvSpPr>
          <p:cNvPr id="29" name="resolution-3-body"/>
          <p:cNvSpPr/>
          <p:nvPr/>
        </p:nvSpPr>
        <p:spPr>
          <a:xfrm>
            <a:off x="8864600" y="6578600"/>
            <a:ext cx="5969000" cy="609600"/>
          </a:xfrm>
          <a:prstGeom prst="rect">
            <a:avLst/>
          </a:prstGeom>
          <a:noFill/>
          <a:ln/>
        </p:spPr>
        <p:txBody>
          <a:bodyPr wrap="square" lIns="0" tIns="0" rIns="0" bIns="0" rtlCol="0" anchor="t"/>
          <a:lstStyle/>
          <a:p>
            <a:pPr algn="l" indent="0" marL="0">
              <a:lnSpc>
                <a:spcPts val="1770"/>
              </a:lnSpc>
              <a:buNone/>
            </a:pPr>
            <a:r>
              <a:rPr lang="en-US" altLang="en-US" sz="1500" dirty="0">
                <a:solidFill>
                  <a:srgbClr val="1E1E1E"/>
                </a:solidFill>
                <a:latin typeface="Inter" pitchFamily="34" charset="0"/>
                <a:ea typeface="Inter" pitchFamily="34" charset="-122"/>
                <a:cs typeface="Inter" pitchFamily="34" charset="-120"/>
              </a:rPr>
              <a:t>We organized the data around essential relationships and KPIs so the final visuals focus on decisions that matter.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3EE"/>
        </a:solidFill>
      </p:bgPr>
    </p:bg>
    <p:spTree>
      <p:nvGrpSpPr>
        <p:cNvPr id="1" name=""/>
        <p:cNvGrpSpPr/>
        <p:nvPr/>
      </p:nvGrpSpPr>
      <p:grpSpPr>
        <a:xfrm>
          <a:off x="0" y="0"/>
          <a:ext cx="0" cy="0"/>
          <a:chOff x="0" y="0"/>
          <a:chExt cx="0" cy="0"/>
        </a:xfrm>
      </p:grpSpPr>
      <p:sp>
        <p:nvSpPr>
          <p:cNvPr id="2" name="insights-title"/>
          <p:cNvSpPr/>
          <p:nvPr/>
        </p:nvSpPr>
        <p:spPr>
          <a:xfrm>
            <a:off x="812800" y="660400"/>
            <a:ext cx="10414000" cy="609600"/>
          </a:xfrm>
          <a:prstGeom prst="rect">
            <a:avLst/>
          </a:prstGeom>
          <a:noFill/>
          <a:ln/>
        </p:spPr>
        <p:txBody>
          <a:bodyPr wrap="none" lIns="0" tIns="0" rIns="0" bIns="0" rtlCol="0" anchor="t"/>
          <a:lstStyle/>
          <a:p>
            <a:pPr algn="l" indent="0" marL="0">
              <a:buNone/>
            </a:pPr>
            <a:r>
              <a:rPr lang="en-US" altLang="en-US" sz="3400" dirty="0">
                <a:solidFill>
                  <a:srgbClr val="1E1E1E"/>
                </a:solidFill>
                <a:latin typeface="Aptos Display" pitchFamily="34" charset="0"/>
                <a:ea typeface="Aptos Display" pitchFamily="34" charset="-122"/>
                <a:cs typeface="Aptos Display" pitchFamily="34" charset="-120"/>
              </a:rPr>
              <a:t>Future Enhancements &amp; Key Insights</a:t>
            </a:r>
            <a:endParaRPr lang="en-US" sz="3400" dirty="0"/>
          </a:p>
        </p:txBody>
      </p:sp>
      <p:sp>
        <p:nvSpPr>
          <p:cNvPr id="3" name="insights-rule"/>
          <p:cNvSpPr/>
          <p:nvPr/>
        </p:nvSpPr>
        <p:spPr>
          <a:xfrm>
            <a:off x="812800" y="1422400"/>
            <a:ext cx="2870200" cy="9144"/>
          </a:xfrm>
          <a:prstGeom prst="line">
            <a:avLst/>
          </a:prstGeom>
          <a:ln w="50800">
            <a:solidFill>
              <a:srgbClr val="F36B21"/>
            </a:solidFill>
            <a:prstDash val="solid"/>
          </a:ln>
        </p:spPr>
      </p:sp>
      <p:pic>
        <p:nvPicPr>
          <p:cNvPr id="4" name="insights-photo" descr="preencoded.png">    </p:cNvPr>
          <p:cNvPicPr>
            <a:picLocks noChangeAspect="1"/>
          </p:cNvPicPr>
          <p:nvPr/>
        </p:nvPicPr>
        <p:blipFill>
          <a:blip r:embed="rId1"/>
          <a:srcRect l="0" r="0" t="25252" b="25252"/>
          <a:stretch/>
        </p:blipFill>
        <p:spPr>
          <a:xfrm>
            <a:off x="11887200" y="533400"/>
            <a:ext cx="3556000" cy="990600"/>
          </a:xfrm>
          <a:prstGeom prst="rect">
            <a:avLst/>
          </a:prstGeom>
          <a:ln w="50800">
            <a:solidFill>
              <a:srgbClr val="F36B21"/>
            </a:solidFill>
          </a:ln>
        </p:spPr>
      </p:pic>
      <p:sp>
        <p:nvSpPr>
          <p:cNvPr id="5" name="future-panel"/>
          <p:cNvSpPr/>
          <p:nvPr/>
        </p:nvSpPr>
        <p:spPr>
          <a:xfrm>
            <a:off x="812800" y="1803400"/>
            <a:ext cx="6832600" cy="6324600"/>
          </a:xfrm>
          <a:prstGeom prst="roundRect">
            <a:avLst>
              <a:gd name="adj" fmla="val 2811"/>
            </a:avLst>
          </a:prstGeom>
          <a:solidFill>
            <a:srgbClr val="E8E2DC"/>
          </a:solidFill>
          <a:ln/>
        </p:spPr>
      </p:sp>
      <p:sp>
        <p:nvSpPr>
          <p:cNvPr id="6" name="future-heading"/>
          <p:cNvSpPr/>
          <p:nvPr/>
        </p:nvSpPr>
        <p:spPr>
          <a:xfrm>
            <a:off x="1143000" y="2133600"/>
            <a:ext cx="54610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Next-Phase Enhancements</a:t>
            </a:r>
            <a:endParaRPr lang="en-US" sz="1800" dirty="0"/>
          </a:p>
        </p:txBody>
      </p:sp>
      <p:sp>
        <p:nvSpPr>
          <p:cNvPr id="7" name="future-rule"/>
          <p:cNvSpPr/>
          <p:nvPr/>
        </p:nvSpPr>
        <p:spPr>
          <a:xfrm>
            <a:off x="1143000" y="2667000"/>
            <a:ext cx="5029200" cy="9144"/>
          </a:xfrm>
          <a:prstGeom prst="line">
            <a:avLst/>
          </a:prstGeom>
          <a:ln w="25400">
            <a:solidFill>
              <a:srgbClr val="F36B21"/>
            </a:solidFill>
            <a:prstDash val="solid"/>
          </a:ln>
        </p:spPr>
      </p:sp>
      <p:sp>
        <p:nvSpPr>
          <p:cNvPr id="8" name="future-list"/>
          <p:cNvSpPr/>
          <p:nvPr/>
        </p:nvSpPr>
        <p:spPr>
          <a:xfrm>
            <a:off x="1143000" y="3022600"/>
            <a:ext cx="5791200" cy="4140200"/>
          </a:xfrm>
          <a:prstGeom prst="rect">
            <a:avLst/>
          </a:prstGeom>
          <a:noFill/>
          <a:ln/>
        </p:spPr>
        <p:txBody>
          <a:bodyPr wrap="square" lIns="0" tIns="0" rIns="0" bIns="0" rtlCol="0" anchor="t"/>
          <a:lstStyle/>
          <a:p>
            <a:pPr algn="l" marL="269875" indent="-269875">
              <a:lnSpc>
                <a:spcPts val="2125"/>
              </a:lnSpc>
              <a:spcBef>
                <a:spcPts val="10"/>
              </a:spcBef>
              <a:buSzPct val="100000"/>
              <a:buChar char="•"/>
            </a:pPr>
            <a:r>
              <a:rPr lang="en-US" altLang="en-US" sz="1700" dirty="0">
                <a:solidFill>
                  <a:srgbClr val="1E1E1E"/>
                </a:solidFill>
                <a:latin typeface="Inter" pitchFamily="34" charset="0"/>
                <a:ea typeface="Inter" pitchFamily="34" charset="-122"/>
                <a:cs typeface="Inter" pitchFamily="34" charset="-120"/>
              </a:rPr>
              <a:t>Introduce live monitoring for shipment movement and delivery progress.</a:t>
            </a:r>
            <a:endParaRPr lang="en-US" sz="1700" dirty="0"/>
          </a:p>
          <a:p>
            <a:pPr algn="l" marL="269875" indent="-269875">
              <a:lnSpc>
                <a:spcPts val="2125"/>
              </a:lnSpc>
              <a:spcBef>
                <a:spcPts val="10"/>
              </a:spcBef>
              <a:buSzPct val="100000"/>
              <a:buChar char="•"/>
            </a:pPr>
            <a:r>
              <a:rPr lang="en-US" altLang="en-US" sz="1700" dirty="0">
                <a:solidFill>
                  <a:srgbClr val="1E1E1E"/>
                </a:solidFill>
                <a:latin typeface="Inter" pitchFamily="34" charset="0"/>
                <a:ea typeface="Inter" pitchFamily="34" charset="-122"/>
                <a:cs typeface="Inter" pitchFamily="34" charset="-120"/>
              </a:rPr>
              <a:t>Add forecasting models to anticipate demand and inventory needs.</a:t>
            </a:r>
            <a:endParaRPr lang="en-US" sz="1700" dirty="0"/>
          </a:p>
          <a:p>
            <a:pPr algn="l" marL="269875" indent="-269875">
              <a:lnSpc>
                <a:spcPts val="2125"/>
              </a:lnSpc>
              <a:spcBef>
                <a:spcPts val="10"/>
              </a:spcBef>
              <a:buSzPct val="100000"/>
              <a:buChar char="•"/>
            </a:pPr>
            <a:r>
              <a:rPr lang="en-US" altLang="en-US" sz="1700" dirty="0">
                <a:solidFill>
                  <a:srgbClr val="1E1E1E"/>
                </a:solidFill>
                <a:latin typeface="Inter" pitchFamily="34" charset="0"/>
                <a:ea typeface="Inter" pitchFamily="34" charset="-122"/>
                <a:cs typeface="Inter" pitchFamily="34" charset="-120"/>
              </a:rPr>
              <a:t>Set up automated alerts for late shipments and emerging supply-chain risks.</a:t>
            </a:r>
            <a:endParaRPr lang="en-US" sz="1700" dirty="0"/>
          </a:p>
          <a:p>
            <a:pPr algn="l" marL="269875" indent="-269875">
              <a:lnSpc>
                <a:spcPts val="2125"/>
              </a:lnSpc>
              <a:spcBef>
                <a:spcPts val="10"/>
              </a:spcBef>
              <a:buSzPct val="100000"/>
              <a:buChar char="•"/>
            </a:pPr>
            <a:r>
              <a:rPr lang="en-US" altLang="en-US" sz="1700" dirty="0">
                <a:solidFill>
                  <a:srgbClr val="1E1E1E"/>
                </a:solidFill>
                <a:latin typeface="Inter" pitchFamily="34" charset="0"/>
                <a:ea typeface="Inter" pitchFamily="34" charset="-122"/>
                <a:cs typeface="Inter" pitchFamily="34" charset="-120"/>
              </a:rPr>
              <a:t>Use advanced analysis to anticipate bottlenecks and improve logistics-cost decisions.</a:t>
            </a:r>
            <a:endParaRPr lang="en-US" sz="1700" dirty="0"/>
          </a:p>
        </p:txBody>
      </p:sp>
      <p:sp>
        <p:nvSpPr>
          <p:cNvPr id="9" name="key-insights-heading"/>
          <p:cNvSpPr/>
          <p:nvPr/>
        </p:nvSpPr>
        <p:spPr>
          <a:xfrm>
            <a:off x="8509000" y="2133600"/>
            <a:ext cx="29210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What the Analysis Revealed</a:t>
            </a:r>
            <a:endParaRPr lang="en-US" sz="1800" dirty="0"/>
          </a:p>
        </p:txBody>
      </p:sp>
      <p:sp>
        <p:nvSpPr>
          <p:cNvPr id="10" name="insight-card-1"/>
          <p:cNvSpPr/>
          <p:nvPr/>
        </p:nvSpPr>
        <p:spPr>
          <a:xfrm>
            <a:off x="8509000" y="2641600"/>
            <a:ext cx="3251200" cy="1955800"/>
          </a:xfrm>
          <a:prstGeom prst="roundRect">
            <a:avLst>
              <a:gd name="adj" fmla="val 7792"/>
            </a:avLst>
          </a:prstGeom>
          <a:solidFill>
            <a:srgbClr val="F7F3EE"/>
          </a:solidFill>
          <a:ln w="12700">
            <a:solidFill>
              <a:srgbClr val="F36B21"/>
            </a:solidFill>
            <a:prstDash val="solid"/>
          </a:ln>
        </p:spPr>
      </p:sp>
      <p:sp>
        <p:nvSpPr>
          <p:cNvPr id="11" name="insight-1-heading"/>
          <p:cNvSpPr/>
          <p:nvPr/>
        </p:nvSpPr>
        <p:spPr>
          <a:xfrm>
            <a:off x="8788400" y="2946400"/>
            <a:ext cx="2692400" cy="584200"/>
          </a:xfrm>
          <a:prstGeom prst="rect">
            <a:avLst/>
          </a:prstGeom>
          <a:noFill/>
          <a:ln/>
        </p:spPr>
        <p:txBody>
          <a:bodyPr wrap="square" lIns="0" tIns="0" rIns="0" bIns="0" rtlCol="0" anchor="t"/>
          <a:lstStyle/>
          <a:p>
            <a:pPr algn="l" indent="0" marL="0">
              <a:lnSpc>
                <a:spcPts val="1760"/>
              </a:lnSpc>
              <a:buNone/>
            </a:pPr>
            <a:r>
              <a:rPr lang="en-US" altLang="en-US" sz="1600" b="1" dirty="0">
                <a:solidFill>
                  <a:srgbClr val="1E1E1E"/>
                </a:solidFill>
                <a:latin typeface="Inter" pitchFamily="34" charset="0"/>
                <a:ea typeface="Inter" pitchFamily="34" charset="-122"/>
                <a:cs typeface="Inter" pitchFamily="34" charset="-120"/>
              </a:rPr>
              <a:t>Flow &amp; Delay Patterns</a:t>
            </a:r>
            <a:endParaRPr lang="en-US" sz="1600" dirty="0"/>
          </a:p>
        </p:txBody>
      </p:sp>
      <p:sp>
        <p:nvSpPr>
          <p:cNvPr id="12" name="insight-1-body"/>
          <p:cNvSpPr/>
          <p:nvPr/>
        </p:nvSpPr>
        <p:spPr>
          <a:xfrm>
            <a:off x="8788400" y="3657600"/>
            <a:ext cx="2692400" cy="685800"/>
          </a:xfrm>
          <a:prstGeom prst="rect">
            <a:avLst/>
          </a:prstGeom>
          <a:noFill/>
          <a:ln/>
        </p:spPr>
        <p:txBody>
          <a:bodyPr wrap="square" lIns="0" tIns="0" rIns="0" bIns="0" rtlCol="0" anchor="t"/>
          <a:lstStyle/>
          <a:p>
            <a:pPr algn="l" indent="0" marL="0">
              <a:lnSpc>
                <a:spcPts val="1624"/>
              </a:lnSpc>
              <a:buNone/>
            </a:pPr>
            <a:r>
              <a:rPr lang="en-US" altLang="en-US" sz="1400" dirty="0">
                <a:solidFill>
                  <a:srgbClr val="1E1E1E"/>
                </a:solidFill>
                <a:latin typeface="Inter" pitchFamily="34" charset="0"/>
                <a:ea typeface="Inter" pitchFamily="34" charset="-122"/>
                <a:cs typeface="Inter" pitchFamily="34" charset="-120"/>
              </a:rPr>
              <a:t>Shipment and delivery activity can reveal recurring trends and delay points across the end-to-end supply-chain journey.</a:t>
            </a:r>
            <a:endParaRPr lang="en-US" sz="1400" dirty="0"/>
          </a:p>
        </p:txBody>
      </p:sp>
      <p:sp>
        <p:nvSpPr>
          <p:cNvPr id="13" name="insight-card-2"/>
          <p:cNvSpPr/>
          <p:nvPr/>
        </p:nvSpPr>
        <p:spPr>
          <a:xfrm>
            <a:off x="12115800" y="2641600"/>
            <a:ext cx="3251200" cy="1955800"/>
          </a:xfrm>
          <a:prstGeom prst="roundRect">
            <a:avLst>
              <a:gd name="adj" fmla="val 7792"/>
            </a:avLst>
          </a:prstGeom>
          <a:solidFill>
            <a:srgbClr val="F7F3EE"/>
          </a:solidFill>
          <a:ln w="12700">
            <a:solidFill>
              <a:srgbClr val="F36B21"/>
            </a:solidFill>
            <a:prstDash val="solid"/>
          </a:ln>
        </p:spPr>
      </p:sp>
      <p:sp>
        <p:nvSpPr>
          <p:cNvPr id="14" name="insight-2-heading"/>
          <p:cNvSpPr/>
          <p:nvPr/>
        </p:nvSpPr>
        <p:spPr>
          <a:xfrm>
            <a:off x="12395200" y="2946400"/>
            <a:ext cx="2692400" cy="584200"/>
          </a:xfrm>
          <a:prstGeom prst="rect">
            <a:avLst/>
          </a:prstGeom>
          <a:noFill/>
          <a:ln/>
        </p:spPr>
        <p:txBody>
          <a:bodyPr wrap="square" lIns="0" tIns="0" rIns="0" bIns="0" rtlCol="0" anchor="t"/>
          <a:lstStyle/>
          <a:p>
            <a:pPr algn="l" indent="0" marL="0">
              <a:lnSpc>
                <a:spcPts val="1760"/>
              </a:lnSpc>
              <a:buNone/>
            </a:pPr>
            <a:r>
              <a:rPr lang="en-US" altLang="en-US" sz="1600" b="1" dirty="0">
                <a:solidFill>
                  <a:srgbClr val="1E1E1E"/>
                </a:solidFill>
                <a:latin typeface="Inter" pitchFamily="34" charset="0"/>
                <a:ea typeface="Inter" pitchFamily="34" charset="-122"/>
                <a:cs typeface="Inter" pitchFamily="34" charset="-120"/>
              </a:rPr>
              <a:t>Key Efficiency Drivers</a:t>
            </a:r>
            <a:endParaRPr lang="en-US" sz="1600" dirty="0"/>
          </a:p>
        </p:txBody>
      </p:sp>
      <p:sp>
        <p:nvSpPr>
          <p:cNvPr id="15" name="insight-2-body"/>
          <p:cNvSpPr/>
          <p:nvPr/>
        </p:nvSpPr>
        <p:spPr>
          <a:xfrm>
            <a:off x="12395200" y="3657600"/>
            <a:ext cx="2692400" cy="685800"/>
          </a:xfrm>
          <a:prstGeom prst="rect">
            <a:avLst/>
          </a:prstGeom>
          <a:noFill/>
          <a:ln/>
        </p:spPr>
        <p:txBody>
          <a:bodyPr wrap="square" lIns="0" tIns="0" rIns="0" bIns="0" rtlCol="0" anchor="t"/>
          <a:lstStyle/>
          <a:p>
            <a:pPr algn="l" indent="0" marL="0">
              <a:lnSpc>
                <a:spcPts val="1624"/>
              </a:lnSpc>
              <a:buNone/>
            </a:pPr>
            <a:r>
              <a:rPr lang="en-US" altLang="en-US" sz="1400" dirty="0">
                <a:solidFill>
                  <a:srgbClr val="1E1E1E"/>
                </a:solidFill>
                <a:latin typeface="Inter" pitchFamily="34" charset="0"/>
                <a:ea typeface="Inter" pitchFamily="34" charset="-122"/>
                <a:cs typeface="Inter" pitchFamily="34" charset="-120"/>
              </a:rPr>
              <a:t>Supplier reliability and transport performance materially affect overall efficiency and on-time service.</a:t>
            </a:r>
            <a:endParaRPr lang="en-US" sz="1400" dirty="0"/>
          </a:p>
        </p:txBody>
      </p:sp>
      <p:sp>
        <p:nvSpPr>
          <p:cNvPr id="16" name="insight-card-3"/>
          <p:cNvSpPr/>
          <p:nvPr/>
        </p:nvSpPr>
        <p:spPr>
          <a:xfrm>
            <a:off x="8509000" y="4902200"/>
            <a:ext cx="6858000" cy="3225800"/>
          </a:xfrm>
          <a:prstGeom prst="roundRect">
            <a:avLst>
              <a:gd name="adj" fmla="val 4724"/>
            </a:avLst>
          </a:prstGeom>
          <a:solidFill>
            <a:srgbClr val="FFD6BB"/>
          </a:solidFill>
          <a:ln w="12700">
            <a:solidFill>
              <a:srgbClr val="F36B21"/>
            </a:solidFill>
            <a:prstDash val="solid"/>
          </a:ln>
        </p:spPr>
      </p:sp>
      <p:sp>
        <p:nvSpPr>
          <p:cNvPr id="17" name="insight-3-heading"/>
          <p:cNvSpPr/>
          <p:nvPr/>
        </p:nvSpPr>
        <p:spPr>
          <a:xfrm>
            <a:off x="8839200" y="5257800"/>
            <a:ext cx="5842000" cy="355600"/>
          </a:xfrm>
          <a:prstGeom prst="rect">
            <a:avLst/>
          </a:prstGeom>
          <a:noFill/>
          <a:ln/>
        </p:spPr>
        <p:txBody>
          <a:bodyPr wrap="none" lIns="0" tIns="0" rIns="0" bIns="0" rtlCol="0" anchor="t"/>
          <a:lstStyle/>
          <a:p>
            <a:pPr algn="l" indent="0" marL="0">
              <a:buNone/>
            </a:pPr>
            <a:r>
              <a:rPr lang="en-US" altLang="en-US" sz="1700" b="1" dirty="0">
                <a:solidFill>
                  <a:srgbClr val="1E1E1E"/>
                </a:solidFill>
                <a:latin typeface="Inter" pitchFamily="34" charset="0"/>
                <a:ea typeface="Inter" pitchFamily="34" charset="-122"/>
                <a:cs typeface="Inter" pitchFamily="34" charset="-120"/>
              </a:rPr>
              <a:t>Priority Improvement Areas</a:t>
            </a:r>
            <a:endParaRPr lang="en-US" sz="1700" dirty="0"/>
          </a:p>
        </p:txBody>
      </p:sp>
      <p:sp>
        <p:nvSpPr>
          <p:cNvPr id="18" name="insight-3-body"/>
          <p:cNvSpPr/>
          <p:nvPr/>
        </p:nvSpPr>
        <p:spPr>
          <a:xfrm>
            <a:off x="8839200" y="5816600"/>
            <a:ext cx="5842000" cy="1092200"/>
          </a:xfrm>
          <a:prstGeom prst="rect">
            <a:avLst/>
          </a:prstGeom>
          <a:noFill/>
          <a:ln/>
        </p:spPr>
        <p:txBody>
          <a:bodyPr wrap="square" lIns="0" tIns="0" rIns="0" bIns="0" rtlCol="0" anchor="t"/>
          <a:lstStyle/>
          <a:p>
            <a:pPr algn="l" indent="0" marL="0">
              <a:lnSpc>
                <a:spcPts val="2074"/>
              </a:lnSpc>
              <a:buNone/>
            </a:pPr>
            <a:r>
              <a:rPr lang="en-US" altLang="en-US" sz="1700" dirty="0">
                <a:solidFill>
                  <a:srgbClr val="1E1E1E"/>
                </a:solidFill>
                <a:latin typeface="Inter" pitchFamily="34" charset="0"/>
                <a:ea typeface="Inter" pitchFamily="34" charset="-122"/>
                <a:cs typeface="Inter" pitchFamily="34" charset="-120"/>
              </a:rPr>
              <a:t>Cost, inventory, and product-level views help pinpoint targeted opportunities to strengthen operations.</a:t>
            </a:r>
            <a:endParaRPr lang="en-US" sz="1700" dirty="0"/>
          </a:p>
        </p:txBody>
      </p:sp>
      <p:sp>
        <p:nvSpPr>
          <p:cNvPr id="19" name="insight-3-rule"/>
          <p:cNvSpPr/>
          <p:nvPr/>
        </p:nvSpPr>
        <p:spPr>
          <a:xfrm>
            <a:off x="8839200" y="7315200"/>
            <a:ext cx="5842000" cy="9144"/>
          </a:xfrm>
          <a:prstGeom prst="line">
            <a:avLst/>
          </a:prstGeom>
          <a:ln w="25400">
            <a:solidFill>
              <a:srgbClr val="F36B2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3EE"/>
        </a:solidFill>
      </p:bgPr>
    </p:bg>
    <p:spTree>
      <p:nvGrpSpPr>
        <p:cNvPr id="1" name=""/>
        <p:cNvGrpSpPr/>
        <p:nvPr/>
      </p:nvGrpSpPr>
      <p:grpSpPr>
        <a:xfrm>
          <a:off x="0" y="0"/>
          <a:ext cx="0" cy="0"/>
          <a:chOff x="0" y="0"/>
          <a:chExt cx="0" cy="0"/>
        </a:xfrm>
      </p:grpSpPr>
      <p:sp>
        <p:nvSpPr>
          <p:cNvPr id="2" name="conclusion-title"/>
          <p:cNvSpPr/>
          <p:nvPr/>
        </p:nvSpPr>
        <p:spPr>
          <a:xfrm>
            <a:off x="812800" y="660400"/>
            <a:ext cx="11430000" cy="609600"/>
          </a:xfrm>
          <a:prstGeom prst="rect">
            <a:avLst/>
          </a:prstGeom>
          <a:noFill/>
          <a:ln/>
        </p:spPr>
        <p:txBody>
          <a:bodyPr wrap="none" lIns="0" tIns="0" rIns="0" bIns="0" rtlCol="0" anchor="t"/>
          <a:lstStyle/>
          <a:p>
            <a:pPr algn="l" indent="0" marL="0">
              <a:buNone/>
            </a:pPr>
            <a:r>
              <a:rPr lang="en-US" altLang="en-US" sz="3400" dirty="0">
                <a:solidFill>
                  <a:srgbClr val="1E1E1E"/>
                </a:solidFill>
                <a:latin typeface="Aptos Display" pitchFamily="34" charset="0"/>
                <a:ea typeface="Aptos Display" pitchFamily="34" charset="-122"/>
                <a:cs typeface="Aptos Display" pitchFamily="34" charset="-120"/>
              </a:rPr>
              <a:t>Conclusion</a:t>
            </a:r>
            <a:endParaRPr lang="en-US" sz="3400" dirty="0"/>
          </a:p>
        </p:txBody>
      </p:sp>
      <p:sp>
        <p:nvSpPr>
          <p:cNvPr id="3" name="conclusion-rule"/>
          <p:cNvSpPr/>
          <p:nvPr/>
        </p:nvSpPr>
        <p:spPr>
          <a:xfrm>
            <a:off x="812800" y="1422400"/>
            <a:ext cx="1371600" cy="9144"/>
          </a:xfrm>
          <a:prstGeom prst="line">
            <a:avLst/>
          </a:prstGeom>
          <a:ln w="50800">
            <a:solidFill>
              <a:srgbClr val="F36B21"/>
            </a:solidFill>
            <a:prstDash val="solid"/>
          </a:ln>
        </p:spPr>
      </p:sp>
      <p:sp>
        <p:nvSpPr>
          <p:cNvPr id="4" name="conclusion-body"/>
          <p:cNvSpPr/>
          <p:nvPr/>
        </p:nvSpPr>
        <p:spPr>
          <a:xfrm>
            <a:off x="812800" y="1727200"/>
            <a:ext cx="14579600" cy="990600"/>
          </a:xfrm>
          <a:prstGeom prst="rect">
            <a:avLst/>
          </a:prstGeom>
          <a:noFill/>
          <a:ln/>
        </p:spPr>
        <p:txBody>
          <a:bodyPr wrap="square" lIns="0" tIns="0" rIns="0" bIns="0" rtlCol="0" anchor="t">
            <a:normAutofit/>
          </a:bodyPr>
          <a:lstStyle/>
          <a:p>
            <a:pPr algn="l" indent="0" marL="0">
              <a:lnSpc>
                <a:spcPts val="1952"/>
              </a:lnSpc>
              <a:buNone/>
            </a:pPr>
            <a:r>
              <a:rPr lang="en-US" altLang="en-US" sz="1600" dirty="0">
                <a:solidFill>
                  <a:srgbClr val="1E1E1E"/>
                </a:solidFill>
                <a:latin typeface="Inter" pitchFamily="34" charset="0"/>
                <a:ea typeface="Inter" pitchFamily="34" charset="-122"/>
                <a:cs typeface="Inter" pitchFamily="34" charset="-120"/>
              </a:rPr>
              <a:t>The project converted raw supply-chain records into a practical Power BI reporting environment. By bringing together views of movement, suppliers, inventory, transport, costs, products, and delivery, it made operational patterns easier to recognize and improvement priorities easier to target.</a:t>
            </a:r>
            <a:endParaRPr lang="en-US" sz="1600" dirty="0"/>
          </a:p>
        </p:txBody>
      </p:sp>
      <p:sp>
        <p:nvSpPr>
          <p:cNvPr id="5" name="technical-heading"/>
          <p:cNvSpPr/>
          <p:nvPr/>
        </p:nvSpPr>
        <p:spPr>
          <a:xfrm>
            <a:off x="812800" y="3098800"/>
            <a:ext cx="5334000" cy="355600"/>
          </a:xfrm>
          <a:prstGeom prst="rect">
            <a:avLst/>
          </a:prstGeom>
          <a:noFill/>
          <a:ln/>
        </p:spPr>
        <p:txBody>
          <a:bodyPr wrap="none" lIns="0" tIns="0" rIns="0" bIns="0" rtlCol="0" anchor="t"/>
          <a:lstStyle/>
          <a:p>
            <a:pPr algn="l" indent="0" marL="0">
              <a:buNone/>
            </a:pPr>
            <a:r>
              <a:rPr lang="en-US" altLang="en-US" sz="1800" b="1" dirty="0">
                <a:solidFill>
                  <a:srgbClr val="F36B21"/>
                </a:solidFill>
                <a:latin typeface="Inter" pitchFamily="34" charset="0"/>
                <a:ea typeface="Inter" pitchFamily="34" charset="-122"/>
                <a:cs typeface="Inter" pitchFamily="34" charset="-120"/>
              </a:rPr>
              <a:t>Technical Capabilities Strengthened</a:t>
            </a:r>
            <a:endParaRPr lang="en-US" sz="1800" dirty="0"/>
          </a:p>
        </p:txBody>
      </p:sp>
      <p:sp>
        <p:nvSpPr>
          <p:cNvPr id="6" name="tech-card-1"/>
          <p:cNvSpPr/>
          <p:nvPr/>
        </p:nvSpPr>
        <p:spPr>
          <a:xfrm>
            <a:off x="812800" y="3556000"/>
            <a:ext cx="3225800" cy="965200"/>
          </a:xfrm>
          <a:prstGeom prst="roundRect">
            <a:avLst>
              <a:gd name="adj" fmla="val 15789"/>
            </a:avLst>
          </a:prstGeom>
          <a:solidFill>
            <a:srgbClr val="FFD6BB"/>
          </a:solidFill>
          <a:ln w="12700">
            <a:solidFill>
              <a:srgbClr val="F36B21"/>
            </a:solidFill>
            <a:prstDash val="solid"/>
          </a:ln>
        </p:spPr>
      </p:sp>
      <p:pic>
        <p:nvPicPr>
          <p:cNvPr id="7" name="tech-icon-1" descr="preencoded.png">    </p:cNvPr>
          <p:cNvPicPr>
            <a:picLocks noChangeAspect="1"/>
          </p:cNvPicPr>
          <p:nvPr/>
        </p:nvPicPr>
        <p:blipFill>
          <a:blip r:embed="rId1"/>
          <a:stretch>
            <a:fillRect/>
          </a:stretch>
        </p:blipFill>
        <p:spPr>
          <a:xfrm>
            <a:off x="1041400" y="3835400"/>
            <a:ext cx="355600" cy="355600"/>
          </a:xfrm>
          <a:prstGeom prst="rect">
            <a:avLst/>
          </a:prstGeom>
        </p:spPr>
      </p:pic>
      <p:sp>
        <p:nvSpPr>
          <p:cNvPr id="8" name="tech-text-1"/>
          <p:cNvSpPr/>
          <p:nvPr/>
        </p:nvSpPr>
        <p:spPr>
          <a:xfrm>
            <a:off x="1549400" y="3860800"/>
            <a:ext cx="2260600" cy="355600"/>
          </a:xfrm>
          <a:prstGeom prst="rect">
            <a:avLst/>
          </a:prstGeom>
          <a:noFill/>
          <a:ln/>
        </p:spPr>
        <p:txBody>
          <a:bodyPr wrap="none" lIns="0" tIns="0" rIns="0" bIns="0" rtlCol="0" anchor="t"/>
          <a:lstStyle/>
          <a:p>
            <a:pPr algn="l" indent="0" marL="0">
              <a:buNone/>
            </a:pPr>
            <a:r>
              <a:rPr lang="en-US" altLang="en-US" sz="1500" b="1" dirty="0">
                <a:solidFill>
                  <a:srgbClr val="1E1E1E"/>
                </a:solidFill>
                <a:latin typeface="Inter" pitchFamily="34" charset="0"/>
                <a:ea typeface="Inter" pitchFamily="34" charset="-122"/>
                <a:cs typeface="Inter" pitchFamily="34" charset="-120"/>
              </a:rPr>
              <a:t>Power BI Reporting</a:t>
            </a:r>
            <a:endParaRPr lang="en-US" sz="1500" dirty="0"/>
          </a:p>
        </p:txBody>
      </p:sp>
      <p:sp>
        <p:nvSpPr>
          <p:cNvPr id="9" name="tech-card-2"/>
          <p:cNvSpPr/>
          <p:nvPr/>
        </p:nvSpPr>
        <p:spPr>
          <a:xfrm>
            <a:off x="4216400" y="3556000"/>
            <a:ext cx="3225800" cy="965200"/>
          </a:xfrm>
          <a:prstGeom prst="roundRect">
            <a:avLst>
              <a:gd name="adj" fmla="val 15789"/>
            </a:avLst>
          </a:prstGeom>
          <a:solidFill>
            <a:srgbClr val="FFD6BB"/>
          </a:solidFill>
          <a:ln w="12700">
            <a:solidFill>
              <a:srgbClr val="F36B21"/>
            </a:solidFill>
            <a:prstDash val="solid"/>
          </a:ln>
        </p:spPr>
      </p:sp>
      <p:pic>
        <p:nvPicPr>
          <p:cNvPr id="10" name="tech-icon-2" descr="preencoded.png">    </p:cNvPr>
          <p:cNvPicPr>
            <a:picLocks noChangeAspect="1"/>
          </p:cNvPicPr>
          <p:nvPr/>
        </p:nvPicPr>
        <p:blipFill>
          <a:blip r:embed="rId2"/>
          <a:stretch>
            <a:fillRect/>
          </a:stretch>
        </p:blipFill>
        <p:spPr>
          <a:xfrm>
            <a:off x="4445000" y="3835400"/>
            <a:ext cx="355600" cy="355600"/>
          </a:xfrm>
          <a:prstGeom prst="rect">
            <a:avLst/>
          </a:prstGeom>
        </p:spPr>
      </p:pic>
      <p:sp>
        <p:nvSpPr>
          <p:cNvPr id="11" name="tech-text-2"/>
          <p:cNvSpPr/>
          <p:nvPr/>
        </p:nvSpPr>
        <p:spPr>
          <a:xfrm>
            <a:off x="4953000" y="3784600"/>
            <a:ext cx="2260600" cy="533400"/>
          </a:xfrm>
          <a:prstGeom prst="rect">
            <a:avLst/>
          </a:prstGeom>
          <a:noFill/>
          <a:ln/>
        </p:spPr>
        <p:txBody>
          <a:bodyPr wrap="square" lIns="0" tIns="0" rIns="0" bIns="0" rtlCol="0" anchor="t"/>
          <a:lstStyle/>
          <a:p>
            <a:pPr algn="l" indent="0" marL="0">
              <a:lnSpc>
                <a:spcPts val="1568"/>
              </a:lnSpc>
              <a:buNone/>
            </a:pPr>
            <a:r>
              <a:rPr lang="en-US" altLang="en-US" sz="1400" b="1" dirty="0">
                <a:solidFill>
                  <a:srgbClr val="1E1E1E"/>
                </a:solidFill>
                <a:latin typeface="Inter" pitchFamily="34" charset="0"/>
                <a:ea typeface="Inter" pitchFamily="34" charset="-122"/>
                <a:cs typeface="Inter" pitchFamily="34" charset="-120"/>
              </a:rPr>
              <a:t>Data Preparation &amp; Model Design</a:t>
            </a:r>
            <a:endParaRPr lang="en-US" sz="1400" dirty="0"/>
          </a:p>
        </p:txBody>
      </p:sp>
      <p:sp>
        <p:nvSpPr>
          <p:cNvPr id="12" name="tech-card-3"/>
          <p:cNvSpPr/>
          <p:nvPr/>
        </p:nvSpPr>
        <p:spPr>
          <a:xfrm>
            <a:off x="7620000" y="3556000"/>
            <a:ext cx="3225800" cy="965200"/>
          </a:xfrm>
          <a:prstGeom prst="roundRect">
            <a:avLst>
              <a:gd name="adj" fmla="val 15789"/>
            </a:avLst>
          </a:prstGeom>
          <a:solidFill>
            <a:srgbClr val="FFD6BB"/>
          </a:solidFill>
          <a:ln w="12700">
            <a:solidFill>
              <a:srgbClr val="F36B21"/>
            </a:solidFill>
            <a:prstDash val="solid"/>
          </a:ln>
        </p:spPr>
      </p:sp>
      <p:pic>
        <p:nvPicPr>
          <p:cNvPr id="13" name="tech-icon-3" descr="preencoded.png">    </p:cNvPr>
          <p:cNvPicPr>
            <a:picLocks noChangeAspect="1"/>
          </p:cNvPicPr>
          <p:nvPr/>
        </p:nvPicPr>
        <p:blipFill>
          <a:blip r:embed="rId3"/>
          <a:stretch>
            <a:fillRect/>
          </a:stretch>
        </p:blipFill>
        <p:spPr>
          <a:xfrm>
            <a:off x="7848600" y="3835400"/>
            <a:ext cx="355600" cy="355600"/>
          </a:xfrm>
          <a:prstGeom prst="rect">
            <a:avLst/>
          </a:prstGeom>
        </p:spPr>
      </p:pic>
      <p:sp>
        <p:nvSpPr>
          <p:cNvPr id="14" name="tech-text-3"/>
          <p:cNvSpPr/>
          <p:nvPr/>
        </p:nvSpPr>
        <p:spPr>
          <a:xfrm>
            <a:off x="8356600" y="3784600"/>
            <a:ext cx="2260600" cy="533400"/>
          </a:xfrm>
          <a:prstGeom prst="rect">
            <a:avLst/>
          </a:prstGeom>
          <a:noFill/>
          <a:ln/>
        </p:spPr>
        <p:txBody>
          <a:bodyPr wrap="square" lIns="0" tIns="0" rIns="0" bIns="0" rtlCol="0" anchor="t"/>
          <a:lstStyle/>
          <a:p>
            <a:pPr algn="l" indent="0" marL="0">
              <a:lnSpc>
                <a:spcPts val="1568"/>
              </a:lnSpc>
              <a:buNone/>
            </a:pPr>
            <a:r>
              <a:rPr lang="en-US" altLang="en-US" sz="1400" b="1" dirty="0">
                <a:solidFill>
                  <a:srgbClr val="1E1E1E"/>
                </a:solidFill>
                <a:latin typeface="Inter" pitchFamily="34" charset="0"/>
                <a:ea typeface="Inter" pitchFamily="34" charset="-122"/>
                <a:cs typeface="Inter" pitchFamily="34" charset="-120"/>
              </a:rPr>
              <a:t>DAX Logic &amp; Visual Design</a:t>
            </a:r>
            <a:endParaRPr lang="en-US" sz="1400" dirty="0"/>
          </a:p>
        </p:txBody>
      </p:sp>
      <p:sp>
        <p:nvSpPr>
          <p:cNvPr id="15" name="tech-card-4"/>
          <p:cNvSpPr/>
          <p:nvPr/>
        </p:nvSpPr>
        <p:spPr>
          <a:xfrm>
            <a:off x="11023600" y="3556000"/>
            <a:ext cx="4419600" cy="965200"/>
          </a:xfrm>
          <a:prstGeom prst="roundRect">
            <a:avLst>
              <a:gd name="adj" fmla="val 15789"/>
            </a:avLst>
          </a:prstGeom>
          <a:solidFill>
            <a:srgbClr val="FFD6BB"/>
          </a:solidFill>
          <a:ln w="12700">
            <a:solidFill>
              <a:srgbClr val="F36B21"/>
            </a:solidFill>
            <a:prstDash val="solid"/>
          </a:ln>
        </p:spPr>
      </p:sp>
      <p:pic>
        <p:nvPicPr>
          <p:cNvPr id="16" name="tech-icon-4" descr="preencoded.png">    </p:cNvPr>
          <p:cNvPicPr>
            <a:picLocks noChangeAspect="1"/>
          </p:cNvPicPr>
          <p:nvPr/>
        </p:nvPicPr>
        <p:blipFill>
          <a:blip r:embed="rId4"/>
          <a:stretch>
            <a:fillRect/>
          </a:stretch>
        </p:blipFill>
        <p:spPr>
          <a:xfrm>
            <a:off x="11252200" y="3835400"/>
            <a:ext cx="355600" cy="355600"/>
          </a:xfrm>
          <a:prstGeom prst="rect">
            <a:avLst/>
          </a:prstGeom>
        </p:spPr>
      </p:pic>
      <p:sp>
        <p:nvSpPr>
          <p:cNvPr id="17" name="tech-text-4"/>
          <p:cNvSpPr/>
          <p:nvPr/>
        </p:nvSpPr>
        <p:spPr>
          <a:xfrm>
            <a:off x="11760200" y="3860800"/>
            <a:ext cx="3048000" cy="355600"/>
          </a:xfrm>
          <a:prstGeom prst="rect">
            <a:avLst/>
          </a:prstGeom>
          <a:noFill/>
          <a:ln/>
        </p:spPr>
        <p:txBody>
          <a:bodyPr wrap="none" lIns="0" tIns="0" rIns="0" bIns="0" rtlCol="0" anchor="t"/>
          <a:lstStyle/>
          <a:p>
            <a:pPr algn="l" indent="0" marL="0">
              <a:buNone/>
            </a:pPr>
            <a:r>
              <a:rPr lang="en-US" altLang="en-US" sz="1500" b="1" dirty="0">
                <a:solidFill>
                  <a:srgbClr val="1E1E1E"/>
                </a:solidFill>
                <a:latin typeface="Inter" pitchFamily="34" charset="0"/>
                <a:ea typeface="Inter" pitchFamily="34" charset="-122"/>
                <a:cs typeface="Inter" pitchFamily="34" charset="-120"/>
              </a:rPr>
              <a:t>Data Interpretation</a:t>
            </a:r>
            <a:endParaRPr lang="en-US" sz="1500" dirty="0"/>
          </a:p>
        </p:txBody>
      </p:sp>
      <p:sp>
        <p:nvSpPr>
          <p:cNvPr id="18" name="soft-heading"/>
          <p:cNvSpPr/>
          <p:nvPr/>
        </p:nvSpPr>
        <p:spPr>
          <a:xfrm>
            <a:off x="812800" y="6197600"/>
            <a:ext cx="5334000" cy="355600"/>
          </a:xfrm>
          <a:prstGeom prst="rect">
            <a:avLst/>
          </a:prstGeom>
          <a:noFill/>
          <a:ln/>
        </p:spPr>
        <p:txBody>
          <a:bodyPr wrap="none" lIns="0" tIns="0" rIns="0" bIns="0" rtlCol="0" anchor="t"/>
          <a:lstStyle/>
          <a:p>
            <a:pPr algn="l" indent="0" marL="0">
              <a:buNone/>
            </a:pPr>
            <a:r>
              <a:rPr lang="en-US" altLang="en-US" sz="1800" b="1" dirty="0">
                <a:solidFill>
                  <a:srgbClr val="C84A1B"/>
                </a:solidFill>
                <a:latin typeface="Inter" pitchFamily="34" charset="0"/>
                <a:ea typeface="Inter" pitchFamily="34" charset="-122"/>
                <a:cs typeface="Inter" pitchFamily="34" charset="-120"/>
              </a:rPr>
              <a:t>Professional Skills Applied</a:t>
            </a:r>
            <a:endParaRPr lang="en-US" sz="1800" dirty="0"/>
          </a:p>
        </p:txBody>
      </p:sp>
      <p:sp>
        <p:nvSpPr>
          <p:cNvPr id="19" name="soft-card-1"/>
          <p:cNvSpPr/>
          <p:nvPr/>
        </p:nvSpPr>
        <p:spPr>
          <a:xfrm>
            <a:off x="812800" y="6680200"/>
            <a:ext cx="3225800" cy="965200"/>
          </a:xfrm>
          <a:prstGeom prst="roundRect">
            <a:avLst>
              <a:gd name="adj" fmla="val 15789"/>
            </a:avLst>
          </a:prstGeom>
          <a:solidFill>
            <a:srgbClr val="FFD6BB"/>
          </a:solidFill>
          <a:ln w="12700">
            <a:solidFill>
              <a:srgbClr val="F36B21"/>
            </a:solidFill>
            <a:prstDash val="solid"/>
          </a:ln>
        </p:spPr>
      </p:sp>
      <p:pic>
        <p:nvPicPr>
          <p:cNvPr id="20" name="soft-icon-1" descr="preencoded.png">    </p:cNvPr>
          <p:cNvPicPr>
            <a:picLocks noChangeAspect="1"/>
          </p:cNvPicPr>
          <p:nvPr/>
        </p:nvPicPr>
        <p:blipFill>
          <a:blip r:embed="rId5"/>
          <a:stretch>
            <a:fillRect/>
          </a:stretch>
        </p:blipFill>
        <p:spPr>
          <a:xfrm>
            <a:off x="1041400" y="6959600"/>
            <a:ext cx="355600" cy="355600"/>
          </a:xfrm>
          <a:prstGeom prst="rect">
            <a:avLst/>
          </a:prstGeom>
        </p:spPr>
      </p:pic>
      <p:sp>
        <p:nvSpPr>
          <p:cNvPr id="21" name="soft-text-1"/>
          <p:cNvSpPr/>
          <p:nvPr/>
        </p:nvSpPr>
        <p:spPr>
          <a:xfrm>
            <a:off x="1549400" y="6985000"/>
            <a:ext cx="2260600" cy="355600"/>
          </a:xfrm>
          <a:prstGeom prst="rect">
            <a:avLst/>
          </a:prstGeom>
          <a:noFill/>
          <a:ln/>
        </p:spPr>
        <p:txBody>
          <a:bodyPr wrap="none" lIns="0" tIns="0" rIns="0" bIns="0" rtlCol="0" anchor="t"/>
          <a:lstStyle/>
          <a:p>
            <a:pPr algn="l" indent="0" marL="0">
              <a:buNone/>
            </a:pPr>
            <a:r>
              <a:rPr lang="en-US" altLang="en-US" sz="1500" b="1" dirty="0">
                <a:solidFill>
                  <a:srgbClr val="1E1E1E"/>
                </a:solidFill>
                <a:latin typeface="Inter" pitchFamily="34" charset="0"/>
                <a:ea typeface="Inter" pitchFamily="34" charset="-122"/>
                <a:cs typeface="Inter" pitchFamily="34" charset="-120"/>
              </a:rPr>
              <a:t>Structured Problem-Solving</a:t>
            </a:r>
            <a:endParaRPr lang="en-US" sz="1500" dirty="0"/>
          </a:p>
        </p:txBody>
      </p:sp>
      <p:sp>
        <p:nvSpPr>
          <p:cNvPr id="22" name="soft-card-2"/>
          <p:cNvSpPr/>
          <p:nvPr/>
        </p:nvSpPr>
        <p:spPr>
          <a:xfrm>
            <a:off x="4216400" y="6680200"/>
            <a:ext cx="3225800" cy="965200"/>
          </a:xfrm>
          <a:prstGeom prst="roundRect">
            <a:avLst>
              <a:gd name="adj" fmla="val 15789"/>
            </a:avLst>
          </a:prstGeom>
          <a:solidFill>
            <a:srgbClr val="FFD6BB"/>
          </a:solidFill>
          <a:ln w="12700">
            <a:solidFill>
              <a:srgbClr val="F36B21"/>
            </a:solidFill>
            <a:prstDash val="solid"/>
          </a:ln>
        </p:spPr>
      </p:sp>
      <p:pic>
        <p:nvPicPr>
          <p:cNvPr id="23" name="soft-icon-2" descr="preencoded.png">    </p:cNvPr>
          <p:cNvPicPr>
            <a:picLocks noChangeAspect="1"/>
          </p:cNvPicPr>
          <p:nvPr/>
        </p:nvPicPr>
        <p:blipFill>
          <a:blip r:embed="rId6"/>
          <a:stretch>
            <a:fillRect/>
          </a:stretch>
        </p:blipFill>
        <p:spPr>
          <a:xfrm>
            <a:off x="4445000" y="6959600"/>
            <a:ext cx="355600" cy="355600"/>
          </a:xfrm>
          <a:prstGeom prst="rect">
            <a:avLst/>
          </a:prstGeom>
        </p:spPr>
      </p:pic>
      <p:sp>
        <p:nvSpPr>
          <p:cNvPr id="24" name="soft-text-2"/>
          <p:cNvSpPr/>
          <p:nvPr/>
        </p:nvSpPr>
        <p:spPr>
          <a:xfrm>
            <a:off x="4953000" y="6985000"/>
            <a:ext cx="2260600" cy="355600"/>
          </a:xfrm>
          <a:prstGeom prst="rect">
            <a:avLst/>
          </a:prstGeom>
          <a:noFill/>
          <a:ln/>
        </p:spPr>
        <p:txBody>
          <a:bodyPr wrap="none" lIns="0" tIns="0" rIns="0" bIns="0" rtlCol="0" anchor="t"/>
          <a:lstStyle/>
          <a:p>
            <a:pPr algn="l" indent="0" marL="0">
              <a:buNone/>
            </a:pPr>
            <a:r>
              <a:rPr lang="en-US" altLang="en-US" sz="1500" b="1" dirty="0">
                <a:solidFill>
                  <a:srgbClr val="1E1E1E"/>
                </a:solidFill>
                <a:latin typeface="Inter" pitchFamily="34" charset="0"/>
                <a:ea typeface="Inter" pitchFamily="34" charset="-122"/>
                <a:cs typeface="Inter" pitchFamily="34" charset="-120"/>
              </a:rPr>
              <a:t>Clear Communication</a:t>
            </a:r>
            <a:endParaRPr lang="en-US" sz="1500" dirty="0"/>
          </a:p>
        </p:txBody>
      </p:sp>
      <p:sp>
        <p:nvSpPr>
          <p:cNvPr id="25" name="soft-card-3"/>
          <p:cNvSpPr/>
          <p:nvPr/>
        </p:nvSpPr>
        <p:spPr>
          <a:xfrm>
            <a:off x="7620000" y="6680200"/>
            <a:ext cx="3225800" cy="965200"/>
          </a:xfrm>
          <a:prstGeom prst="roundRect">
            <a:avLst>
              <a:gd name="adj" fmla="val 15789"/>
            </a:avLst>
          </a:prstGeom>
          <a:solidFill>
            <a:srgbClr val="FFD6BB"/>
          </a:solidFill>
          <a:ln w="12700">
            <a:solidFill>
              <a:srgbClr val="F36B21"/>
            </a:solidFill>
            <a:prstDash val="solid"/>
          </a:ln>
        </p:spPr>
      </p:sp>
      <p:pic>
        <p:nvPicPr>
          <p:cNvPr id="26" name="soft-icon-3" descr="preencoded.png">    </p:cNvPr>
          <p:cNvPicPr>
            <a:picLocks noChangeAspect="1"/>
          </p:cNvPicPr>
          <p:nvPr/>
        </p:nvPicPr>
        <p:blipFill>
          <a:blip r:embed="rId7"/>
          <a:stretch>
            <a:fillRect/>
          </a:stretch>
        </p:blipFill>
        <p:spPr>
          <a:xfrm>
            <a:off x="7848600" y="6959600"/>
            <a:ext cx="355600" cy="355600"/>
          </a:xfrm>
          <a:prstGeom prst="rect">
            <a:avLst/>
          </a:prstGeom>
        </p:spPr>
      </p:pic>
      <p:sp>
        <p:nvSpPr>
          <p:cNvPr id="27" name="soft-text-3"/>
          <p:cNvSpPr/>
          <p:nvPr/>
        </p:nvSpPr>
        <p:spPr>
          <a:xfrm>
            <a:off x="8356600" y="6985000"/>
            <a:ext cx="2260600" cy="355600"/>
          </a:xfrm>
          <a:prstGeom prst="rect">
            <a:avLst/>
          </a:prstGeom>
          <a:noFill/>
          <a:ln/>
        </p:spPr>
        <p:txBody>
          <a:bodyPr wrap="none" lIns="0" tIns="0" rIns="0" bIns="0" rtlCol="0" anchor="t"/>
          <a:lstStyle/>
          <a:p>
            <a:pPr algn="l" indent="0" marL="0">
              <a:buNone/>
            </a:pPr>
            <a:r>
              <a:rPr lang="en-US" altLang="en-US" sz="1500" b="1" dirty="0">
                <a:solidFill>
                  <a:srgbClr val="1E1E1E"/>
                </a:solidFill>
                <a:latin typeface="Inter" pitchFamily="34" charset="0"/>
                <a:ea typeface="Inter" pitchFamily="34" charset="-122"/>
                <a:cs typeface="Inter" pitchFamily="34" charset="-120"/>
              </a:rPr>
              <a:t>Team Collaboration</a:t>
            </a:r>
            <a:endParaRPr lang="en-US" sz="1500" dirty="0"/>
          </a:p>
        </p:txBody>
      </p:sp>
      <p:sp>
        <p:nvSpPr>
          <p:cNvPr id="28" name="soft-card-4"/>
          <p:cNvSpPr/>
          <p:nvPr/>
        </p:nvSpPr>
        <p:spPr>
          <a:xfrm>
            <a:off x="11023600" y="6680200"/>
            <a:ext cx="4419600" cy="965200"/>
          </a:xfrm>
          <a:prstGeom prst="roundRect">
            <a:avLst>
              <a:gd name="adj" fmla="val 15789"/>
            </a:avLst>
          </a:prstGeom>
          <a:solidFill>
            <a:srgbClr val="FFD6BB"/>
          </a:solidFill>
          <a:ln w="12700">
            <a:solidFill>
              <a:srgbClr val="F36B21"/>
            </a:solidFill>
            <a:prstDash val="solid"/>
          </a:ln>
        </p:spPr>
      </p:sp>
      <p:pic>
        <p:nvPicPr>
          <p:cNvPr id="29" name="soft-icon-4" descr="preencoded.png">    </p:cNvPr>
          <p:cNvPicPr>
            <a:picLocks noChangeAspect="1"/>
          </p:cNvPicPr>
          <p:nvPr/>
        </p:nvPicPr>
        <p:blipFill>
          <a:blip r:embed="rId8"/>
          <a:stretch>
            <a:fillRect/>
          </a:stretch>
        </p:blipFill>
        <p:spPr>
          <a:xfrm>
            <a:off x="11252200" y="6959600"/>
            <a:ext cx="355600" cy="355600"/>
          </a:xfrm>
          <a:prstGeom prst="rect">
            <a:avLst/>
          </a:prstGeom>
        </p:spPr>
      </p:pic>
      <p:sp>
        <p:nvSpPr>
          <p:cNvPr id="30" name="soft-text-4"/>
          <p:cNvSpPr/>
          <p:nvPr/>
        </p:nvSpPr>
        <p:spPr>
          <a:xfrm>
            <a:off x="11760200" y="6985000"/>
            <a:ext cx="3048000" cy="355600"/>
          </a:xfrm>
          <a:prstGeom prst="rect">
            <a:avLst/>
          </a:prstGeom>
          <a:noFill/>
          <a:ln/>
        </p:spPr>
        <p:txBody>
          <a:bodyPr wrap="none" lIns="0" tIns="0" rIns="0" bIns="0" rtlCol="0" anchor="t"/>
          <a:lstStyle/>
          <a:p>
            <a:pPr algn="l" indent="0" marL="0">
              <a:buNone/>
            </a:pPr>
            <a:r>
              <a:rPr lang="en-US" altLang="en-US" sz="1500" b="1" dirty="0">
                <a:solidFill>
                  <a:srgbClr val="1E1E1E"/>
                </a:solidFill>
                <a:latin typeface="Inter" pitchFamily="34" charset="0"/>
                <a:ea typeface="Inter" pitchFamily="34" charset="-122"/>
                <a:cs typeface="Inter" pitchFamily="34" charset="-120"/>
              </a:rPr>
              <a:t>Insight Presentation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3EE"/>
        </a:solidFill>
      </p:bgPr>
    </p:bg>
    <p:spTree>
      <p:nvGrpSpPr>
        <p:cNvPr id="1" name=""/>
        <p:cNvGrpSpPr/>
        <p:nvPr/>
      </p:nvGrpSpPr>
      <p:grpSpPr>
        <a:xfrm>
          <a:off x="0" y="0"/>
          <a:ext cx="0" cy="0"/>
          <a:chOff x="0" y="0"/>
          <a:chExt cx="0" cy="0"/>
        </a:xfrm>
      </p:grpSpPr>
      <p:sp>
        <p:nvSpPr>
          <p:cNvPr id="2" name="ack-title"/>
          <p:cNvSpPr/>
          <p:nvPr/>
        </p:nvSpPr>
        <p:spPr>
          <a:xfrm>
            <a:off x="812800" y="660400"/>
            <a:ext cx="13716000" cy="609600"/>
          </a:xfrm>
          <a:prstGeom prst="rect">
            <a:avLst/>
          </a:prstGeom>
          <a:noFill/>
          <a:ln/>
        </p:spPr>
        <p:txBody>
          <a:bodyPr wrap="none" lIns="0" tIns="0" rIns="0" bIns="0" rtlCol="0" anchor="t"/>
          <a:lstStyle/>
          <a:p>
            <a:pPr algn="l" indent="0" marL="0">
              <a:buNone/>
            </a:pPr>
            <a:r>
              <a:rPr lang="en-US" altLang="en-US" sz="3400" dirty="0">
                <a:solidFill>
                  <a:srgbClr val="1E1E1E"/>
                </a:solidFill>
                <a:latin typeface="Aptos Display" pitchFamily="34" charset="0"/>
                <a:ea typeface="Aptos Display" pitchFamily="34" charset="-122"/>
                <a:cs typeface="Aptos Display" pitchFamily="34" charset="-120"/>
              </a:rPr>
              <a:t>Acknowledgements &amp; References</a:t>
            </a:r>
            <a:endParaRPr lang="en-US" sz="3400" dirty="0"/>
          </a:p>
        </p:txBody>
      </p:sp>
      <p:sp>
        <p:nvSpPr>
          <p:cNvPr id="3" name="ack-rule"/>
          <p:cNvSpPr/>
          <p:nvPr/>
        </p:nvSpPr>
        <p:spPr>
          <a:xfrm>
            <a:off x="812800" y="1422400"/>
            <a:ext cx="3022600" cy="9144"/>
          </a:xfrm>
          <a:prstGeom prst="line">
            <a:avLst/>
          </a:prstGeom>
          <a:ln w="50800">
            <a:solidFill>
              <a:srgbClr val="F36B21"/>
            </a:solidFill>
            <a:prstDash val="solid"/>
          </a:ln>
        </p:spPr>
      </p:sp>
      <p:sp>
        <p:nvSpPr>
          <p:cNvPr id="4" name="ack-panel"/>
          <p:cNvSpPr/>
          <p:nvPr/>
        </p:nvSpPr>
        <p:spPr>
          <a:xfrm>
            <a:off x="812800" y="1803400"/>
            <a:ext cx="6350000" cy="6578600"/>
          </a:xfrm>
          <a:prstGeom prst="roundRect">
            <a:avLst>
              <a:gd name="adj" fmla="val 2800"/>
            </a:avLst>
          </a:prstGeom>
          <a:solidFill>
            <a:srgbClr val="E8E2DC"/>
          </a:solidFill>
          <a:ln/>
        </p:spPr>
      </p:sp>
      <p:sp>
        <p:nvSpPr>
          <p:cNvPr id="5" name="ack-heading"/>
          <p:cNvSpPr/>
          <p:nvPr/>
        </p:nvSpPr>
        <p:spPr>
          <a:xfrm>
            <a:off x="1168400" y="2159000"/>
            <a:ext cx="50800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With Appreciation</a:t>
            </a:r>
            <a:endParaRPr lang="en-US" sz="1800" dirty="0"/>
          </a:p>
        </p:txBody>
      </p:sp>
      <p:sp>
        <p:nvSpPr>
          <p:cNvPr id="6" name="ack-list"/>
          <p:cNvSpPr/>
          <p:nvPr/>
        </p:nvSpPr>
        <p:spPr>
          <a:xfrm>
            <a:off x="1168400" y="2743200"/>
            <a:ext cx="5334000" cy="4648200"/>
          </a:xfrm>
          <a:prstGeom prst="rect">
            <a:avLst/>
          </a:prstGeom>
          <a:noFill/>
          <a:ln/>
        </p:spPr>
        <p:txBody>
          <a:bodyPr wrap="square" lIns="0" tIns="0" rIns="0" bIns="0" rtlCol="0" anchor="t"/>
          <a:lstStyle/>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Infosys Springboard – Virtual Internship 7.0</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Mentor – Ms. Nityasree</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Team D – Group 1</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Uppala Bhavya Sri</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V. Charita Sree</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Velpuri Sai Rohitha</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Venkata Puneeth Kothapalli</a:t>
            </a:r>
            <a:endParaRPr lang="en-US" sz="1600" dirty="0"/>
          </a:p>
          <a:p>
            <a:pPr algn="l" marL="254000" indent="-254000">
              <a:lnSpc>
                <a:spcPts val="2208"/>
              </a:lnSpc>
              <a:spcBef>
                <a:spcPts val="10"/>
              </a:spcBef>
              <a:buSzPct val="100000"/>
              <a:buChar char="•"/>
            </a:pPr>
            <a:r>
              <a:rPr lang="en-US" altLang="en-US" sz="1600" dirty="0">
                <a:solidFill>
                  <a:srgbClr val="1E1E1E"/>
                </a:solidFill>
                <a:latin typeface="Inter" pitchFamily="34" charset="0"/>
                <a:ea typeface="Inter" pitchFamily="34" charset="-122"/>
                <a:cs typeface="Inter" pitchFamily="34" charset="-120"/>
              </a:rPr>
              <a:t>Yuvasree P</a:t>
            </a:r>
            <a:endParaRPr lang="en-US" sz="1600" dirty="0"/>
          </a:p>
        </p:txBody>
      </p:sp>
      <p:sp>
        <p:nvSpPr>
          <p:cNvPr id="7" name="references-heading"/>
          <p:cNvSpPr/>
          <p:nvPr/>
        </p:nvSpPr>
        <p:spPr>
          <a:xfrm>
            <a:off x="8255000" y="2159000"/>
            <a:ext cx="5715000" cy="355600"/>
          </a:xfrm>
          <a:prstGeom prst="rect">
            <a:avLst/>
          </a:prstGeom>
          <a:noFill/>
          <a:ln/>
        </p:spPr>
        <p:txBody>
          <a:bodyPr wrap="none" lIns="0" tIns="0" rIns="0" bIns="0" rtlCol="0" anchor="t"/>
          <a:lstStyle/>
          <a:p>
            <a:pPr algn="l" indent="0" marL="0">
              <a:buNone/>
            </a:pPr>
            <a:r>
              <a:rPr lang="en-US" altLang="en-US" sz="1800" b="1" dirty="0">
                <a:solidFill>
                  <a:srgbClr val="1E1E1E"/>
                </a:solidFill>
                <a:latin typeface="Inter" pitchFamily="34" charset="0"/>
                <a:ea typeface="Inter" pitchFamily="34" charset="-122"/>
                <a:cs typeface="Inter" pitchFamily="34" charset="-120"/>
              </a:rPr>
              <a:t>Source Materials</a:t>
            </a:r>
            <a:endParaRPr lang="en-US" sz="1800" dirty="0"/>
          </a:p>
        </p:txBody>
      </p:sp>
      <p:sp>
        <p:nvSpPr>
          <p:cNvPr id="8" name="reference-1"/>
          <p:cNvSpPr/>
          <p:nvPr/>
        </p:nvSpPr>
        <p:spPr>
          <a:xfrm>
            <a:off x="8255000" y="2743200"/>
            <a:ext cx="6858000" cy="1219200"/>
          </a:xfrm>
          <a:prstGeom prst="rect">
            <a:avLst/>
          </a:prstGeom>
          <a:noFill/>
          <a:ln/>
        </p:spPr>
        <p:txBody>
          <a:bodyPr wrap="square" lIns="0" tIns="0" rIns="0" bIns="0" rtlCol="0" anchor="t"/>
          <a:lstStyle/>
          <a:p>
            <a:pPr algn="l" indent="0" marL="0">
              <a:lnSpc>
                <a:spcPts val="1800"/>
              </a:lnSpc>
              <a:buNone/>
            </a:pPr>
            <a:r>
              <a:rPr lang="en-US" altLang="en-US" sz="1500" b="1" dirty="0">
                <a:solidFill>
                  <a:srgbClr val="1E1E1E"/>
                </a:solidFill>
                <a:latin typeface="Inter" pitchFamily="34" charset="0"/>
                <a:ea typeface="Inter" pitchFamily="34" charset="-122"/>
                <a:cs typeface="Inter" pitchFamily="34" charset="-120"/>
              </a:rPr>
              <a:t>Project Dataset</a:t>
            </a:r>
            <a:endParaRPr lang="en-US" sz="1500" dirty="0"/>
          </a:p>
          <a:p>
            <a:pPr algn="l" indent="0" marL="0">
              <a:lnSpc>
                <a:spcPts val="1800"/>
              </a:lnSpc>
              <a:buNone/>
            </a:pPr>
            <a:r>
              <a:rPr lang="en-US" altLang="en-US" sz="1500" dirty="0">
                <a:solidFill>
                  <a:srgbClr val="1E1E1E"/>
                </a:solidFill>
                <a:latin typeface="Inter" pitchFamily="34" charset="0"/>
                <a:ea typeface="Inter" pitchFamily="34" charset="-122"/>
                <a:cs typeface="Inter" pitchFamily="34" charset="-120"/>
              </a:rPr>
              <a:t>Project data used to examine shipment flow, stock levels, suppliers, products, transport activity, cost, and delivery performance.</a:t>
            </a:r>
            <a:endParaRPr lang="en-US" sz="1500" dirty="0"/>
          </a:p>
        </p:txBody>
      </p:sp>
      <p:sp>
        <p:nvSpPr>
          <p:cNvPr id="9" name="reference-rule-1"/>
          <p:cNvSpPr/>
          <p:nvPr/>
        </p:nvSpPr>
        <p:spPr>
          <a:xfrm>
            <a:off x="8255000" y="4191000"/>
            <a:ext cx="6858000" cy="9144"/>
          </a:xfrm>
          <a:prstGeom prst="line">
            <a:avLst/>
          </a:prstGeom>
          <a:ln w="12700">
            <a:solidFill>
              <a:srgbClr val="F36B21"/>
            </a:solidFill>
            <a:prstDash val="solid"/>
          </a:ln>
        </p:spPr>
      </p:sp>
      <p:sp>
        <p:nvSpPr>
          <p:cNvPr id="10" name="reference-2"/>
          <p:cNvSpPr/>
          <p:nvPr/>
        </p:nvSpPr>
        <p:spPr>
          <a:xfrm>
            <a:off x="8255000" y="4445000"/>
            <a:ext cx="6858000" cy="1219200"/>
          </a:xfrm>
          <a:prstGeom prst="rect">
            <a:avLst/>
          </a:prstGeom>
          <a:noFill/>
          <a:ln/>
        </p:spPr>
        <p:txBody>
          <a:bodyPr wrap="square" lIns="0" tIns="0" rIns="0" bIns="0" rtlCol="0" anchor="t"/>
          <a:lstStyle/>
          <a:p>
            <a:pPr algn="l" indent="0" marL="0">
              <a:lnSpc>
                <a:spcPts val="1800"/>
              </a:lnSpc>
              <a:buNone/>
            </a:pPr>
            <a:r>
              <a:rPr lang="en-US" altLang="en-US" sz="1500" b="1" dirty="0">
                <a:solidFill>
                  <a:srgbClr val="1E1E1E"/>
                </a:solidFill>
                <a:latin typeface="Inter" pitchFamily="34" charset="0"/>
                <a:ea typeface="Inter" pitchFamily="34" charset="-122"/>
                <a:cs typeface="Inter" pitchFamily="34" charset="-120"/>
              </a:rPr>
              <a:t>Microsoft Power BI Guides</a:t>
            </a:r>
            <a:endParaRPr lang="en-US" sz="1500" dirty="0"/>
          </a:p>
          <a:p>
            <a:pPr algn="l" indent="0" marL="0">
              <a:lnSpc>
                <a:spcPts val="1800"/>
              </a:lnSpc>
              <a:buNone/>
            </a:pPr>
            <a:r>
              <a:rPr lang="en-US" altLang="en-US" sz="1500" dirty="0">
                <a:solidFill>
                  <a:srgbClr val="1E1E1E"/>
                </a:solidFill>
                <a:latin typeface="Inter" pitchFamily="34" charset="0"/>
                <a:ea typeface="Inter" pitchFamily="34" charset="-122"/>
                <a:cs typeface="Inter" pitchFamily="34" charset="-120"/>
              </a:rPr>
              <a:t>Microsoft learning resources consulted for report construction, DAX measures, and data-model design.</a:t>
            </a:r>
            <a:endParaRPr lang="en-US" sz="1500" dirty="0"/>
          </a:p>
        </p:txBody>
      </p:sp>
      <p:sp>
        <p:nvSpPr>
          <p:cNvPr id="11" name="reference-rule-2"/>
          <p:cNvSpPr/>
          <p:nvPr/>
        </p:nvSpPr>
        <p:spPr>
          <a:xfrm>
            <a:off x="8255000" y="5892800"/>
            <a:ext cx="6858000" cy="9144"/>
          </a:xfrm>
          <a:prstGeom prst="line">
            <a:avLst/>
          </a:prstGeom>
          <a:ln w="12700">
            <a:solidFill>
              <a:srgbClr val="F36B21"/>
            </a:solidFill>
            <a:prstDash val="solid"/>
          </a:ln>
        </p:spPr>
      </p:sp>
      <p:sp>
        <p:nvSpPr>
          <p:cNvPr id="12" name="reference-3"/>
          <p:cNvSpPr/>
          <p:nvPr/>
        </p:nvSpPr>
        <p:spPr>
          <a:xfrm>
            <a:off x="8255000" y="6146800"/>
            <a:ext cx="6858000" cy="1016000"/>
          </a:xfrm>
          <a:prstGeom prst="rect">
            <a:avLst/>
          </a:prstGeom>
          <a:noFill/>
          <a:ln/>
        </p:spPr>
        <p:txBody>
          <a:bodyPr wrap="square" lIns="0" tIns="0" rIns="0" bIns="0" rtlCol="0" anchor="t"/>
          <a:lstStyle/>
          <a:p>
            <a:pPr algn="l" indent="0" marL="0">
              <a:lnSpc>
                <a:spcPts val="1800"/>
              </a:lnSpc>
              <a:buNone/>
            </a:pPr>
            <a:r>
              <a:rPr lang="en-US" altLang="en-US" sz="1500" b="1" dirty="0">
                <a:solidFill>
                  <a:srgbClr val="1E1E1E"/>
                </a:solidFill>
                <a:latin typeface="Inter" pitchFamily="34" charset="0"/>
                <a:ea typeface="Inter" pitchFamily="34" charset="-122"/>
                <a:cs typeface="Inter" pitchFamily="34" charset="-120"/>
              </a:rPr>
              <a:t>Infosys Springboard Learning</a:t>
            </a:r>
            <a:endParaRPr lang="en-US" sz="1500" dirty="0"/>
          </a:p>
          <a:p>
            <a:pPr algn="l" indent="0" marL="0">
              <a:lnSpc>
                <a:spcPts val="1800"/>
              </a:lnSpc>
              <a:buNone/>
            </a:pPr>
            <a:r>
              <a:rPr lang="en-US" altLang="en-US" sz="1500" dirty="0">
                <a:solidFill>
                  <a:srgbClr val="1E1E1E"/>
                </a:solidFill>
                <a:latin typeface="Inter" pitchFamily="34" charset="0"/>
                <a:ea typeface="Inter" pitchFamily="34" charset="-122"/>
                <a:cs typeface="Inter" pitchFamily="34" charset="-120"/>
              </a:rPr>
              <a:t>Course content and learning material supplied through the Virtual Internship 7.0 programme.</a:t>
            </a:r>
            <a:endParaRPr lang="en-US" sz="1500" dirty="0"/>
          </a:p>
        </p:txBody>
      </p:sp>
      <p:sp>
        <p:nvSpPr>
          <p:cNvPr id="13" name="reference-rule-3"/>
          <p:cNvSpPr/>
          <p:nvPr/>
        </p:nvSpPr>
        <p:spPr>
          <a:xfrm>
            <a:off x="8255000" y="7391400"/>
            <a:ext cx="6858000" cy="9144"/>
          </a:xfrm>
          <a:prstGeom prst="line">
            <a:avLst/>
          </a:prstGeom>
          <a:ln w="12700">
            <a:solidFill>
              <a:srgbClr val="F36B21"/>
            </a:solidFill>
            <a:prstDash val="solid"/>
          </a:ln>
        </p:spPr>
      </p:sp>
      <p:sp>
        <p:nvSpPr>
          <p:cNvPr id="14" name="reference-4"/>
          <p:cNvSpPr/>
          <p:nvPr/>
        </p:nvSpPr>
        <p:spPr>
          <a:xfrm>
            <a:off x="8255000" y="7620000"/>
            <a:ext cx="6858000" cy="736600"/>
          </a:xfrm>
          <a:prstGeom prst="rect">
            <a:avLst/>
          </a:prstGeom>
          <a:noFill/>
          <a:ln/>
        </p:spPr>
        <p:txBody>
          <a:bodyPr wrap="square" lIns="0" tIns="0" rIns="0" bIns="0" rtlCol="0" anchor="t"/>
          <a:lstStyle/>
          <a:p>
            <a:pPr algn="l" indent="0" marL="0">
              <a:lnSpc>
                <a:spcPts val="1800"/>
              </a:lnSpc>
              <a:buNone/>
            </a:pPr>
            <a:r>
              <a:rPr lang="en-US" altLang="en-US" sz="1500" b="1" dirty="0">
                <a:solidFill>
                  <a:srgbClr val="1E1E1E"/>
                </a:solidFill>
                <a:latin typeface="Inter" pitchFamily="34" charset="0"/>
                <a:ea typeface="Inter" pitchFamily="34" charset="-122"/>
                <a:cs typeface="Inter" pitchFamily="34" charset="-120"/>
              </a:rPr>
              <a:t>Additional Power BI Materials</a:t>
            </a:r>
            <a:endParaRPr lang="en-US" sz="1500" dirty="0"/>
          </a:p>
          <a:p>
            <a:pPr algn="l" indent="0" marL="0">
              <a:lnSpc>
                <a:spcPts val="1800"/>
              </a:lnSpc>
              <a:buNone/>
            </a:pPr>
            <a:r>
              <a:rPr lang="en-US" altLang="en-US" sz="1500" dirty="0">
                <a:solidFill>
                  <a:srgbClr val="1E1E1E"/>
                </a:solidFill>
                <a:latin typeface="Inter" pitchFamily="34" charset="0"/>
                <a:ea typeface="Inter" pitchFamily="34" charset="-122"/>
                <a:cs typeface="Inter" pitchFamily="34" charset="-120"/>
              </a:rPr>
              <a:t>Supplementary modeling and visual-design resources reviewed during report development and refinement.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3EE"/>
        </a:solidFill>
      </p:bgPr>
    </p:bg>
    <p:spTree>
      <p:nvGrpSpPr>
        <p:cNvPr id="1" name=""/>
        <p:cNvGrpSpPr/>
        <p:nvPr/>
      </p:nvGrpSpPr>
      <p:grpSpPr>
        <a:xfrm>
          <a:off x="0" y="0"/>
          <a:ext cx="0" cy="0"/>
          <a:chOff x="0" y="0"/>
          <a:chExt cx="0" cy="0"/>
        </a:xfrm>
      </p:grpSpPr>
      <p:sp>
        <p:nvSpPr>
          <p:cNvPr id="2" name="thank-you-text"/>
          <p:cNvSpPr/>
          <p:nvPr/>
        </p:nvSpPr>
        <p:spPr>
          <a:xfrm>
            <a:off x="2286000" y="3556000"/>
            <a:ext cx="11684000" cy="2032000"/>
          </a:xfrm>
          <a:prstGeom prst="rect">
            <a:avLst/>
          </a:prstGeom>
          <a:noFill/>
          <a:ln/>
        </p:spPr>
        <p:txBody>
          <a:bodyPr wrap="none" lIns="0" tIns="0" rIns="0" bIns="0" rtlCol="0" anchor="ctr"/>
          <a:lstStyle/>
          <a:p>
            <a:pPr algn="ctr" indent="0" marL="0">
              <a:buNone/>
            </a:pPr>
            <a:r>
              <a:rPr lang="en-US" altLang="en-US" sz="5800" dirty="0">
                <a:solidFill>
                  <a:srgbClr val="1E1E1E"/>
                </a:solidFill>
                <a:latin typeface="Aptos Display" pitchFamily="34" charset="0"/>
                <a:ea typeface="Aptos Display" pitchFamily="34" charset="-122"/>
                <a:cs typeface="Aptos Display" pitchFamily="34" charset="-120"/>
              </a:rPr>
              <a:t>THANK YOU</a:t>
            </a:r>
            <a:endParaRPr lang="en-US" sz="5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Manus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Visibility System with Optimization Analytics</dc:title>
  <dc:subject>Supply Chain Visibility System with Optimization Analytics</dc:subject>
  <dc:creator>Manus</dc:creator>
  <cp:lastModifiedBy>Manus</cp:lastModifiedBy>
  <cp:revision>1</cp:revision>
  <dcterms:created xsi:type="dcterms:W3CDTF">2026-08-19T13:11:32Z</dcterms:created>
  <dcterms:modified xsi:type="dcterms:W3CDTF">2026-08-19T13:11:32Z</dcterms:modified>
</cp:coreProperties>
</file>