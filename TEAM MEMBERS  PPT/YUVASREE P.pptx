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502920"/>
            <a:ext cx="297180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66760" y="777240"/>
            <a:ext cx="2057400" cy="109728"/>
          </a:xfrm>
          <a:prstGeom prst="roundRect">
            <a:avLst/>
          </a:prstGeom>
          <a:solidFill>
            <a:srgbClr val="E2D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38360" y="5440680"/>
            <a:ext cx="1600200" cy="137160"/>
          </a:xfrm>
          <a:prstGeom prst="round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2DAF4"/>
                </a:solidFill>
                <a:latin typeface="Aptos Display"/>
              </a:defRPr>
            </a:pPr>
            <a:r>
              <a:t>INFOSYS SPRINGBOARD • VIRTUAL INTERNSHIP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6446520" cy="18774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SUPPLY CHAIN VISIBILITY SYSTEM</a:t>
            </a:r>
            <a:br>
              <a:rPr dirty="0"/>
            </a:br>
            <a:r>
              <a:rPr dirty="0"/>
              <a:t>WITH OPTIMIZATION ANALYTICS</a:t>
            </a:r>
            <a:r>
              <a:rPr lang="en-IN" dirty="0"/>
              <a:t> GROUP 1</a:t>
            </a:r>
          </a:p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1E6F0"/>
                </a:solidFill>
                <a:latin typeface="Aptos Display"/>
              </a:defRPr>
            </a:pPr>
            <a:r>
              <a:t>An Interactive Power BI Dashboard for Supply Chain 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57600"/>
            <a:ext cx="626364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Team Members:   </a:t>
            </a:r>
            <a:endParaRPr lang="en-IN" dirty="0"/>
          </a:p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Uppala Bhavya Sri </a:t>
            </a:r>
            <a:endParaRPr lang="en-IN" dirty="0"/>
          </a:p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V. Charita Sree</a:t>
            </a:r>
            <a:br>
              <a:rPr dirty="0"/>
            </a:br>
            <a:r>
              <a:rPr dirty="0" err="1"/>
              <a:t>Velpuri</a:t>
            </a:r>
            <a:r>
              <a:rPr dirty="0"/>
              <a:t> Sai Rohitha</a:t>
            </a:r>
            <a:endParaRPr lang="en-IN" dirty="0"/>
          </a:p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 |Venkata Puneeth Kothapalli |</a:t>
            </a:r>
            <a:endParaRPr lang="en-IN" dirty="0"/>
          </a:p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Yuvasree P</a:t>
            </a:r>
            <a:br>
              <a:rPr dirty="0"/>
            </a:br>
            <a:r>
              <a:rPr dirty="0"/>
              <a:t>Team D • Group 1</a:t>
            </a:r>
            <a:br>
              <a:rPr dirty="0"/>
            </a:br>
            <a:r>
              <a:rPr dirty="0"/>
              <a:t>Mentor: Ms. Nityasree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246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79" y="2423160"/>
            <a:ext cx="1508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21240" y="2423160"/>
            <a:ext cx="1508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79" y="3611880"/>
            <a:ext cx="3246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44475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B264A"/>
                </a:solidFill>
                <a:latin typeface="Aptos Display"/>
              </a:defRPr>
            </a:pPr>
            <a:r>
              <a:t>80,519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47088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862"/>
                </a:solidFill>
                <a:latin typeface="Aptos Display"/>
              </a:defRPr>
            </a:pPr>
            <a:r>
              <a:t>SUPPLY CHAIN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B264A"/>
                </a:solidFill>
                <a:latin typeface="Aptos Display"/>
              </a:defRPr>
            </a:pPr>
            <a:r>
              <a:t>17.83%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017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ON-TIME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B264A"/>
                </a:solidFill>
                <a:latin typeface="Aptos Display"/>
              </a:defRPr>
            </a:pPr>
            <a:r>
              <a:t>54.82%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3017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679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33672"/>
            <a:ext cx="2697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ANALYTICS • VISIBILITY •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3566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Transform raw supply chain data into meaningful visual insights.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Analyze sales, orders, customers, products and delivery operations.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Evaluate geographic markets, costs, discounts and profitability.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Develop interactive Power BI dashboards for data-driven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Project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13248"/>
            <a:ext cx="521208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Sales &amp; Delivery Analysis • Customer &amp; Product Insights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Geographic &amp; Market Performance • Cost &amp; Profitability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Order Value &amp; Performance Insights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292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PROJECT EXECUTION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51560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1 – Data Acquisition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99031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19191E"/>
                </a:solidFill>
              </a:rPr>
              <a:t>Studied the </a:t>
            </a:r>
            <a:r>
              <a:rPr dirty="0" err="1">
                <a:solidFill>
                  <a:srgbClr val="19191E"/>
                </a:solidFill>
              </a:rPr>
              <a:t>DataCoSupplyChainDataset</a:t>
            </a:r>
            <a:r>
              <a:rPr dirty="0">
                <a:solidFill>
                  <a:srgbClr val="19191E"/>
                </a:solidFill>
              </a:rPr>
              <a:t> and prepared the data using Power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313432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2 – Data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60903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Structured the data and created DAX measures for sales, profit, orders, customers and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75303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3 –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922776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Built interactive Power BI dashboard pages using suitable analytical visuals.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37175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4 – Review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184647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Validated calculations and improved dashboard readability, consistency and usability.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35489-45DF-6CA9-0A23-C5D47DCB6CFF}"/>
              </a:ext>
            </a:extLst>
          </p:cNvPr>
          <p:cNvSpPr txBox="1"/>
          <p:nvPr/>
        </p:nvSpPr>
        <p:spPr>
          <a:xfrm>
            <a:off x="4769443" y="-391851"/>
            <a:ext cx="47277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0A1C30"/>
                </a:solidFill>
                <a:latin typeface="Aptos"/>
              </a:rPr>
              <a:t> </a:t>
            </a: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id="{0C1B7D9F-6810-B7DC-A3F6-58CE21181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857" y="-2451610"/>
            <a:ext cx="1210818" cy="109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28528" tIns="122199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Execution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WORKFLOW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85C3FD-072C-53B6-C68E-595BED4A95D9}"/>
              </a:ext>
            </a:extLst>
          </p:cNvPr>
          <p:cNvGrpSpPr>
            <a:grpSpLocks/>
          </p:cNvGrpSpPr>
          <p:nvPr/>
        </p:nvGrpSpPr>
        <p:grpSpPr>
          <a:xfrm>
            <a:off x="1121671" y="1297768"/>
            <a:ext cx="3086003" cy="5151189"/>
            <a:chOff x="-91504" y="66734"/>
            <a:chExt cx="3212529" cy="7133404"/>
          </a:xfrm>
        </p:grpSpPr>
        <p:sp>
          <p:nvSpPr>
            <p:cNvPr id="19" name="Graphic 19">
              <a:extLst>
                <a:ext uri="{FF2B5EF4-FFF2-40B4-BE49-F238E27FC236}">
                  <a16:creationId xmlns:a16="http://schemas.microsoft.com/office/drawing/2014/main" id="{B97F6697-52EF-89E1-26DF-5BA605C2484E}"/>
                </a:ext>
              </a:extLst>
            </p:cNvPr>
            <p:cNvSpPr/>
            <p:nvPr/>
          </p:nvSpPr>
          <p:spPr>
            <a:xfrm>
              <a:off x="-91504" y="6833109"/>
              <a:ext cx="3089275" cy="367029"/>
            </a:xfrm>
            <a:custGeom>
              <a:avLst/>
              <a:gdLst/>
              <a:ahLst/>
              <a:cxnLst/>
              <a:rect l="l" t="t" r="r" b="b"/>
              <a:pathLst>
                <a:path w="3089275" h="367030">
                  <a:moveTo>
                    <a:pt x="0" y="367030"/>
                  </a:moveTo>
                  <a:lnTo>
                    <a:pt x="3089275" y="367030"/>
                  </a:lnTo>
                  <a:lnTo>
                    <a:pt x="3089275" y="0"/>
                  </a:lnTo>
                  <a:lnTo>
                    <a:pt x="0" y="0"/>
                  </a:lnTo>
                  <a:lnTo>
                    <a:pt x="0" y="367030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lvl="2"/>
              <a:r>
                <a:rPr lang="en-IN" sz="1200" dirty="0"/>
                <a:t>Share and Publish</a:t>
              </a:r>
            </a:p>
          </p:txBody>
        </p:sp>
        <p:pic>
          <p:nvPicPr>
            <p:cNvPr id="20" name="Image 20">
              <a:extLst>
                <a:ext uri="{FF2B5EF4-FFF2-40B4-BE49-F238E27FC236}">
                  <a16:creationId xmlns:a16="http://schemas.microsoft.com/office/drawing/2014/main" id="{24C08AEC-C16C-A53E-253B-579A024876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136" y="3757137"/>
              <a:ext cx="168806" cy="509649"/>
            </a:xfrm>
            <a:prstGeom prst="rect">
              <a:avLst/>
            </a:prstGeom>
          </p:spPr>
        </p:pic>
        <p:pic>
          <p:nvPicPr>
            <p:cNvPr id="21" name="Image 21">
              <a:extLst>
                <a:ext uri="{FF2B5EF4-FFF2-40B4-BE49-F238E27FC236}">
                  <a16:creationId xmlns:a16="http://schemas.microsoft.com/office/drawing/2014/main" id="{55E565D0-AFA0-F354-A117-8FB549334A1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103" y="4102227"/>
              <a:ext cx="114300" cy="115570"/>
            </a:xfrm>
            <a:prstGeom prst="rect">
              <a:avLst/>
            </a:prstGeom>
          </p:spPr>
        </p:pic>
        <p:sp>
          <p:nvSpPr>
            <p:cNvPr id="22" name="Graphic 22">
              <a:extLst>
                <a:ext uri="{FF2B5EF4-FFF2-40B4-BE49-F238E27FC236}">
                  <a16:creationId xmlns:a16="http://schemas.microsoft.com/office/drawing/2014/main" id="{A5E2EC19-993F-B572-0221-A432B55394B9}"/>
                </a:ext>
              </a:extLst>
            </p:cNvPr>
            <p:cNvSpPr/>
            <p:nvPr/>
          </p:nvSpPr>
          <p:spPr>
            <a:xfrm>
              <a:off x="1371091" y="3767201"/>
              <a:ext cx="45720" cy="337185"/>
            </a:xfrm>
            <a:custGeom>
              <a:avLst/>
              <a:gdLst/>
              <a:ahLst/>
              <a:cxnLst/>
              <a:rect l="l" t="t" r="r" b="b"/>
              <a:pathLst>
                <a:path w="45720" h="337185">
                  <a:moveTo>
                    <a:pt x="38100" y="0"/>
                  </a:moveTo>
                  <a:lnTo>
                    <a:pt x="0" y="762"/>
                  </a:lnTo>
                  <a:lnTo>
                    <a:pt x="7112" y="336677"/>
                  </a:lnTo>
                  <a:lnTo>
                    <a:pt x="45212" y="3357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3" name="Image 23">
              <a:extLst>
                <a:ext uri="{FF2B5EF4-FFF2-40B4-BE49-F238E27FC236}">
                  <a16:creationId xmlns:a16="http://schemas.microsoft.com/office/drawing/2014/main" id="{922D5BA7-BDB6-DBAC-FCAF-A659B953ED6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319" y="6214719"/>
              <a:ext cx="310959" cy="736092"/>
            </a:xfrm>
            <a:prstGeom prst="rect">
              <a:avLst/>
            </a:prstGeom>
          </p:spPr>
        </p:pic>
        <p:pic>
          <p:nvPicPr>
            <p:cNvPr id="24" name="Image 24">
              <a:extLst>
                <a:ext uri="{FF2B5EF4-FFF2-40B4-BE49-F238E27FC236}">
                  <a16:creationId xmlns:a16="http://schemas.microsoft.com/office/drawing/2014/main" id="{8400BF31-DA2C-628D-A469-159988A4318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2252" y="6659550"/>
              <a:ext cx="114300" cy="114960"/>
            </a:xfrm>
            <a:prstGeom prst="rect">
              <a:avLst/>
            </a:prstGeom>
          </p:spPr>
        </p:pic>
        <p:sp>
          <p:nvSpPr>
            <p:cNvPr id="25" name="Graphic 25">
              <a:extLst>
                <a:ext uri="{FF2B5EF4-FFF2-40B4-BE49-F238E27FC236}">
                  <a16:creationId xmlns:a16="http://schemas.microsoft.com/office/drawing/2014/main" id="{ACC119DB-1463-34BB-7712-EEA0B33B85E1}"/>
                </a:ext>
              </a:extLst>
            </p:cNvPr>
            <p:cNvSpPr/>
            <p:nvPr/>
          </p:nvSpPr>
          <p:spPr>
            <a:xfrm>
              <a:off x="1295400" y="6233921"/>
              <a:ext cx="43180" cy="426720"/>
            </a:xfrm>
            <a:custGeom>
              <a:avLst/>
              <a:gdLst/>
              <a:ahLst/>
              <a:cxnLst/>
              <a:rect l="l" t="t" r="r" b="b"/>
              <a:pathLst>
                <a:path w="43180" h="426720">
                  <a:moveTo>
                    <a:pt x="38100" y="0"/>
                  </a:moveTo>
                  <a:lnTo>
                    <a:pt x="0" y="507"/>
                  </a:lnTo>
                  <a:lnTo>
                    <a:pt x="4952" y="426516"/>
                  </a:lnTo>
                  <a:lnTo>
                    <a:pt x="43052" y="426072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6" name="Image 26">
              <a:extLst>
                <a:ext uri="{FF2B5EF4-FFF2-40B4-BE49-F238E27FC236}">
                  <a16:creationId xmlns:a16="http://schemas.microsoft.com/office/drawing/2014/main" id="{1E3FBE79-DD1E-D7DF-1F09-208F2ED7C35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1380" y="4670774"/>
              <a:ext cx="159922" cy="369441"/>
            </a:xfrm>
            <a:prstGeom prst="rect">
              <a:avLst/>
            </a:prstGeom>
          </p:spPr>
        </p:pic>
        <p:pic>
          <p:nvPicPr>
            <p:cNvPr id="27" name="Image 27">
              <a:extLst>
                <a:ext uri="{FF2B5EF4-FFF2-40B4-BE49-F238E27FC236}">
                  <a16:creationId xmlns:a16="http://schemas.microsoft.com/office/drawing/2014/main" id="{B9D14C60-24A9-E8FD-7A17-D48F1C30333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6067" y="4680711"/>
              <a:ext cx="114300" cy="318770"/>
            </a:xfrm>
            <a:prstGeom prst="rect">
              <a:avLst/>
            </a:prstGeom>
          </p:spPr>
        </p:pic>
        <p:sp>
          <p:nvSpPr>
            <p:cNvPr id="28" name="Graphic 28">
              <a:extLst>
                <a:ext uri="{FF2B5EF4-FFF2-40B4-BE49-F238E27FC236}">
                  <a16:creationId xmlns:a16="http://schemas.microsoft.com/office/drawing/2014/main" id="{4DE18EC0-AF51-9C3A-4093-0B5843FBF06F}"/>
                </a:ext>
              </a:extLst>
            </p:cNvPr>
            <p:cNvSpPr/>
            <p:nvPr/>
          </p:nvSpPr>
          <p:spPr>
            <a:xfrm>
              <a:off x="-57597" y="872541"/>
              <a:ext cx="2955926" cy="2929255"/>
            </a:xfrm>
            <a:custGeom>
              <a:avLst/>
              <a:gdLst/>
              <a:ahLst/>
              <a:cxnLst/>
              <a:rect l="l" t="t" r="r" b="b"/>
              <a:pathLst>
                <a:path w="2955925" h="2929255">
                  <a:moveTo>
                    <a:pt x="0" y="325120"/>
                  </a:moveTo>
                  <a:lnTo>
                    <a:pt x="2908935" y="325120"/>
                  </a:lnTo>
                  <a:lnTo>
                    <a:pt x="2908935" y="0"/>
                  </a:lnTo>
                  <a:lnTo>
                    <a:pt x="0" y="0"/>
                  </a:lnTo>
                  <a:lnTo>
                    <a:pt x="0" y="325120"/>
                  </a:lnTo>
                  <a:close/>
                </a:path>
                <a:path w="2955925" h="2929255">
                  <a:moveTo>
                    <a:pt x="20955" y="1260475"/>
                  </a:moveTo>
                  <a:lnTo>
                    <a:pt x="2900680" y="1260475"/>
                  </a:lnTo>
                  <a:lnTo>
                    <a:pt x="2900680" y="824229"/>
                  </a:lnTo>
                  <a:lnTo>
                    <a:pt x="20955" y="824229"/>
                  </a:lnTo>
                  <a:lnTo>
                    <a:pt x="20955" y="1260475"/>
                  </a:lnTo>
                  <a:close/>
                </a:path>
                <a:path w="2955925" h="2929255">
                  <a:moveTo>
                    <a:pt x="34925" y="2063750"/>
                  </a:moveTo>
                  <a:lnTo>
                    <a:pt x="2935605" y="2063750"/>
                  </a:lnTo>
                  <a:lnTo>
                    <a:pt x="2935605" y="1655445"/>
                  </a:lnTo>
                  <a:lnTo>
                    <a:pt x="34925" y="1655445"/>
                  </a:lnTo>
                  <a:lnTo>
                    <a:pt x="34925" y="2063750"/>
                  </a:lnTo>
                  <a:close/>
                </a:path>
                <a:path w="2955925" h="2929255">
                  <a:moveTo>
                    <a:pt x="20955" y="2929254"/>
                  </a:moveTo>
                  <a:lnTo>
                    <a:pt x="2955924" y="2929254"/>
                  </a:lnTo>
                  <a:lnTo>
                    <a:pt x="2955924" y="2541904"/>
                  </a:lnTo>
                  <a:lnTo>
                    <a:pt x="20955" y="2541904"/>
                  </a:lnTo>
                  <a:lnTo>
                    <a:pt x="20955" y="2929254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9" name="Image 29">
              <a:extLst>
                <a:ext uri="{FF2B5EF4-FFF2-40B4-BE49-F238E27FC236}">
                  <a16:creationId xmlns:a16="http://schemas.microsoft.com/office/drawing/2014/main" id="{9E138972-4AE0-C62A-1597-0C1C7B0FAF3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6472" y="421665"/>
              <a:ext cx="310959" cy="556234"/>
            </a:xfrm>
            <a:prstGeom prst="rect">
              <a:avLst/>
            </a:prstGeom>
          </p:spPr>
        </p:pic>
        <p:sp>
          <p:nvSpPr>
            <p:cNvPr id="30" name="Graphic 30">
              <a:extLst>
                <a:ext uri="{FF2B5EF4-FFF2-40B4-BE49-F238E27FC236}">
                  <a16:creationId xmlns:a16="http://schemas.microsoft.com/office/drawing/2014/main" id="{2318883D-5487-7FC9-913A-84902E795C7E}"/>
                </a:ext>
              </a:extLst>
            </p:cNvPr>
            <p:cNvSpPr/>
            <p:nvPr/>
          </p:nvSpPr>
          <p:spPr>
            <a:xfrm>
              <a:off x="1336675" y="441324"/>
              <a:ext cx="114300" cy="360045"/>
            </a:xfrm>
            <a:custGeom>
              <a:avLst/>
              <a:gdLst/>
              <a:ahLst/>
              <a:cxnLst/>
              <a:rect l="l" t="t" r="r" b="b"/>
              <a:pathLst>
                <a:path w="114300" h="360045">
                  <a:moveTo>
                    <a:pt x="114300" y="245745"/>
                  </a:moveTo>
                  <a:lnTo>
                    <a:pt x="76200" y="245745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45745"/>
                  </a:lnTo>
                  <a:lnTo>
                    <a:pt x="0" y="245745"/>
                  </a:lnTo>
                  <a:lnTo>
                    <a:pt x="57150" y="360045"/>
                  </a:lnTo>
                  <a:lnTo>
                    <a:pt x="104775" y="264795"/>
                  </a:lnTo>
                  <a:lnTo>
                    <a:pt x="114300" y="245745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31" name="Image 31">
              <a:extLst>
                <a:ext uri="{FF2B5EF4-FFF2-40B4-BE49-F238E27FC236}">
                  <a16:creationId xmlns:a16="http://schemas.microsoft.com/office/drawing/2014/main" id="{905636C8-FE1B-3027-E121-F163E98D471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0375" y="1163853"/>
              <a:ext cx="310959" cy="638530"/>
            </a:xfrm>
            <a:prstGeom prst="rect">
              <a:avLst/>
            </a:prstGeom>
          </p:spPr>
        </p:pic>
        <p:pic>
          <p:nvPicPr>
            <p:cNvPr id="32" name="Image 32">
              <a:extLst>
                <a:ext uri="{FF2B5EF4-FFF2-40B4-BE49-F238E27FC236}">
                  <a16:creationId xmlns:a16="http://schemas.microsoft.com/office/drawing/2014/main" id="{2DC07CEF-3495-9F63-C21F-1C34C50001E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2611" y="1511046"/>
              <a:ext cx="114300" cy="115188"/>
            </a:xfrm>
            <a:prstGeom prst="rect">
              <a:avLst/>
            </a:prstGeom>
          </p:spPr>
        </p:pic>
        <p:sp>
          <p:nvSpPr>
            <p:cNvPr id="33" name="Graphic 33">
              <a:extLst>
                <a:ext uri="{FF2B5EF4-FFF2-40B4-BE49-F238E27FC236}">
                  <a16:creationId xmlns:a16="http://schemas.microsoft.com/office/drawing/2014/main" id="{47840375-56BC-EEF5-5426-09C084F54591}"/>
                </a:ext>
              </a:extLst>
            </p:cNvPr>
            <p:cNvSpPr/>
            <p:nvPr/>
          </p:nvSpPr>
          <p:spPr>
            <a:xfrm>
              <a:off x="1370711" y="1184021"/>
              <a:ext cx="43180" cy="328295"/>
            </a:xfrm>
            <a:custGeom>
              <a:avLst/>
              <a:gdLst/>
              <a:ahLst/>
              <a:cxnLst/>
              <a:rect l="l" t="t" r="r" b="b"/>
              <a:pathLst>
                <a:path w="43180" h="328295">
                  <a:moveTo>
                    <a:pt x="4699" y="0"/>
                  </a:moveTo>
                  <a:lnTo>
                    <a:pt x="0" y="327660"/>
                  </a:lnTo>
                  <a:lnTo>
                    <a:pt x="38100" y="328167"/>
                  </a:lnTo>
                  <a:lnTo>
                    <a:pt x="42799" y="508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34" name="Image 34">
              <a:extLst>
                <a:ext uri="{FF2B5EF4-FFF2-40B4-BE49-F238E27FC236}">
                  <a16:creationId xmlns:a16="http://schemas.microsoft.com/office/drawing/2014/main" id="{F46E9C8E-16FD-22D3-041D-F6B13D1343A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1419" y="2052320"/>
              <a:ext cx="310959" cy="562356"/>
            </a:xfrm>
            <a:prstGeom prst="rect">
              <a:avLst/>
            </a:prstGeom>
          </p:spPr>
        </p:pic>
        <p:sp>
          <p:nvSpPr>
            <p:cNvPr id="35" name="Graphic 35">
              <a:extLst>
                <a:ext uri="{FF2B5EF4-FFF2-40B4-BE49-F238E27FC236}">
                  <a16:creationId xmlns:a16="http://schemas.microsoft.com/office/drawing/2014/main" id="{93505DFC-5A80-2ABA-9D68-003E15AF62A9}"/>
                </a:ext>
              </a:extLst>
            </p:cNvPr>
            <p:cNvSpPr/>
            <p:nvPr/>
          </p:nvSpPr>
          <p:spPr>
            <a:xfrm>
              <a:off x="1302385" y="2072004"/>
              <a:ext cx="114300" cy="367030"/>
            </a:xfrm>
            <a:custGeom>
              <a:avLst/>
              <a:gdLst/>
              <a:ahLst/>
              <a:cxnLst/>
              <a:rect l="l" t="t" r="r" b="b"/>
              <a:pathLst>
                <a:path w="114300" h="367030">
                  <a:moveTo>
                    <a:pt x="114300" y="252730"/>
                  </a:moveTo>
                  <a:lnTo>
                    <a:pt x="76200" y="252730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52730"/>
                  </a:lnTo>
                  <a:lnTo>
                    <a:pt x="0" y="252730"/>
                  </a:lnTo>
                  <a:lnTo>
                    <a:pt x="57150" y="367030"/>
                  </a:lnTo>
                  <a:lnTo>
                    <a:pt x="104775" y="271780"/>
                  </a:lnTo>
                  <a:lnTo>
                    <a:pt x="114300" y="25273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36" name="Image 36">
              <a:extLst>
                <a:ext uri="{FF2B5EF4-FFF2-40B4-BE49-F238E27FC236}">
                  <a16:creationId xmlns:a16="http://schemas.microsoft.com/office/drawing/2014/main" id="{EA2090DD-2EF2-4B58-B479-B9DB2C8D3F5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9519" y="2901188"/>
              <a:ext cx="310959" cy="653796"/>
            </a:xfrm>
            <a:prstGeom prst="rect">
              <a:avLst/>
            </a:prstGeom>
          </p:spPr>
        </p:pic>
        <p:pic>
          <p:nvPicPr>
            <p:cNvPr id="37" name="Image 37">
              <a:extLst>
                <a:ext uri="{FF2B5EF4-FFF2-40B4-BE49-F238E27FC236}">
                  <a16:creationId xmlns:a16="http://schemas.microsoft.com/office/drawing/2014/main" id="{7F58DDC9-20B4-41F2-5A3B-FF03698E375A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8961" y="3263772"/>
              <a:ext cx="114173" cy="115062"/>
            </a:xfrm>
            <a:prstGeom prst="rect">
              <a:avLst/>
            </a:prstGeom>
          </p:spPr>
        </p:pic>
        <p:sp>
          <p:nvSpPr>
            <p:cNvPr id="38" name="Graphic 38">
              <a:extLst>
                <a:ext uri="{FF2B5EF4-FFF2-40B4-BE49-F238E27FC236}">
                  <a16:creationId xmlns:a16="http://schemas.microsoft.com/office/drawing/2014/main" id="{B060CE53-48D9-2561-21C4-EC06142C1F7D}"/>
                </a:ext>
              </a:extLst>
            </p:cNvPr>
            <p:cNvSpPr/>
            <p:nvPr/>
          </p:nvSpPr>
          <p:spPr>
            <a:xfrm>
              <a:off x="1372235" y="2921380"/>
              <a:ext cx="43180" cy="343535"/>
            </a:xfrm>
            <a:custGeom>
              <a:avLst/>
              <a:gdLst/>
              <a:ahLst/>
              <a:cxnLst/>
              <a:rect l="l" t="t" r="r" b="b"/>
              <a:pathLst>
                <a:path w="43180" h="343535">
                  <a:moveTo>
                    <a:pt x="38100" y="0"/>
                  </a:moveTo>
                  <a:lnTo>
                    <a:pt x="0" y="507"/>
                  </a:lnTo>
                  <a:lnTo>
                    <a:pt x="4825" y="343407"/>
                  </a:lnTo>
                  <a:lnTo>
                    <a:pt x="42925" y="3429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39" name="Graphic 39">
              <a:extLst>
                <a:ext uri="{FF2B5EF4-FFF2-40B4-BE49-F238E27FC236}">
                  <a16:creationId xmlns:a16="http://schemas.microsoft.com/office/drawing/2014/main" id="{3BFBA69B-09E0-3B8F-48DE-17A9AF818C0C}"/>
                </a:ext>
              </a:extLst>
            </p:cNvPr>
            <p:cNvSpPr/>
            <p:nvPr/>
          </p:nvSpPr>
          <p:spPr>
            <a:xfrm>
              <a:off x="12700" y="5859779"/>
              <a:ext cx="3027045" cy="374015"/>
            </a:xfrm>
            <a:custGeom>
              <a:avLst/>
              <a:gdLst/>
              <a:ahLst/>
              <a:cxnLst/>
              <a:rect l="l" t="t" r="r" b="b"/>
              <a:pathLst>
                <a:path w="3027045" h="374015">
                  <a:moveTo>
                    <a:pt x="0" y="374014"/>
                  </a:moveTo>
                  <a:lnTo>
                    <a:pt x="3027045" y="374014"/>
                  </a:lnTo>
                  <a:lnTo>
                    <a:pt x="3027045" y="0"/>
                  </a:lnTo>
                  <a:lnTo>
                    <a:pt x="0" y="0"/>
                  </a:lnTo>
                  <a:lnTo>
                    <a:pt x="0" y="374014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40" name="Image 40">
              <a:extLst>
                <a:ext uri="{FF2B5EF4-FFF2-40B4-BE49-F238E27FC236}">
                  <a16:creationId xmlns:a16="http://schemas.microsoft.com/office/drawing/2014/main" id="{60322DF7-4795-90D2-B554-FC36801606D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4655" y="5339575"/>
              <a:ext cx="310959" cy="716292"/>
            </a:xfrm>
            <a:prstGeom prst="rect">
              <a:avLst/>
            </a:prstGeom>
          </p:spPr>
        </p:pic>
        <p:sp>
          <p:nvSpPr>
            <p:cNvPr id="41" name="Graphic 41">
              <a:extLst>
                <a:ext uri="{FF2B5EF4-FFF2-40B4-BE49-F238E27FC236}">
                  <a16:creationId xmlns:a16="http://schemas.microsoft.com/office/drawing/2014/main" id="{CB0B1B57-0102-B994-E61F-FECDB6BCE069}"/>
                </a:ext>
              </a:extLst>
            </p:cNvPr>
            <p:cNvSpPr/>
            <p:nvPr/>
          </p:nvSpPr>
          <p:spPr>
            <a:xfrm>
              <a:off x="1285240" y="5360034"/>
              <a:ext cx="114300" cy="519430"/>
            </a:xfrm>
            <a:custGeom>
              <a:avLst/>
              <a:gdLst/>
              <a:ahLst/>
              <a:cxnLst/>
              <a:rect l="l" t="t" r="r" b="b"/>
              <a:pathLst>
                <a:path w="114300" h="519430">
                  <a:moveTo>
                    <a:pt x="114300" y="405130"/>
                  </a:moveTo>
                  <a:lnTo>
                    <a:pt x="76200" y="405130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405130"/>
                  </a:lnTo>
                  <a:lnTo>
                    <a:pt x="0" y="405130"/>
                  </a:lnTo>
                  <a:lnTo>
                    <a:pt x="57150" y="519430"/>
                  </a:lnTo>
                  <a:lnTo>
                    <a:pt x="104775" y="424180"/>
                  </a:lnTo>
                  <a:lnTo>
                    <a:pt x="114300" y="40513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A1AF36D9-644B-FFE4-A217-B4B804964439}"/>
                </a:ext>
              </a:extLst>
            </p:cNvPr>
            <p:cNvSpPr txBox="1"/>
            <p:nvPr/>
          </p:nvSpPr>
          <p:spPr>
            <a:xfrm>
              <a:off x="15450" y="66734"/>
              <a:ext cx="2895600" cy="394335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L="702945">
                <a:spcBef>
                  <a:spcPts val="405"/>
                </a:spcBef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Problem</a:t>
              </a:r>
              <a:r>
                <a:rPr lang="en-US" sz="1050" spc="-3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Understanding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242189AD-DD6E-7248-B1C4-C85EE6E8B233}"/>
                </a:ext>
              </a:extLst>
            </p:cNvPr>
            <p:cNvSpPr txBox="1"/>
            <p:nvPr/>
          </p:nvSpPr>
          <p:spPr>
            <a:xfrm>
              <a:off x="1007617" y="2533681"/>
              <a:ext cx="1381879" cy="26793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Connection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07C5C51E-44AD-1927-9679-10CD846DE3E2}"/>
                </a:ext>
              </a:extLst>
            </p:cNvPr>
            <p:cNvSpPr txBox="1"/>
            <p:nvPr/>
          </p:nvSpPr>
          <p:spPr>
            <a:xfrm>
              <a:off x="882650" y="3414805"/>
              <a:ext cx="1758015" cy="3176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 err="1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Preproccessing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BB6B97D8-4BA2-3BF0-33D5-72B3E8D3E081}"/>
                </a:ext>
              </a:extLst>
            </p:cNvPr>
            <p:cNvSpPr txBox="1"/>
            <p:nvPr/>
          </p:nvSpPr>
          <p:spPr>
            <a:xfrm>
              <a:off x="73660" y="1653539"/>
              <a:ext cx="2854325" cy="4108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08355">
                <a:spcBef>
                  <a:spcPts val="380"/>
                </a:spcBef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Understanding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3D053F6-E6AB-7B77-B5A5-02BBC6B817C1}"/>
                </a:ext>
              </a:extLst>
            </p:cNvPr>
            <p:cNvSpPr txBox="1"/>
            <p:nvPr/>
          </p:nvSpPr>
          <p:spPr>
            <a:xfrm>
              <a:off x="25400" y="5872479"/>
              <a:ext cx="3001645" cy="34861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942340">
                <a:spcBef>
                  <a:spcPts val="360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Visualisation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53C2E696-9A09-1149-40FD-0F9BA4EF90DE}"/>
                </a:ext>
              </a:extLst>
            </p:cNvPr>
            <p:cNvSpPr txBox="1"/>
            <p:nvPr/>
          </p:nvSpPr>
          <p:spPr>
            <a:xfrm>
              <a:off x="745615" y="920114"/>
              <a:ext cx="1643880" cy="27558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285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Collection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E1625203-A3C9-872A-0B53-D1604338DA66}"/>
                </a:ext>
              </a:extLst>
            </p:cNvPr>
            <p:cNvSpPr txBox="1"/>
            <p:nvPr/>
          </p:nvSpPr>
          <p:spPr>
            <a:xfrm>
              <a:off x="0" y="5339575"/>
              <a:ext cx="3121025" cy="179387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spcBef>
                  <a:spcPts val="895"/>
                </a:spcBef>
                <a:buNone/>
              </a:pPr>
              <a:r>
                <a:rPr lang="en-US" sz="1050" dirty="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 marL="580390"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0E6DABF1-5E44-B37B-8690-6455DECC0E77}"/>
                </a:ext>
              </a:extLst>
            </p:cNvPr>
            <p:cNvSpPr txBox="1"/>
            <p:nvPr/>
          </p:nvSpPr>
          <p:spPr>
            <a:xfrm>
              <a:off x="74294" y="4224654"/>
              <a:ext cx="2978150" cy="422275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L="3175" algn="ctr">
                <a:spcBef>
                  <a:spcPts val="415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Analytics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E51E8DF1-3FA0-9D36-5635-30C9867CDEA7}"/>
                </a:ext>
              </a:extLst>
            </p:cNvPr>
            <p:cNvSpPr txBox="1"/>
            <p:nvPr/>
          </p:nvSpPr>
          <p:spPr>
            <a:xfrm>
              <a:off x="46990" y="4958715"/>
              <a:ext cx="2934970" cy="410209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R="5080" algn="ctr">
                <a:spcBef>
                  <a:spcPts val="395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Modeling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</p:grpSp>
      <p:sp>
        <p:nvSpPr>
          <p:cNvPr id="51" name="Rectangle 44">
            <a:extLst>
              <a:ext uri="{FF2B5EF4-FFF2-40B4-BE49-F238E27FC236}">
                <a16:creationId xmlns:a16="http://schemas.microsoft.com/office/drawing/2014/main" id="{F7FFD6A2-B544-BE31-1011-8DAC215EE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856" y="-2213293"/>
            <a:ext cx="339781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Microsoft Sans Serif" panose="020B060402020202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icrosoft Sans Serif" panose="020B0604020202020204" pitchFamily="34" charset="0"/>
                <a:cs typeface="Calibri" panose="020F0502020204030204" pitchFamily="34" charset="0"/>
              </a:rPr>
              <a:t>pg. 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icrosoft Sans Serif" panose="020B0604020202020204" pitchFamily="34" charset="0"/>
                <a:cs typeface="Calibri" panose="020F0502020204030204" pitchFamily="34" charset="0"/>
              </a:rPr>
            </a:b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CHALLENGES &amp; RESOLUTIONS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04</a:t>
            </a:r>
          </a:p>
        </p:txBody>
      </p:sp>
      <p:pic>
        <p:nvPicPr>
          <p:cNvPr id="6" name="Picture 5" descr="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864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09728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21208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Understanding a large dataset with approximately 80,519 records.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Preparing and transforming raw data accurately.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Creating accurate KPIs and DAX measures.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Selecting suitable visuals without unnecessary repetition.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Maintaining dashboard layout, readability and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79476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Resolutions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24528"/>
            <a:ext cx="5212080" cy="1508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Grouped fields by business area and used Power Query for preparation.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Created and validated DAX measures against the dataset.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Selected visuals according to analytical purpose and organized pages systematically.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FUTURE ENHANCEMENTS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05</a:t>
            </a:r>
          </a:p>
        </p:txBody>
      </p:sp>
      <p:pic>
        <p:nvPicPr>
          <p:cNvPr id="6" name="Picture 5" descr="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394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1663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Integrate real-time supply chain data.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Add AI-based forecasting and predictive analytics.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Implement automated report refresh.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Develop mobile-friendly dashboards and drill-through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1188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069080"/>
            <a:ext cx="516636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On-Time Delivery Rate: 17.83% | Late Delivery Rate: 54.82%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Total Customers: 20,652 | Average Profit per Order: ₹21.98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Europe contributes approximately ₹10.87M in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Supply Chain Visibility and Optimization successfully transformed the DataCoSupplyChainDataset into an interactive Power BI dashboard covering sales, customers, products, delivery, geography, costs and profitability.</a:t>
            </a:r>
          </a:p>
        </p:txBody>
      </p:sp>
      <p:pic>
        <p:nvPicPr>
          <p:cNvPr id="7" name="Picture 6" descr="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2880360"/>
            <a:ext cx="51663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16636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299923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4A"/>
                </a:solidFill>
                <a:latin typeface="Aptos Display"/>
              </a:defRPr>
            </a:pPr>
            <a:r>
              <a:t>Technical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2"/>
            <a:ext cx="4617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Microsoft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493008"/>
            <a:ext cx="1507144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rPr dirty="0"/>
              <a:t>• Power Query</a:t>
            </a:r>
            <a:r>
              <a:rPr lang="en-IN"/>
              <a:t> Editor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DAX &amp; Data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8862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Data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7939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Business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427939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Microsoft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72583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4672583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GitLab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88920"/>
            <a:ext cx="516636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99923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4A"/>
                </a:solidFill>
                <a:latin typeface="Aptos Display"/>
              </a:defRPr>
            </a:pPr>
            <a:r>
              <a:t>Soft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Problem Solving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352044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Analytical Thinking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40233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Teamwork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1092" y="46177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452628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Time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B264A"/>
                </a:solidFill>
                <a:latin typeface="Aptos"/>
              </a:defRPr>
            </a:pPr>
            <a:r>
              <a:t>Infosys Springboard – Virtual Internship 7.0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ACKNOWLEDGEMENTS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Acknowledgements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8" y="1874519"/>
            <a:ext cx="4824000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 We sincerely thank the Infosys Springboard Team for providing this enriching virtual internship and a structured platform for gaining practical industry experience.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We express our heartfelt gratitude to our mentor, Ms. Nityasree, for her continuous guidance, valuable feedback, and encouragement throughout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We also thank our team members for their collaboration, communication, and shared efforts in successfully completing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We acknowledge Microsoft Power BI documentation and community resources, along with Kaggle, for providing valuable learning resources and datasets that supported our dashboard development and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Overall, this internship strengthened our technical, analytical, teamwork, and problem-solving skills and provided valuable practical experience in data-driven decision-making.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3891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DataCoSupplyChainDataset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Microsoft Power BI Documentation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Power BI Community Resources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Kaggle Dataset Resources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Infosys Springboard Learning Materials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Microsoft Power Query &amp; DAX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0881360" cy="5760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33B800-028E-FC48-4177-1D06DF3A3F5C}"/>
              </a:ext>
            </a:extLst>
          </p:cNvPr>
          <p:cNvSpPr/>
          <p:nvPr/>
        </p:nvSpPr>
        <p:spPr>
          <a:xfrm>
            <a:off x="824460" y="1753849"/>
            <a:ext cx="10568066" cy="35826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chemeClr val="tx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669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Microsoft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S0806351</cp:lastModifiedBy>
  <cp:revision>8</cp:revision>
  <dcterms:created xsi:type="dcterms:W3CDTF">2013-01-27T09:14:16Z</dcterms:created>
  <dcterms:modified xsi:type="dcterms:W3CDTF">2026-08-26T08:26:36Z</dcterms:modified>
  <cp:category/>
</cp:coreProperties>
</file>