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95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6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726679" y="0"/>
            <a:ext cx="4465015" cy="6858000"/>
          </a:xfrm>
          <a:prstGeom prst="rect">
            <a:avLst/>
          </a:prstGeom>
          <a:solidFill>
            <a:srgbClr val="7B6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366760" y="502920"/>
            <a:ext cx="2971800" cy="164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366760" y="777240"/>
            <a:ext cx="2057400" cy="109728"/>
          </a:xfrm>
          <a:prstGeom prst="roundRect">
            <a:avLst/>
          </a:prstGeom>
          <a:solidFill>
            <a:srgbClr val="E2D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738360" y="5440680"/>
            <a:ext cx="1600200" cy="137160"/>
          </a:xfrm>
          <a:prstGeom prst="roundRect">
            <a:avLst/>
          </a:prstGeom>
          <a:solidFill>
            <a:srgbClr val="1B2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6309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E2DAF4"/>
                </a:solidFill>
                <a:latin typeface="Aptos Display"/>
              </a:defRPr>
            </a:pPr>
            <a:r>
              <a:t>INFOSYS SPRINGBOARD • VIRTUAL INTERNSHIP 7.0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25880"/>
            <a:ext cx="6446520" cy="187743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FFFFFF"/>
                </a:solidFill>
                <a:latin typeface="Aptos Display"/>
              </a:defRPr>
            </a:pPr>
            <a:r>
              <a:rPr dirty="0"/>
              <a:t>SUPPLY CHAIN VISIBILITY SYSTEM</a:t>
            </a:r>
            <a:br>
              <a:rPr dirty="0"/>
            </a:br>
            <a:r>
              <a:rPr dirty="0"/>
              <a:t>WITH OPTIMIZATION ANALYTICS</a:t>
            </a:r>
            <a:r>
              <a:rPr lang="en-IN" dirty="0"/>
              <a:t> GROUP 1</a:t>
            </a:r>
          </a:p>
          <a:p>
            <a:pPr algn="l">
              <a:defRPr sz="2900" b="1">
                <a:solidFill>
                  <a:srgbClr val="FFFFFF"/>
                </a:solidFill>
                <a:latin typeface="Aptos Display"/>
              </a:defRPr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49808" y="2788920"/>
            <a:ext cx="6035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E1E6F0"/>
                </a:solidFill>
                <a:latin typeface="Aptos Display"/>
              </a:defRPr>
            </a:pPr>
            <a:r>
              <a:t>An Interactive Power BI Dashboard for Supply Chain Performance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657600"/>
            <a:ext cx="6263640" cy="1569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ptos Display"/>
              </a:defRPr>
            </a:pPr>
            <a:r>
              <a:rPr dirty="0"/>
              <a:t>Team Members:   </a:t>
            </a:r>
            <a:endParaRPr lang="en-IN" dirty="0"/>
          </a:p>
          <a:p>
            <a:pPr algn="l">
              <a:defRPr sz="1200" b="0">
                <a:solidFill>
                  <a:srgbClr val="FFFFFF"/>
                </a:solidFill>
                <a:latin typeface="Aptos Display"/>
              </a:defRPr>
            </a:pPr>
            <a:r>
              <a:rPr dirty="0"/>
              <a:t>Uppala Bhavya Sri </a:t>
            </a:r>
            <a:endParaRPr lang="en-IN" dirty="0"/>
          </a:p>
          <a:p>
            <a:pPr algn="l">
              <a:defRPr sz="1200" b="0">
                <a:solidFill>
                  <a:srgbClr val="FFFFFF"/>
                </a:solidFill>
                <a:latin typeface="Aptos Display"/>
              </a:defRPr>
            </a:pPr>
            <a:r>
              <a:rPr dirty="0"/>
              <a:t>V. Charita Sree</a:t>
            </a:r>
            <a:br>
              <a:rPr dirty="0"/>
            </a:br>
            <a:r>
              <a:rPr dirty="0" err="1"/>
              <a:t>Velpuri</a:t>
            </a:r>
            <a:r>
              <a:rPr dirty="0"/>
              <a:t> Sai Rohitha</a:t>
            </a:r>
            <a:endParaRPr lang="en-IN" dirty="0"/>
          </a:p>
          <a:p>
            <a:pPr algn="l">
              <a:defRPr sz="1200" b="0">
                <a:solidFill>
                  <a:srgbClr val="FFFFFF"/>
                </a:solidFill>
                <a:latin typeface="Aptos Display"/>
              </a:defRPr>
            </a:pPr>
            <a:r>
              <a:rPr dirty="0"/>
              <a:t> |Venkata Puneeth Kothapalli |</a:t>
            </a:r>
            <a:endParaRPr lang="en-IN" dirty="0"/>
          </a:p>
          <a:p>
            <a:pPr algn="l">
              <a:defRPr sz="1200" b="0">
                <a:solidFill>
                  <a:srgbClr val="FFFFFF"/>
                </a:solidFill>
                <a:latin typeface="Aptos Display"/>
              </a:defRPr>
            </a:pPr>
            <a:r>
              <a:rPr dirty="0"/>
              <a:t>Yuvasree P</a:t>
            </a:r>
            <a:br>
              <a:rPr dirty="0"/>
            </a:br>
            <a:r>
              <a:rPr dirty="0"/>
              <a:t>Team D • Group 1</a:t>
            </a:r>
            <a:br>
              <a:rPr dirty="0"/>
            </a:br>
            <a:r>
              <a:rPr dirty="0"/>
              <a:t>Mentor: Ms. Nityasree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1234440"/>
            <a:ext cx="32461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83879" y="2423160"/>
            <a:ext cx="150876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921240" y="2423160"/>
            <a:ext cx="150876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183879" y="3611880"/>
            <a:ext cx="32461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58200" y="1444752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1B264A"/>
                </a:solidFill>
                <a:latin typeface="Aptos Display"/>
              </a:defRPr>
            </a:pPr>
            <a:r>
              <a:t>80,519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1847088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2A3862"/>
                </a:solidFill>
                <a:latin typeface="Aptos Display"/>
              </a:defRPr>
            </a:pPr>
            <a:r>
              <a:t>SUPPLY CHAIN 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670048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1B264A"/>
                </a:solidFill>
                <a:latin typeface="Aptos Display"/>
              </a:defRPr>
            </a:pPr>
            <a:r>
              <a:t>17.83%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3017520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2A3862"/>
                </a:solidFill>
                <a:latin typeface="Aptos Display"/>
              </a:defRPr>
            </a:pPr>
            <a:r>
              <a:t>ON-TIME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31552" y="2670048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1B264A"/>
                </a:solidFill>
                <a:latin typeface="Aptos Display"/>
              </a:defRPr>
            </a:pPr>
            <a:r>
              <a:t>54.82%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1552" y="3017520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2A3862"/>
                </a:solidFill>
                <a:latin typeface="Aptos Display"/>
              </a:defRPr>
            </a:pPr>
            <a:r>
              <a:t>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67912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1B264A"/>
                </a:solidFill>
                <a:latin typeface="Aptos Display"/>
              </a:defRPr>
            </a:pPr>
            <a:r>
              <a:t>POWER BI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233672"/>
            <a:ext cx="2697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2A3862"/>
                </a:solidFill>
                <a:latin typeface="Aptos Display"/>
              </a:defRPr>
            </a:pPr>
            <a:r>
              <a:t>ANALYTICS • VISIBILITY • INSIGHTS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2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t"/>
          <a:lstStyle/>
          <a:p>
            <a:pPr algn="l">
              <a:spcAft>
                <a:spcPts val="500"/>
              </a:spcAft>
            </a:pP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09728" cy="6629400"/>
          </a:xfrm>
          <a:prstGeom prst="rect">
            <a:avLst/>
          </a:prstGeom>
          <a:solidFill>
            <a:srgbClr val="7B6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t"/>
          <a:lstStyle/>
          <a:p>
            <a:pPr algn="l">
              <a:spcAft>
                <a:spcPts val="500"/>
              </a:spcAft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955279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B264A"/>
                </a:solidFill>
                <a:latin typeface="Aptos Display"/>
              </a:defRPr>
            </a:pPr>
            <a:r>
              <a:rPr>
                <a:solidFill>
                  <a:srgbClr val="19191E"/>
                </a:solidFill>
              </a:rPr>
              <a:t>PROJECT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65760"/>
            <a:ext cx="6400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7B60B4"/>
                </a:solidFill>
              </a:defRPr>
            </a:pPr>
            <a:r>
              <a:rPr>
                <a:solidFill>
                  <a:srgbClr val="19191E"/>
                </a:solidFill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51206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2000" b="1">
                <a:solidFill>
                  <a:srgbClr val="1B264A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Project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5029200" cy="35661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Transform raw supply chain data into meaningful visual insights.</a:t>
            </a:r>
          </a:p>
          <a:p>
            <a:pPr algn="l">
              <a:spcAft>
                <a:spcPts val="500"/>
              </a:spcAft>
              <a:defRPr sz="17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Analyze sales, orders, customers, products and delivery operations.</a:t>
            </a:r>
          </a:p>
          <a:p>
            <a:pPr algn="l">
              <a:spcAft>
                <a:spcPts val="500"/>
              </a:spcAft>
              <a:defRPr sz="17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Evaluate geographic markets, costs, discounts and profitability.</a:t>
            </a:r>
          </a:p>
          <a:p>
            <a:pPr algn="l">
              <a:spcAft>
                <a:spcPts val="500"/>
              </a:spcAft>
              <a:defRPr sz="17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Develop interactive Power BI dashboards for data-driven decisions.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83480"/>
            <a:ext cx="51206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2000" b="1">
                <a:solidFill>
                  <a:srgbClr val="1B264A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Project Modules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413248"/>
            <a:ext cx="521208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Sales &amp; Delivery Analysis • Customer &amp; Product Insights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Geographic &amp; Market Performance • Cost &amp; Profitability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Order Value &amp; Performance Insights</a:t>
            </a:r>
          </a:p>
        </p:txBody>
      </p:sp>
      <p:pic>
        <p:nvPicPr>
          <p:cNvPr id="10" name="Picture 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34440"/>
            <a:ext cx="502920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2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t"/>
          <a:lstStyle/>
          <a:p>
            <a:pPr algn="l">
              <a:spcAft>
                <a:spcPts val="500"/>
              </a:spcAft>
            </a:pP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09728" cy="6629400"/>
          </a:xfrm>
          <a:prstGeom prst="rect">
            <a:avLst/>
          </a:prstGeom>
          <a:solidFill>
            <a:srgbClr val="7B6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t"/>
          <a:lstStyle/>
          <a:p>
            <a:pPr algn="l">
              <a:spcAft>
                <a:spcPts val="500"/>
              </a:spcAft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955279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B264A"/>
                </a:solidFill>
                <a:latin typeface="Aptos Display"/>
              </a:defRPr>
            </a:pPr>
            <a:r>
              <a:rPr>
                <a:solidFill>
                  <a:srgbClr val="19191E"/>
                </a:solidFill>
              </a:rPr>
              <a:t>PROJECT EXECUTION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65760"/>
            <a:ext cx="6400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7B60B4"/>
                </a:solidFill>
              </a:defRPr>
            </a:pPr>
            <a:r>
              <a:rPr>
                <a:solidFill>
                  <a:srgbClr val="19191E"/>
                </a:solidFill>
              </a:rPr>
              <a:t>03</a:t>
            </a:r>
          </a:p>
        </p:txBody>
      </p:sp>
      <p:pic>
        <p:nvPicPr>
          <p:cNvPr id="6" name="Picture 5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5212080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1051560"/>
            <a:ext cx="52578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B264A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Milestone 1 – Data Acquisition &amp; Cleaning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399031"/>
            <a:ext cx="525780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Studied the DataCoSupplyChainDataset and prepared the data using Power Query.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313432"/>
            <a:ext cx="52578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B264A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Milestone 2 – Data Modeling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60903"/>
            <a:ext cx="525780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Structured the data and created DAX measures for sales, profit, orders, customers and delivery.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575303"/>
            <a:ext cx="52578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B264A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Milestone 3 –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922776"/>
            <a:ext cx="525780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Built interactive Power BI dashboard pages using suitable analytical visuals.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37175"/>
            <a:ext cx="52578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B264A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Milestone 4 – Review &amp; Optimization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5184647"/>
            <a:ext cx="5257800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Validated calculations and improved dashboard readability, consistency and usability.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2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t"/>
          <a:lstStyle/>
          <a:p>
            <a:pPr algn="l">
              <a:spcAft>
                <a:spcPts val="500"/>
              </a:spcAft>
            </a:pP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09728" cy="6629400"/>
          </a:xfrm>
          <a:prstGeom prst="rect">
            <a:avLst/>
          </a:prstGeom>
          <a:solidFill>
            <a:srgbClr val="7B6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t"/>
          <a:lstStyle/>
          <a:p>
            <a:pPr algn="l">
              <a:spcAft>
                <a:spcPts val="500"/>
              </a:spcAft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955279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B264A"/>
                </a:solidFill>
                <a:latin typeface="Aptos Display"/>
              </a:defRPr>
            </a:pPr>
            <a:r>
              <a:rPr>
                <a:solidFill>
                  <a:srgbClr val="19191E"/>
                </a:solidFill>
              </a:rPr>
              <a:t>CHALLENGES &amp; RESOLUTIONS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65760"/>
            <a:ext cx="6400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7B60B4"/>
                </a:solidFill>
              </a:defRPr>
            </a:pPr>
            <a:r>
              <a:rPr>
                <a:solidFill>
                  <a:srgbClr val="19191E"/>
                </a:solidFill>
              </a:rPr>
              <a:t>04</a:t>
            </a:r>
          </a:p>
        </p:txBody>
      </p:sp>
      <p:pic>
        <p:nvPicPr>
          <p:cNvPr id="6" name="Picture 5" descr="challe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48640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1097280"/>
            <a:ext cx="219456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2000" b="1">
                <a:solidFill>
                  <a:srgbClr val="1B264A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Challenges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212080" cy="2057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Understanding a large dataset with approximately 80,519 records.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Preparing and transforming raw data accurately.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Creating accurate KPIs and DAX measures.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Selecting suitable visuals without unnecessary repetition.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Maintaining dashboard layout, readability and consistency.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794760"/>
            <a:ext cx="219456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2000" b="1">
                <a:solidFill>
                  <a:srgbClr val="1B264A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Resolutions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224528"/>
            <a:ext cx="5212080" cy="1508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Grouped fields by business area and used Power Query for preparation.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Created and validated DAX measures against the dataset.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Selected visuals according to analytical purpose and organized pages systematically.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2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t"/>
          <a:lstStyle/>
          <a:p>
            <a:pPr algn="l">
              <a:spcAft>
                <a:spcPts val="500"/>
              </a:spcAft>
            </a:pP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09728" cy="6629400"/>
          </a:xfrm>
          <a:prstGeom prst="rect">
            <a:avLst/>
          </a:prstGeom>
          <a:solidFill>
            <a:srgbClr val="7B6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t"/>
          <a:lstStyle/>
          <a:p>
            <a:pPr algn="l">
              <a:spcAft>
                <a:spcPts val="500"/>
              </a:spcAft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955279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B264A"/>
                </a:solidFill>
                <a:latin typeface="Aptos Display"/>
              </a:defRPr>
            </a:pPr>
            <a:r>
              <a:rPr>
                <a:solidFill>
                  <a:srgbClr val="19191E"/>
                </a:solidFill>
              </a:rPr>
              <a:t>FUTURE ENHANCEMENTS &amp; KEY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65760"/>
            <a:ext cx="6400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7B60B4"/>
                </a:solidFill>
              </a:defRPr>
            </a:pPr>
            <a:r>
              <a:rPr>
                <a:solidFill>
                  <a:srgbClr val="19191E"/>
                </a:solidFill>
              </a:rPr>
              <a:t>05</a:t>
            </a:r>
          </a:p>
        </p:txBody>
      </p:sp>
      <p:pic>
        <p:nvPicPr>
          <p:cNvPr id="6" name="Picture 5" descr="fu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539496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51560"/>
            <a:ext cx="53035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2000" b="1">
                <a:solidFill>
                  <a:srgbClr val="1B264A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Future Enhancements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508760"/>
            <a:ext cx="5166360" cy="1828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Integrate real-time supply chain data.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Add AI-based forecasting and predictive analytics.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Implement automated report refresh.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Develop mobile-friendly dashboards and drill-through reports.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611880"/>
            <a:ext cx="53035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2000" b="1">
                <a:solidFill>
                  <a:srgbClr val="1B264A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Key Insights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069080"/>
            <a:ext cx="5166360" cy="1645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On-Time Delivery Rate: 17.83% | Late Delivery Rate: 54.82%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Total Customers: 20,652 | Average Profit per Order: ₹21.98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• Europe contributes approximately ₹10.87M in sales.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2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t"/>
          <a:lstStyle/>
          <a:p>
            <a:pPr algn="l">
              <a:spcAft>
                <a:spcPts val="500"/>
              </a:spcAft>
            </a:pP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09728" cy="6629400"/>
          </a:xfrm>
          <a:prstGeom prst="rect">
            <a:avLst/>
          </a:prstGeom>
          <a:solidFill>
            <a:srgbClr val="7B6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t"/>
          <a:lstStyle/>
          <a:p>
            <a:pPr algn="l">
              <a:spcAft>
                <a:spcPts val="500"/>
              </a:spcAft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955279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B264A"/>
                </a:solidFill>
                <a:latin typeface="Aptos Display"/>
              </a:defRPr>
            </a:pPr>
            <a:r>
              <a:rPr>
                <a:solidFill>
                  <a:srgbClr val="19191E"/>
                </a:solidFill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65760"/>
            <a:ext cx="6400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7B60B4"/>
                </a:solidFill>
              </a:defRPr>
            </a:pPr>
            <a:r>
              <a:rPr>
                <a:solidFill>
                  <a:srgbClr val="19191E"/>
                </a:solidFill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5486400" cy="12801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19191E"/>
                </a:solidFill>
                <a:latin typeface="Aptos"/>
              </a:defRPr>
            </a:pPr>
            <a:r>
              <a:rPr>
                <a:solidFill>
                  <a:srgbClr val="19191E"/>
                </a:solidFill>
              </a:rPr>
              <a:t>Supply Chain Visibility and Optimization successfully transformed the DataCoSupplyChainDataset into an interactive Power BI dashboard covering sales, customers, products, delivery, geography, costs and profitability.</a:t>
            </a:r>
          </a:p>
        </p:txBody>
      </p:sp>
      <p:pic>
        <p:nvPicPr>
          <p:cNvPr id="7" name="Picture 6" descr="conc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43000"/>
            <a:ext cx="5120640" cy="30632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" y="2880360"/>
            <a:ext cx="516636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2788920"/>
            <a:ext cx="516636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914400" y="2999232"/>
            <a:ext cx="4617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64A"/>
                </a:solidFill>
                <a:latin typeface="Aptos Display"/>
              </a:defRPr>
            </a:pPr>
            <a:r>
              <a:t>Technical 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56432"/>
            <a:ext cx="461772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3493008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19191E"/>
                </a:solidFill>
                <a:latin typeface="Aptos"/>
              </a:defRPr>
            </a:pPr>
            <a:r>
              <a:t>• Microsoft Power BI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493008"/>
            <a:ext cx="1507144" cy="269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19191E"/>
                </a:solidFill>
                <a:latin typeface="Aptos"/>
              </a:defRPr>
            </a:pPr>
            <a:r>
              <a:rPr dirty="0"/>
              <a:t>• Power Query</a:t>
            </a:r>
            <a:r>
              <a:rPr lang="en-IN"/>
              <a:t> Editor</a:t>
            </a:r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86200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19191E"/>
                </a:solidFill>
                <a:latin typeface="Aptos"/>
              </a:defRPr>
            </a:pPr>
            <a:r>
              <a:t>• DAX &amp; Data Modeling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2112" y="3886200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19191E"/>
                </a:solidFill>
                <a:latin typeface="Aptos"/>
              </a:defRPr>
            </a:pPr>
            <a:r>
              <a:t>• Data Visualization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279392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19191E"/>
                </a:solidFill>
                <a:latin typeface="Aptos"/>
              </a:defRPr>
            </a:pPr>
            <a:r>
              <a:t>• Business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2112" y="4279392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19191E"/>
                </a:solidFill>
                <a:latin typeface="Aptos"/>
              </a:defRPr>
            </a:pPr>
            <a:r>
              <a:t>• Microsoft Teams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672583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19191E"/>
                </a:solidFill>
                <a:latin typeface="Aptos"/>
              </a:defRPr>
            </a:pPr>
            <a:r>
              <a:t>• GitHub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2112" y="4672583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19191E"/>
                </a:solidFill>
                <a:latin typeface="Aptos"/>
              </a:defRPr>
            </a:pPr>
            <a:r>
              <a:t>• GitLab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788920"/>
            <a:ext cx="516636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0" y="2999232"/>
            <a:ext cx="4617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64A"/>
                </a:solidFill>
                <a:latin typeface="Aptos Display"/>
              </a:defRPr>
            </a:pPr>
            <a:r>
              <a:t>Soft Skills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520440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19191E"/>
                </a:solidFill>
                <a:latin typeface="Aptos"/>
              </a:defRPr>
            </a:pPr>
            <a:r>
              <a:t>• Problem Solving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68512" y="3520440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19191E"/>
                </a:solidFill>
                <a:latin typeface="Aptos"/>
              </a:defRPr>
            </a:pPr>
            <a:r>
              <a:t>• Analytical Thinking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023360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19191E"/>
                </a:solidFill>
                <a:latin typeface="Aptos"/>
              </a:defRPr>
            </a:pPr>
            <a:r>
              <a:t>• Communication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8512" y="4023360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19191E"/>
                </a:solidFill>
                <a:latin typeface="Aptos"/>
              </a:defRPr>
            </a:pPr>
            <a:r>
              <a:t>• Teamwork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1092" y="4617720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19191E"/>
                </a:solidFill>
                <a:latin typeface="Aptos"/>
              </a:defRPr>
            </a:pPr>
            <a:r>
              <a:t>• Presentation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4526280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19191E"/>
                </a:solidFill>
                <a:latin typeface="Aptos"/>
              </a:defRPr>
            </a:pPr>
            <a:r>
              <a:t>• Time Management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1B264A"/>
                </a:solidFill>
                <a:latin typeface="Aptos"/>
              </a:defRPr>
            </a:pPr>
            <a:r>
              <a:t>Infosys Springboard – Virtual Internship 7.0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2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t"/>
          <a:lstStyle/>
          <a:p>
            <a:pPr algn="l">
              <a:spcAft>
                <a:spcPts val="500"/>
              </a:spcAft>
            </a:pP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09728" cy="6629400"/>
          </a:xfrm>
          <a:prstGeom prst="rect">
            <a:avLst/>
          </a:prstGeom>
          <a:solidFill>
            <a:srgbClr val="7B6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t"/>
          <a:lstStyle/>
          <a:p>
            <a:pPr algn="l">
              <a:spcAft>
                <a:spcPts val="500"/>
              </a:spcAft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955279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B264A"/>
                </a:solidFill>
                <a:latin typeface="Aptos Display"/>
              </a:defRPr>
            </a:pPr>
            <a:r>
              <a:rPr>
                <a:solidFill>
                  <a:srgbClr val="19191E"/>
                </a:solidFill>
              </a:rPr>
              <a:t>ACKNOWLEDGEMENTS &amp;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365760"/>
            <a:ext cx="6400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7B60B4"/>
                </a:solidFill>
              </a:defRPr>
            </a:pPr>
            <a:r>
              <a:rPr>
                <a:solidFill>
                  <a:srgbClr val="19191E"/>
                </a:solidFill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143000"/>
            <a:ext cx="53035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t"/>
          <a:lstStyle/>
          <a:p>
            <a:pPr algn="l">
              <a:spcAft>
                <a:spcPts val="500"/>
              </a:spcAft>
            </a:pPr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72200" y="1143000"/>
            <a:ext cx="53035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t"/>
          <a:lstStyle/>
          <a:p>
            <a:pPr algn="l">
              <a:spcAft>
                <a:spcPts val="500"/>
              </a:spcAft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4173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64A"/>
                </a:solidFill>
                <a:latin typeface="Aptos Display"/>
              </a:defRPr>
            </a:pPr>
            <a:r>
              <a:t>Acknowledgements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8" y="1874519"/>
            <a:ext cx="4824000" cy="32316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We sincerely thank the Infosys Springboard Team for providing this enriching virtual internship and a structured platform for gaining practical industry experience.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We express our heartfelt gratitude to our mentor, Ms. Nityasree, for her continuous guidance, valuable feedback, and encouragement throughout the project.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We also thank our team members for their collaboration, communication, and shared efforts in successfully completing the project.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We acknowledge Microsoft Power BI documentation and community resources, along with Kaggle, for providing valuable learning resources and datasets that supported our dashboard development and analysis.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Overall, this internship strengthened our technical, analytical, teamwork, and problem-solving skills and provided valuable practical experience in data-driven decision-making.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10" name="TextBox 9"/>
          <p:cNvSpPr txBox="1"/>
          <p:nvPr/>
        </p:nvSpPr>
        <p:spPr>
          <a:xfrm>
            <a:off x="6446520" y="141732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64A"/>
                </a:solidFill>
                <a:latin typeface="Aptos Display"/>
              </a:defRPr>
            </a:pPr>
            <a:r>
              <a:t>References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38912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19191E"/>
                </a:solidFill>
                <a:latin typeface="Aptos"/>
              </a:defRPr>
            </a:pPr>
            <a:r>
              <a:t>• DataCoSupplyChainDataset</a:t>
            </a:r>
          </a:p>
          <a:p>
            <a:pPr>
              <a:spcAft>
                <a:spcPts val="500"/>
              </a:spcAft>
              <a:defRPr sz="1250">
                <a:solidFill>
                  <a:srgbClr val="19191E"/>
                </a:solidFill>
                <a:latin typeface="Aptos"/>
              </a:defRPr>
            </a:pPr>
            <a:r>
              <a:t>• Microsoft Power BI Documentation</a:t>
            </a:r>
          </a:p>
          <a:p>
            <a:pPr>
              <a:spcAft>
                <a:spcPts val="500"/>
              </a:spcAft>
              <a:defRPr sz="1250">
                <a:solidFill>
                  <a:srgbClr val="19191E"/>
                </a:solidFill>
                <a:latin typeface="Aptos"/>
              </a:defRPr>
            </a:pPr>
            <a:r>
              <a:t>• Power BI Community Resources</a:t>
            </a:r>
          </a:p>
          <a:p>
            <a:pPr>
              <a:spcAft>
                <a:spcPts val="500"/>
              </a:spcAft>
              <a:defRPr sz="1250">
                <a:solidFill>
                  <a:srgbClr val="19191E"/>
                </a:solidFill>
                <a:latin typeface="Aptos"/>
              </a:defRPr>
            </a:pPr>
            <a:r>
              <a:t>• Kaggle Dataset Resources</a:t>
            </a:r>
          </a:p>
          <a:p>
            <a:pPr>
              <a:spcAft>
                <a:spcPts val="500"/>
              </a:spcAft>
              <a:defRPr sz="1250">
                <a:solidFill>
                  <a:srgbClr val="19191E"/>
                </a:solidFill>
                <a:latin typeface="Aptos"/>
              </a:defRPr>
            </a:pPr>
            <a:r>
              <a:t>• Infosys Springboard Learning Materials</a:t>
            </a:r>
          </a:p>
          <a:p>
            <a:pPr>
              <a:spcAft>
                <a:spcPts val="500"/>
              </a:spcAft>
              <a:defRPr sz="1250">
                <a:solidFill>
                  <a:srgbClr val="19191E"/>
                </a:solidFill>
                <a:latin typeface="Aptos"/>
              </a:defRPr>
            </a:pPr>
            <a:r>
              <a:t>• Microsoft Power Query &amp; DAX resources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6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hanky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0881360" cy="576072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433B800-028E-FC48-4177-1D06DF3A3F5C}"/>
              </a:ext>
            </a:extLst>
          </p:cNvPr>
          <p:cNvSpPr/>
          <p:nvPr/>
        </p:nvSpPr>
        <p:spPr>
          <a:xfrm>
            <a:off x="824460" y="1753849"/>
            <a:ext cx="10568066" cy="3582649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6000" dirty="0">
                <a:solidFill>
                  <a:schemeClr val="tx1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631</Words>
  <Application>Microsoft Office PowerPoint</Application>
  <PresentationFormat>Widescreen</PresentationFormat>
  <Paragraphs>97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acer</dc:creator>
  <cp:keywords/>
  <dc:description>generated using python-pptx</dc:description>
  <cp:lastModifiedBy>S0806351</cp:lastModifiedBy>
  <cp:revision>6</cp:revision>
  <dcterms:created xsi:type="dcterms:W3CDTF">2013-01-27T09:14:16Z</dcterms:created>
  <dcterms:modified xsi:type="dcterms:W3CDTF">2026-08-20T17:00:58Z</dcterms:modified>
  <cp:category/>
</cp:coreProperties>
</file>