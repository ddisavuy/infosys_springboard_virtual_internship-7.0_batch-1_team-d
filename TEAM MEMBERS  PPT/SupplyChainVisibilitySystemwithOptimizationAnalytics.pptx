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1365" cy="6858000"/>
  <p:notesSz cx="6858000" cy="12191365"/>
  <p:embeddedFontLst>
    <p:embeddedFont>
      <p:font typeface="DM Sans" pitchFamily="34" charset="0"/>
      <p:regular r:id="rId15"/>
    </p:embeddedFont>
    <p:embeddedFont>
      <p:font typeface="DM Sans" pitchFamily="34" charset="-122"/>
      <p:regular r:id="rId16"/>
    </p:embeddedFont>
    <p:embeddedFont>
      <p:font typeface="DM Sans" pitchFamily="34" charset="-120"/>
      <p:regular r:id="rId17"/>
    </p:embeddedFont>
    <p:embeddedFont>
      <p:font typeface="Libre Baskerville" panose="02000000000000000000" pitchFamily="34" charset="0"/>
      <p:regular r:id="rId18"/>
    </p:embeddedFont>
    <p:embeddedFont>
      <p:font typeface="Libre Baskerville" panose="02000000000000000000" pitchFamily="34" charset="-122"/>
      <p:regular r:id="rId19"/>
    </p:embeddedFont>
    <p:embeddedFont>
      <p:font typeface="Libre Baskerville" panose="02000000000000000000" pitchFamily="34" charset="-120"/>
      <p:regular r:id="rId20"/>
    </p:embeddedFont>
    <p:embeddedFont>
      <p:font typeface="DM Sans Bold" pitchFamily="34" charset="0"/>
      <p:bold r:id="rId21"/>
    </p:embeddedFont>
    <p:embeddedFont>
      <p:font typeface="DM Sans Bold" pitchFamily="34" charset="-122"/>
      <p:bold r:id="rId22"/>
    </p:embeddedFont>
    <p:embeddedFont>
      <p:font typeface="DM Sans Bold" pitchFamily="34" charset="-120"/>
      <p:bold r:id="rId23"/>
    </p:embeddedFont>
    <p:embeddedFont>
      <p:font typeface="Calibri" panose="020F0502020204030204" charset="0"/>
      <p:regular r:id="rId24"/>
      <p:bold r:id="rId25"/>
      <p:italic r:id="rId26"/>
      <p:boldItalic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13.fntdata"/><Relationship Id="rId26" Type="http://schemas.openxmlformats.org/officeDocument/2006/relationships/font" Target="fonts/font12.fntdata"/><Relationship Id="rId25" Type="http://schemas.openxmlformats.org/officeDocument/2006/relationships/font" Target="fonts/font11.fntdata"/><Relationship Id="rId24" Type="http://schemas.openxmlformats.org/officeDocument/2006/relationships/font" Target="fonts/font10.fntdata"/><Relationship Id="rId23" Type="http://schemas.openxmlformats.org/officeDocument/2006/relationships/font" Target="fonts/font9.fntdata"/><Relationship Id="rId22" Type="http://schemas.openxmlformats.org/officeDocument/2006/relationships/font" Target="fonts/font8.fntdata"/><Relationship Id="rId21" Type="http://schemas.openxmlformats.org/officeDocument/2006/relationships/font" Target="fonts/font7.fntdata"/><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DFA"/>
          </a:solidFill>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8" Type="http://schemas.openxmlformats.org/officeDocument/2006/relationships/notesSlide" Target="../notesSlides/notesSlide6.xml"/><Relationship Id="rId17" Type="http://schemas.openxmlformats.org/officeDocument/2006/relationships/slideLayout" Target="../slideLayouts/slideLayout2.xml"/><Relationship Id="rId16" Type="http://schemas.openxmlformats.org/officeDocument/2006/relationships/image" Target="../media/image28.svg"/><Relationship Id="rId15" Type="http://schemas.openxmlformats.org/officeDocument/2006/relationships/image" Target="../media/image27.png"/><Relationship Id="rId14" Type="http://schemas.openxmlformats.org/officeDocument/2006/relationships/image" Target="../media/image26.svg"/><Relationship Id="rId13" Type="http://schemas.openxmlformats.org/officeDocument/2006/relationships/image" Target="../media/image25.png"/><Relationship Id="rId12" Type="http://schemas.openxmlformats.org/officeDocument/2006/relationships/image" Target="../media/image24.svg"/><Relationship Id="rId11" Type="http://schemas.openxmlformats.org/officeDocument/2006/relationships/image" Target="../media/image23.png"/><Relationship Id="rId10" Type="http://schemas.openxmlformats.org/officeDocument/2006/relationships/image" Target="../media/image22.sv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89273"/>
            <a:ext cx="6906444" cy="369193"/>
          </a:xfrm>
          <a:prstGeom prst="rect">
            <a:avLst/>
          </a:prstGeom>
          <a:noFill/>
        </p:spPr>
        <p:txBody>
          <a:bodyPr wrap="none" lIns="0" tIns="0" rIns="0" bIns="0" rtlCol="0" anchor="t"/>
          <a:lstStyle/>
          <a:p>
            <a:pPr marL="0" indent="0" algn="l">
              <a:lnSpc>
                <a:spcPct val="132000"/>
              </a:lnSpc>
              <a:buNone/>
            </a:pPr>
            <a:r>
              <a:rPr lang="en-US" sz="1800" dirty="0">
                <a:solidFill>
                  <a:srgbClr val="454240"/>
                </a:solidFill>
                <a:latin typeface="DM Sans" pitchFamily="34" charset="0"/>
                <a:ea typeface="DM Sans" pitchFamily="34" charset="-122"/>
                <a:cs typeface="DM Sans" pitchFamily="34" charset="-120"/>
              </a:rPr>
              <a:t>Infosys Springboard • Virtual Internship 7.0</a:t>
            </a:r>
            <a:endParaRPr lang="en-US" sz="1800" dirty="0"/>
          </a:p>
        </p:txBody>
      </p:sp>
      <p:sp>
        <p:nvSpPr>
          <p:cNvPr id="4" name="Text 1"/>
          <p:cNvSpPr/>
          <p:nvPr/>
        </p:nvSpPr>
        <p:spPr>
          <a:xfrm>
            <a:off x="5233360" y="1241623"/>
            <a:ext cx="6296860" cy="930275"/>
          </a:xfrm>
          <a:prstGeom prst="rect">
            <a:avLst/>
          </a:prstGeom>
          <a:noFill/>
        </p:spPr>
        <p:txBody>
          <a:bodyPr wrap="square" lIns="0" tIns="0" rIns="0" bIns="0" rtlCol="0" anchor="t">
            <a:normAutofit/>
          </a:bodyPr>
          <a:lstStyle/>
          <a:p>
            <a:pPr marL="0" indent="0" algn="l">
              <a:lnSpc>
                <a:spcPct val="104000"/>
              </a:lnSpc>
              <a:buNone/>
            </a:pPr>
            <a:r>
              <a:rPr lang="en-US" sz="29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Supply Chain Visibility System with Optimization Analytics</a:t>
            </a:r>
            <a:endParaRPr lang="en-US" sz="2900" dirty="0"/>
          </a:p>
        </p:txBody>
      </p:sp>
      <p:sp>
        <p:nvSpPr>
          <p:cNvPr id="5" name="Text 2"/>
          <p:cNvSpPr/>
          <p:nvPr/>
        </p:nvSpPr>
        <p:spPr>
          <a:xfrm>
            <a:off x="5233360" y="2446635"/>
            <a:ext cx="6296860" cy="590550"/>
          </a:xfrm>
          <a:prstGeom prst="rect">
            <a:avLst/>
          </a:prstGeom>
          <a:noFill/>
        </p:spPr>
        <p:txBody>
          <a:bodyPr wrap="square" lIns="0" tIns="0" rIns="0" bIns="0" rtlCol="0" anchor="t">
            <a:normAutofit/>
          </a:bodyPr>
          <a:lstStyle/>
          <a:p>
            <a:pPr marL="0" indent="0" algn="l">
              <a:lnSpc>
                <a:spcPct val="132000"/>
              </a:lnSpc>
              <a:buNone/>
            </a:pPr>
            <a:r>
              <a:rPr lang="en-US" sz="1450" dirty="0">
                <a:solidFill>
                  <a:srgbClr val="454240"/>
                </a:solidFill>
                <a:latin typeface="DM Sans" pitchFamily="34" charset="0"/>
                <a:ea typeface="DM Sans" pitchFamily="34" charset="-122"/>
                <a:cs typeface="DM Sans" pitchFamily="34" charset="-120"/>
              </a:rPr>
              <a:t>A Power BI-based system that analyzes supply-chain data to improve visibility, identify bottlenecks, and support decisions.</a:t>
            </a:r>
            <a:endParaRPr lang="en-US" sz="1450" dirty="0"/>
          </a:p>
        </p:txBody>
      </p:sp>
      <p:sp>
        <p:nvSpPr>
          <p:cNvPr id="6" name="Text 3"/>
          <p:cNvSpPr/>
          <p:nvPr/>
        </p:nvSpPr>
        <p:spPr>
          <a:xfrm>
            <a:off x="5233360" y="3311922"/>
            <a:ext cx="6296860" cy="290711"/>
          </a:xfrm>
          <a:prstGeom prst="rect">
            <a:avLst/>
          </a:prstGeom>
          <a:noFill/>
        </p:spPr>
        <p:txBody>
          <a:bodyPr wrap="none" lIns="0" tIns="0" rIns="0" bIns="0" rtlCol="0" anchor="t"/>
          <a:lstStyle/>
          <a:p>
            <a:pPr marL="0" indent="0" algn="l">
              <a:lnSpc>
                <a:spcPct val="104000"/>
              </a:lnSpc>
              <a:buNone/>
            </a:pPr>
            <a:r>
              <a:rPr lang="en-US" sz="18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Team D • Group 1</a:t>
            </a:r>
            <a:endParaRPr lang="en-US" sz="1800" dirty="0"/>
          </a:p>
        </p:txBody>
      </p:sp>
      <p:sp>
        <p:nvSpPr>
          <p:cNvPr id="7" name="Text 4"/>
          <p:cNvSpPr/>
          <p:nvPr/>
        </p:nvSpPr>
        <p:spPr>
          <a:xfrm>
            <a:off x="5233360" y="3675856"/>
            <a:ext cx="6296860" cy="290711"/>
          </a:xfrm>
          <a:prstGeom prst="rect">
            <a:avLst/>
          </a:prstGeom>
          <a:noFill/>
        </p:spPr>
        <p:txBody>
          <a:bodyPr wrap="none" lIns="0" tIns="0" rIns="0" bIns="0" rtlCol="0" anchor="t"/>
          <a:lstStyle/>
          <a:p>
            <a:pPr marL="0" indent="0" algn="l">
              <a:lnSpc>
                <a:spcPct val="104000"/>
              </a:lnSpc>
              <a:buNone/>
            </a:pPr>
            <a:r>
              <a:rPr lang="en-US" sz="18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Mentor - Ms. Nityasree</a:t>
            </a:r>
            <a:endParaRPr lang="en-US" sz="1800" dirty="0"/>
          </a:p>
        </p:txBody>
      </p:sp>
      <p:sp>
        <p:nvSpPr>
          <p:cNvPr id="8" name="Text 5"/>
          <p:cNvSpPr/>
          <p:nvPr/>
        </p:nvSpPr>
        <p:spPr>
          <a:xfrm>
            <a:off x="5233360" y="4241304"/>
            <a:ext cx="6296860" cy="2092127"/>
          </a:xfrm>
          <a:prstGeom prst="rect">
            <a:avLst/>
          </a:prstGeom>
          <a:noFill/>
        </p:spPr>
        <p:txBody>
          <a:bodyPr wrap="square" lIns="0" tIns="74426" rIns="0" bIns="0" rtlCol="0" anchor="t">
            <a:normAutofit/>
          </a:bodyPr>
          <a:lstStyle/>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Umeshwaran R</a:t>
            </a:r>
            <a:endParaRPr lang="en-US" sz="1450" dirty="0"/>
          </a:p>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Uppala Bhavya Sri</a:t>
            </a:r>
            <a:endParaRPr lang="en-US" sz="1450" dirty="0"/>
          </a:p>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V. Charita Sree</a:t>
            </a:r>
            <a:endParaRPr lang="en-US" sz="1450" dirty="0"/>
          </a:p>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Velpuri Sai Rohitha</a:t>
            </a:r>
            <a:endParaRPr lang="en-US" sz="1450" dirty="0"/>
          </a:p>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Venkata Puneeth Kothapalli</a:t>
            </a:r>
            <a:endParaRPr lang="en-US" sz="1450" dirty="0"/>
          </a:p>
          <a:p>
            <a:pPr marL="294640" indent="-294640" algn="l">
              <a:lnSpc>
                <a:spcPct val="132000"/>
              </a:lnSpc>
              <a:buSzPct val="100000"/>
              <a:buChar char="•"/>
            </a:pPr>
            <a:r>
              <a:rPr lang="en-US" sz="1450" dirty="0">
                <a:solidFill>
                  <a:srgbClr val="454240"/>
                </a:solidFill>
                <a:latin typeface="DM Sans" pitchFamily="34" charset="0"/>
                <a:ea typeface="DM Sans" pitchFamily="34" charset="-122"/>
                <a:cs typeface="DM Sans" pitchFamily="34" charset="-120"/>
              </a:rPr>
              <a:t>Yuvasree P</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71413"/>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Project Objective</a:t>
            </a:r>
            <a:endParaRPr lang="en-US" sz="3700" dirty="0"/>
          </a:p>
        </p:txBody>
      </p:sp>
      <p:sp>
        <p:nvSpPr>
          <p:cNvPr id="3" name="Text 1"/>
          <p:cNvSpPr/>
          <p:nvPr/>
        </p:nvSpPr>
        <p:spPr>
          <a:xfrm>
            <a:off x="661475" y="1734542"/>
            <a:ext cx="5203794" cy="295275"/>
          </a:xfrm>
          <a:prstGeom prst="rect">
            <a:avLst/>
          </a:prstGeom>
          <a:noFill/>
        </p:spPr>
        <p:txBody>
          <a:bodyPr wrap="none" lIns="0" tIns="0" rIns="0" bIns="0" rtlCol="0" anchor="t"/>
          <a:lstStyle/>
          <a:p>
            <a:pPr marL="0" indent="0" algn="l">
              <a:lnSpc>
                <a:spcPct val="104000"/>
              </a:lnSpc>
              <a:buNone/>
            </a:pPr>
            <a:r>
              <a:rPr lang="en-US" sz="18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Our Project Focus</a:t>
            </a:r>
            <a:endParaRPr lang="en-US" sz="1850" dirty="0"/>
          </a:p>
        </p:txBody>
      </p:sp>
      <p:sp>
        <p:nvSpPr>
          <p:cNvPr id="4" name="Text 2"/>
          <p:cNvSpPr/>
          <p:nvPr/>
        </p:nvSpPr>
        <p:spPr>
          <a:xfrm>
            <a:off x="661475" y="2218829"/>
            <a:ext cx="5203794" cy="2012752"/>
          </a:xfrm>
          <a:prstGeom prst="rect">
            <a:avLst/>
          </a:prstGeom>
          <a:noFill/>
        </p:spPr>
        <p:txBody>
          <a:bodyPr wrap="square" lIns="0" tIns="75608" rIns="0" bIns="0" rtlCol="0" anchor="t">
            <a:normAutofit/>
          </a:bodyPr>
          <a:lstStyle/>
          <a:p>
            <a:pPr marL="294640" indent="-294640" algn="l">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Monitor the overall supply chain in one platform.</a:t>
            </a:r>
            <a:endParaRPr lang="en-US" sz="1450" dirty="0"/>
          </a:p>
          <a:p>
            <a:pPr marL="294640" indent="-294640" algn="l">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Track inventory, orders, suppliers, and deliveries.</a:t>
            </a:r>
            <a:endParaRPr lang="en-US" sz="1450" dirty="0"/>
          </a:p>
          <a:p>
            <a:pPr marL="294640" indent="-294640" algn="l">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Identify delays, bottlenecks, and operational inefficiencies.</a:t>
            </a:r>
            <a:endParaRPr lang="en-US" sz="1450" dirty="0"/>
          </a:p>
          <a:p>
            <a:pPr marL="294640" indent="-294640" algn="l">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Optimize resources and support better business decisions.</a:t>
            </a:r>
            <a:endParaRPr lang="en-US" sz="1450" dirty="0"/>
          </a:p>
        </p:txBody>
      </p:sp>
      <p:sp>
        <p:nvSpPr>
          <p:cNvPr id="5" name="Text 3"/>
          <p:cNvSpPr/>
          <p:nvPr/>
        </p:nvSpPr>
        <p:spPr>
          <a:xfrm>
            <a:off x="6332776" y="1734542"/>
            <a:ext cx="5203794" cy="295275"/>
          </a:xfrm>
          <a:prstGeom prst="rect">
            <a:avLst/>
          </a:prstGeom>
          <a:noFill/>
        </p:spPr>
        <p:txBody>
          <a:bodyPr wrap="none" lIns="0" tIns="0" rIns="0" bIns="0" rtlCol="0" anchor="t"/>
          <a:lstStyle/>
          <a:p>
            <a:pPr marL="0" indent="0" algn="l">
              <a:lnSpc>
                <a:spcPct val="104000"/>
              </a:lnSpc>
              <a:buNone/>
            </a:pPr>
            <a:r>
              <a:rPr lang="en-US" sz="18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Workstream Breakdown</a:t>
            </a:r>
            <a:endParaRPr lang="en-US" sz="1850" dirty="0"/>
          </a:p>
        </p:txBody>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2242443"/>
            <a:ext cx="2507394" cy="1019373"/>
          </a:xfrm>
          <a:prstGeom prst="rect">
            <a:avLst/>
          </a:prstGeom>
        </p:spPr>
      </p:pic>
      <p:sp>
        <p:nvSpPr>
          <p:cNvPr id="7" name="Text 4"/>
          <p:cNvSpPr/>
          <p:nvPr/>
        </p:nvSpPr>
        <p:spPr>
          <a:xfrm>
            <a:off x="6648780" y="2456855"/>
            <a:ext cx="1976983"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Supply Chain Monitoring</a:t>
            </a:r>
            <a:endParaRPr lang="en-US" sz="1850" dirty="0"/>
          </a:p>
        </p:txBody>
      </p:sp>
      <p:pic>
        <p:nvPicPr>
          <p:cNvPr id="8"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29176" y="2242443"/>
            <a:ext cx="2507394" cy="1019373"/>
          </a:xfrm>
          <a:prstGeom prst="rect">
            <a:avLst/>
          </a:prstGeom>
        </p:spPr>
      </p:pic>
      <p:sp>
        <p:nvSpPr>
          <p:cNvPr id="9" name="Text 5"/>
          <p:cNvSpPr/>
          <p:nvPr/>
        </p:nvSpPr>
        <p:spPr>
          <a:xfrm>
            <a:off x="9345180" y="2456855"/>
            <a:ext cx="1976983"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Inventory Management</a:t>
            </a:r>
            <a:endParaRPr lang="en-US" sz="18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2776" y="3450828"/>
            <a:ext cx="2507394" cy="1314648"/>
          </a:xfrm>
          <a:prstGeom prst="rect">
            <a:avLst/>
          </a:prstGeom>
        </p:spPr>
      </p:pic>
      <p:sp>
        <p:nvSpPr>
          <p:cNvPr id="11" name="Text 6"/>
          <p:cNvSpPr/>
          <p:nvPr/>
        </p:nvSpPr>
        <p:spPr>
          <a:xfrm>
            <a:off x="6648780" y="3665240"/>
            <a:ext cx="1976983" cy="885825"/>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Order &amp; Delivery Tracking</a:t>
            </a:r>
            <a:endParaRPr lang="en-US" sz="185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76" y="3450828"/>
            <a:ext cx="2507394" cy="1314648"/>
          </a:xfrm>
          <a:prstGeom prst="rect">
            <a:avLst/>
          </a:prstGeom>
        </p:spPr>
      </p:pic>
      <p:sp>
        <p:nvSpPr>
          <p:cNvPr id="13" name="Text 7"/>
          <p:cNvSpPr/>
          <p:nvPr/>
        </p:nvSpPr>
        <p:spPr>
          <a:xfrm>
            <a:off x="9345180" y="3665240"/>
            <a:ext cx="1976983" cy="885825"/>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Supplier Performance Analysis</a:t>
            </a:r>
            <a:endParaRPr lang="en-US" sz="1850" dirty="0"/>
          </a:p>
        </p:txBody>
      </p:sp>
      <p:pic>
        <p:nvPicPr>
          <p:cNvPr id="14" name="Image 4"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4954488"/>
            <a:ext cx="2507394" cy="1019373"/>
          </a:xfrm>
          <a:prstGeom prst="rect">
            <a:avLst/>
          </a:prstGeom>
        </p:spPr>
      </p:pic>
      <p:sp>
        <p:nvSpPr>
          <p:cNvPr id="15" name="Text 8"/>
          <p:cNvSpPr/>
          <p:nvPr/>
        </p:nvSpPr>
        <p:spPr>
          <a:xfrm>
            <a:off x="6648780" y="5168900"/>
            <a:ext cx="1976983"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Optimization &amp; Analytics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55340"/>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Project Execution Milestones</a:t>
            </a:r>
            <a:endParaRPr lang="en-US" sz="3700" dirty="0"/>
          </a:p>
        </p:txBody>
      </p:sp>
      <p:sp>
        <p:nvSpPr>
          <p:cNvPr id="3" name="Shape 1"/>
          <p:cNvSpPr/>
          <p:nvPr/>
        </p:nvSpPr>
        <p:spPr>
          <a:xfrm>
            <a:off x="661475" y="1624013"/>
            <a:ext cx="5339820" cy="2342455"/>
          </a:xfrm>
          <a:prstGeom prst="roundRect">
            <a:avLst>
              <a:gd name="adj" fmla="val 3389"/>
            </a:avLst>
          </a:prstGeom>
          <a:solidFill>
            <a:srgbClr val="FFFDFA"/>
          </a:solidFill>
          <a:ln w="25399">
            <a:solidFill>
              <a:srgbClr val="DDD3BA"/>
            </a:solidFill>
            <a:prstDash val="solid"/>
          </a:ln>
        </p:spPr>
      </p:sp>
      <p:sp>
        <p:nvSpPr>
          <p:cNvPr id="4" name="Text 2"/>
          <p:cNvSpPr/>
          <p:nvPr/>
        </p:nvSpPr>
        <p:spPr>
          <a:xfrm>
            <a:off x="875881" y="1838424"/>
            <a:ext cx="4911007"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Milestone 1 – Data Acquisition &amp; Cleaning</a:t>
            </a:r>
            <a:endParaRPr lang="en-US" sz="1850" dirty="0"/>
          </a:p>
        </p:txBody>
      </p:sp>
      <p:sp>
        <p:nvSpPr>
          <p:cNvPr id="5" name="Text 3"/>
          <p:cNvSpPr/>
          <p:nvPr/>
        </p:nvSpPr>
        <p:spPr>
          <a:xfrm>
            <a:off x="875881" y="2542381"/>
            <a:ext cx="4911007"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54240"/>
                </a:solidFill>
                <a:latin typeface="DM Sans" pitchFamily="34" charset="0"/>
                <a:ea typeface="DM Sans" pitchFamily="34" charset="-122"/>
                <a:cs typeface="DM Sans" pitchFamily="34" charset="-120"/>
              </a:rPr>
              <a:t>Collected supply-chain data and prepared it by correcting missing values, eliminating duplicates, removing irrelevant fields, and maintaining consistent formats.</a:t>
            </a:r>
            <a:endParaRPr lang="en-US" sz="1450" dirty="0"/>
          </a:p>
        </p:txBody>
      </p:sp>
      <p:sp>
        <p:nvSpPr>
          <p:cNvPr id="6" name="Shape 4"/>
          <p:cNvSpPr/>
          <p:nvPr/>
        </p:nvSpPr>
        <p:spPr>
          <a:xfrm>
            <a:off x="6190301" y="1624013"/>
            <a:ext cx="5339919" cy="2342455"/>
          </a:xfrm>
          <a:prstGeom prst="roundRect">
            <a:avLst>
              <a:gd name="adj" fmla="val 3389"/>
            </a:avLst>
          </a:prstGeom>
          <a:solidFill>
            <a:srgbClr val="FFFDFA"/>
          </a:solidFill>
          <a:ln w="25399">
            <a:solidFill>
              <a:srgbClr val="DDD3BA"/>
            </a:solidFill>
            <a:prstDash val="solid"/>
          </a:ln>
        </p:spPr>
      </p:sp>
      <p:sp>
        <p:nvSpPr>
          <p:cNvPr id="7" name="Text 5"/>
          <p:cNvSpPr/>
          <p:nvPr/>
        </p:nvSpPr>
        <p:spPr>
          <a:xfrm>
            <a:off x="6404708" y="1838424"/>
            <a:ext cx="4911106" cy="295275"/>
          </a:xfrm>
          <a:prstGeom prst="rect">
            <a:avLst/>
          </a:prstGeom>
          <a:noFill/>
        </p:spPr>
        <p:txBody>
          <a:bodyPr wrap="none" lIns="0" tIns="0" rIns="0" bIns="0" rtlCol="0" anchor="t"/>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Milestone 2 – Data Modeling</a:t>
            </a:r>
            <a:endParaRPr lang="en-US" sz="1850" dirty="0"/>
          </a:p>
        </p:txBody>
      </p:sp>
      <p:sp>
        <p:nvSpPr>
          <p:cNvPr id="8" name="Text 6"/>
          <p:cNvSpPr/>
          <p:nvPr/>
        </p:nvSpPr>
        <p:spPr>
          <a:xfrm>
            <a:off x="6404708" y="2247106"/>
            <a:ext cx="4911106" cy="907256"/>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54240"/>
                </a:solidFill>
                <a:latin typeface="DM Sans" pitchFamily="34" charset="0"/>
                <a:ea typeface="DM Sans" pitchFamily="34" charset="-122"/>
                <a:cs typeface="DM Sans" pitchFamily="34" charset="-120"/>
              </a:rPr>
              <a:t>Organized data into a structured model by defining relationships between datasets and arranging fields for accurate analysis and KPI generation.</a:t>
            </a:r>
            <a:endParaRPr lang="en-US" sz="1450" dirty="0"/>
          </a:p>
        </p:txBody>
      </p:sp>
      <p:sp>
        <p:nvSpPr>
          <p:cNvPr id="9" name="Shape 7"/>
          <p:cNvSpPr/>
          <p:nvPr/>
        </p:nvSpPr>
        <p:spPr>
          <a:xfrm>
            <a:off x="661475" y="4155480"/>
            <a:ext cx="5339820" cy="2047180"/>
          </a:xfrm>
          <a:prstGeom prst="roundRect">
            <a:avLst>
              <a:gd name="adj" fmla="val 3878"/>
            </a:avLst>
          </a:prstGeom>
          <a:solidFill>
            <a:srgbClr val="FFFDFA"/>
          </a:solidFill>
          <a:ln w="25399">
            <a:solidFill>
              <a:srgbClr val="DDD3BA"/>
            </a:solidFill>
            <a:prstDash val="solid"/>
          </a:ln>
        </p:spPr>
      </p:sp>
      <p:sp>
        <p:nvSpPr>
          <p:cNvPr id="10" name="Text 8"/>
          <p:cNvSpPr/>
          <p:nvPr/>
        </p:nvSpPr>
        <p:spPr>
          <a:xfrm>
            <a:off x="875881" y="4369891"/>
            <a:ext cx="4911007" cy="295275"/>
          </a:xfrm>
          <a:prstGeom prst="rect">
            <a:avLst/>
          </a:prstGeom>
          <a:noFill/>
        </p:spPr>
        <p:txBody>
          <a:bodyPr wrap="none" lIns="0" tIns="0" rIns="0" bIns="0" rtlCol="0" anchor="t"/>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Milestone 3 – Development</a:t>
            </a:r>
            <a:endParaRPr lang="en-US" sz="1850" dirty="0"/>
          </a:p>
        </p:txBody>
      </p:sp>
      <p:sp>
        <p:nvSpPr>
          <p:cNvPr id="11" name="Text 9"/>
          <p:cNvSpPr/>
          <p:nvPr/>
        </p:nvSpPr>
        <p:spPr>
          <a:xfrm>
            <a:off x="875881" y="4778573"/>
            <a:ext cx="4911007"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54240"/>
                </a:solidFill>
                <a:latin typeface="DM Sans" pitchFamily="34" charset="0"/>
                <a:ea typeface="DM Sans" pitchFamily="34" charset="-122"/>
                <a:cs typeface="DM Sans" pitchFamily="34" charset="-120"/>
              </a:rPr>
              <a:t>Built the Power BI dashboard with interactive KPIs, charts, and analytical views to monitor shipments, inventory, suppliers, transportation, costs, and product performance.</a:t>
            </a:r>
            <a:endParaRPr lang="en-US" sz="1450" dirty="0"/>
          </a:p>
        </p:txBody>
      </p:sp>
      <p:sp>
        <p:nvSpPr>
          <p:cNvPr id="12" name="Shape 10"/>
          <p:cNvSpPr/>
          <p:nvPr/>
        </p:nvSpPr>
        <p:spPr>
          <a:xfrm>
            <a:off x="6190301" y="4155480"/>
            <a:ext cx="5339919" cy="2047180"/>
          </a:xfrm>
          <a:prstGeom prst="roundRect">
            <a:avLst>
              <a:gd name="adj" fmla="val 3878"/>
            </a:avLst>
          </a:prstGeom>
          <a:solidFill>
            <a:srgbClr val="FFFDFA"/>
          </a:solidFill>
          <a:ln w="25399">
            <a:solidFill>
              <a:srgbClr val="DDD3BA"/>
            </a:solidFill>
            <a:prstDash val="solid"/>
          </a:ln>
        </p:spPr>
      </p:sp>
      <p:sp>
        <p:nvSpPr>
          <p:cNvPr id="13" name="Text 11"/>
          <p:cNvSpPr/>
          <p:nvPr/>
        </p:nvSpPr>
        <p:spPr>
          <a:xfrm>
            <a:off x="6404708" y="4369891"/>
            <a:ext cx="4911106" cy="295275"/>
          </a:xfrm>
          <a:prstGeom prst="rect">
            <a:avLst/>
          </a:prstGeom>
          <a:noFill/>
        </p:spPr>
        <p:txBody>
          <a:bodyPr wrap="none" lIns="0" tIns="0" rIns="0" bIns="0" rtlCol="0" anchor="t"/>
          <a:lstStyle/>
          <a:p>
            <a:pPr marL="0" indent="0" algn="l">
              <a:lnSpc>
                <a:spcPct val="104000"/>
              </a:lnSpc>
              <a:buNone/>
            </a:pPr>
            <a:r>
              <a:rPr lang="en-US" sz="18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Milestone 4 – Review &amp; Optimization</a:t>
            </a:r>
            <a:endParaRPr lang="en-US" sz="1850" dirty="0"/>
          </a:p>
        </p:txBody>
      </p:sp>
      <p:sp>
        <p:nvSpPr>
          <p:cNvPr id="14" name="Text 12"/>
          <p:cNvSpPr/>
          <p:nvPr/>
        </p:nvSpPr>
        <p:spPr>
          <a:xfrm>
            <a:off x="6404708" y="4778573"/>
            <a:ext cx="4911106"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54240"/>
                </a:solidFill>
                <a:latin typeface="DM Sans" pitchFamily="34" charset="0"/>
                <a:ea typeface="DM Sans" pitchFamily="34" charset="-122"/>
                <a:cs typeface="DM Sans" pitchFamily="34" charset="-120"/>
              </a:rPr>
              <a:t>Analyzed dashboard results to identify trends and operational issues, then refined the model and visualizations to improve clarity and usefulness of insights.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70012"/>
            <a:ext cx="10868745" cy="553740"/>
          </a:xfrm>
          <a:prstGeom prst="rect">
            <a:avLst/>
          </a:prstGeom>
          <a:noFill/>
        </p:spPr>
        <p:txBody>
          <a:bodyPr wrap="none" lIns="0" tIns="0" rIns="0" bIns="0" rtlCol="0" anchor="t"/>
          <a:lstStyle/>
          <a:p>
            <a:pPr marL="0" indent="0" algn="l">
              <a:lnSpc>
                <a:spcPct val="104000"/>
              </a:lnSpc>
              <a:buNone/>
            </a:pPr>
            <a:r>
              <a:rPr lang="en-US" sz="34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Challenges &amp; Resolutions</a:t>
            </a:r>
            <a:endParaRPr lang="en-US" sz="3450" dirty="0"/>
          </a:p>
        </p:txBody>
      </p:sp>
      <p:sp>
        <p:nvSpPr>
          <p:cNvPr id="3" name="Text 1"/>
          <p:cNvSpPr/>
          <p:nvPr/>
        </p:nvSpPr>
        <p:spPr>
          <a:xfrm>
            <a:off x="661475" y="1538982"/>
            <a:ext cx="5218280" cy="276920"/>
          </a:xfrm>
          <a:prstGeom prst="rect">
            <a:avLst/>
          </a:prstGeom>
          <a:noFill/>
        </p:spPr>
        <p:txBody>
          <a:bodyPr wrap="none" lIns="0" tIns="0" rIns="0" bIns="0" rtlCol="0" anchor="t"/>
          <a:lstStyle/>
          <a:p>
            <a:pPr marL="0" indent="0" algn="l">
              <a:lnSpc>
                <a:spcPct val="104000"/>
              </a:lnSpc>
              <a:buNone/>
            </a:pPr>
            <a:r>
              <a:rPr lang="en-US" sz="17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Challenges</a:t>
            </a:r>
            <a:endParaRPr lang="en-US" sz="1700" dirty="0"/>
          </a:p>
        </p:txBody>
      </p:sp>
      <p:sp>
        <p:nvSpPr>
          <p:cNvPr id="4" name="Shape 2"/>
          <p:cNvSpPr/>
          <p:nvPr/>
        </p:nvSpPr>
        <p:spPr>
          <a:xfrm>
            <a:off x="661475" y="2002730"/>
            <a:ext cx="398651" cy="398661"/>
          </a:xfrm>
          <a:prstGeom prst="roundRect">
            <a:avLst>
              <a:gd name="adj" fmla="val 18669"/>
            </a:avLst>
          </a:prstGeom>
          <a:solidFill>
            <a:srgbClr val="F7EDD4"/>
          </a:solidFill>
          <a:ln w="6350">
            <a:solidFill>
              <a:srgbClr val="DDD3BA"/>
            </a:solidFill>
            <a:prstDash val="solid"/>
          </a:ln>
        </p:spPr>
      </p:sp>
      <p:sp>
        <p:nvSpPr>
          <p:cNvPr id="5" name="Text 3"/>
          <p:cNvSpPr/>
          <p:nvPr/>
        </p:nvSpPr>
        <p:spPr>
          <a:xfrm>
            <a:off x="727900" y="2035969"/>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1</a:t>
            </a:r>
            <a:endParaRPr lang="en-US" sz="2050" dirty="0"/>
          </a:p>
        </p:txBody>
      </p:sp>
      <p:sp>
        <p:nvSpPr>
          <p:cNvPr id="6" name="Text 4"/>
          <p:cNvSpPr/>
          <p:nvPr/>
        </p:nvSpPr>
        <p:spPr>
          <a:xfrm>
            <a:off x="1226214" y="2063552"/>
            <a:ext cx="4653541" cy="276920"/>
          </a:xfrm>
          <a:prstGeom prst="rect">
            <a:avLst/>
          </a:prstGeom>
          <a:noFill/>
        </p:spPr>
        <p:txBody>
          <a:bodyPr wrap="none" lIns="0" tIns="0" rIns="0" bIns="0" rtlCol="0" anchor="t"/>
          <a:lstStyle/>
          <a:p>
            <a:pPr marL="0" indent="0" algn="l">
              <a:lnSpc>
                <a:spcPct val="104000"/>
              </a:lnSpc>
              <a:buNone/>
            </a:pPr>
            <a:r>
              <a:rPr lang="en-US" sz="17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Incomplete &amp; Inconsistent Data</a:t>
            </a:r>
            <a:endParaRPr lang="en-US" sz="1700" dirty="0"/>
          </a:p>
        </p:txBody>
      </p:sp>
      <p:sp>
        <p:nvSpPr>
          <p:cNvPr id="7" name="Text 5"/>
          <p:cNvSpPr/>
          <p:nvPr/>
        </p:nvSpPr>
        <p:spPr>
          <a:xfrm>
            <a:off x="1226214" y="2506563"/>
            <a:ext cx="4653541" cy="54927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454240"/>
                </a:solidFill>
                <a:latin typeface="DM Sans" pitchFamily="34" charset="0"/>
                <a:ea typeface="DM Sans" pitchFamily="34" charset="-122"/>
                <a:cs typeface="DM Sans" pitchFamily="34" charset="-120"/>
              </a:rPr>
              <a:t>Missing values, duplicate records, and inconsistent formats affected the accuracy of analysis.</a:t>
            </a:r>
            <a:endParaRPr lang="en-US" sz="1350" dirty="0"/>
          </a:p>
        </p:txBody>
      </p:sp>
      <p:sp>
        <p:nvSpPr>
          <p:cNvPr id="8" name="Shape 6"/>
          <p:cNvSpPr/>
          <p:nvPr/>
        </p:nvSpPr>
        <p:spPr>
          <a:xfrm>
            <a:off x="661475" y="3388023"/>
            <a:ext cx="398651" cy="398661"/>
          </a:xfrm>
          <a:prstGeom prst="roundRect">
            <a:avLst>
              <a:gd name="adj" fmla="val 18669"/>
            </a:avLst>
          </a:prstGeom>
          <a:solidFill>
            <a:srgbClr val="F7EDD4"/>
          </a:solidFill>
          <a:ln w="6350">
            <a:solidFill>
              <a:srgbClr val="DDD3BA"/>
            </a:solidFill>
            <a:prstDash val="solid"/>
          </a:ln>
        </p:spPr>
      </p:sp>
      <p:sp>
        <p:nvSpPr>
          <p:cNvPr id="9" name="Text 7"/>
          <p:cNvSpPr/>
          <p:nvPr/>
        </p:nvSpPr>
        <p:spPr>
          <a:xfrm>
            <a:off x="727900" y="3421261"/>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2</a:t>
            </a:r>
            <a:endParaRPr lang="en-US" sz="2050" dirty="0"/>
          </a:p>
        </p:txBody>
      </p:sp>
      <p:sp>
        <p:nvSpPr>
          <p:cNvPr id="10" name="Text 8"/>
          <p:cNvSpPr/>
          <p:nvPr/>
        </p:nvSpPr>
        <p:spPr>
          <a:xfrm>
            <a:off x="1226214" y="3448844"/>
            <a:ext cx="4653541" cy="276920"/>
          </a:xfrm>
          <a:prstGeom prst="rect">
            <a:avLst/>
          </a:prstGeom>
          <a:noFill/>
        </p:spPr>
        <p:txBody>
          <a:bodyPr wrap="none" lIns="0" tIns="0" rIns="0" bIns="0" rtlCol="0" anchor="t"/>
          <a:lstStyle/>
          <a:p>
            <a:pPr marL="0" indent="0" algn="l">
              <a:lnSpc>
                <a:spcPct val="104000"/>
              </a:lnSpc>
              <a:buNone/>
            </a:pPr>
            <a:r>
              <a:rPr lang="en-US" sz="17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Complex Supply Chain Data</a:t>
            </a:r>
            <a:endParaRPr lang="en-US" sz="1700" dirty="0"/>
          </a:p>
        </p:txBody>
      </p:sp>
      <p:sp>
        <p:nvSpPr>
          <p:cNvPr id="11" name="Text 9"/>
          <p:cNvSpPr/>
          <p:nvPr/>
        </p:nvSpPr>
        <p:spPr>
          <a:xfrm>
            <a:off x="1226214" y="3891855"/>
            <a:ext cx="4653541" cy="823913"/>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454240"/>
                </a:solidFill>
                <a:latin typeface="DM Sans" pitchFamily="34" charset="0"/>
                <a:ea typeface="DM Sans" pitchFamily="34" charset="-122"/>
                <a:cs typeface="DM Sans" pitchFamily="34" charset="-120"/>
              </a:rPr>
              <a:t>Data from inventory, suppliers, orders, transportation, and deliveries was difficult to organize and analyze together.</a:t>
            </a:r>
            <a:endParaRPr lang="en-US" sz="1350" dirty="0"/>
          </a:p>
        </p:txBody>
      </p:sp>
      <p:sp>
        <p:nvSpPr>
          <p:cNvPr id="12" name="Shape 10"/>
          <p:cNvSpPr/>
          <p:nvPr/>
        </p:nvSpPr>
        <p:spPr>
          <a:xfrm>
            <a:off x="661475" y="5047952"/>
            <a:ext cx="398651" cy="398661"/>
          </a:xfrm>
          <a:prstGeom prst="roundRect">
            <a:avLst>
              <a:gd name="adj" fmla="val 18669"/>
            </a:avLst>
          </a:prstGeom>
          <a:solidFill>
            <a:srgbClr val="F7EDD4"/>
          </a:solidFill>
          <a:ln w="6350">
            <a:solidFill>
              <a:srgbClr val="DDD3BA"/>
            </a:solidFill>
            <a:prstDash val="solid"/>
          </a:ln>
        </p:spPr>
      </p:sp>
      <p:sp>
        <p:nvSpPr>
          <p:cNvPr id="13" name="Text 11"/>
          <p:cNvSpPr/>
          <p:nvPr/>
        </p:nvSpPr>
        <p:spPr>
          <a:xfrm>
            <a:off x="727900" y="5081191"/>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3</a:t>
            </a:r>
            <a:endParaRPr lang="en-US" sz="2050" dirty="0"/>
          </a:p>
        </p:txBody>
      </p:sp>
      <p:sp>
        <p:nvSpPr>
          <p:cNvPr id="14" name="Text 12"/>
          <p:cNvSpPr/>
          <p:nvPr/>
        </p:nvSpPr>
        <p:spPr>
          <a:xfrm>
            <a:off x="1226214" y="5108773"/>
            <a:ext cx="4653541" cy="276920"/>
          </a:xfrm>
          <a:prstGeom prst="rect">
            <a:avLst/>
          </a:prstGeom>
          <a:noFill/>
        </p:spPr>
        <p:txBody>
          <a:bodyPr wrap="none" lIns="0" tIns="0" rIns="0" bIns="0" rtlCol="0" anchor="t"/>
          <a:lstStyle/>
          <a:p>
            <a:pPr marL="0" indent="0" algn="l">
              <a:lnSpc>
                <a:spcPct val="104000"/>
              </a:lnSpc>
              <a:buNone/>
            </a:pPr>
            <a:r>
              <a:rPr lang="en-US" sz="17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Identifying Actionable Insights</a:t>
            </a:r>
            <a:endParaRPr lang="en-US" sz="1700" dirty="0"/>
          </a:p>
        </p:txBody>
      </p:sp>
      <p:sp>
        <p:nvSpPr>
          <p:cNvPr id="15" name="Text 13"/>
          <p:cNvSpPr/>
          <p:nvPr/>
        </p:nvSpPr>
        <p:spPr>
          <a:xfrm>
            <a:off x="1226214" y="5551785"/>
            <a:ext cx="4653541" cy="54927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454240"/>
                </a:solidFill>
                <a:latin typeface="DM Sans" pitchFamily="34" charset="0"/>
                <a:ea typeface="DM Sans" pitchFamily="34" charset="-122"/>
                <a:cs typeface="DM Sans" pitchFamily="34" charset="-120"/>
              </a:rPr>
              <a:t>Large amounts of data made it difficult to identify important delays, bottlenecks, and inefficiencies.</a:t>
            </a:r>
            <a:endParaRPr lang="en-US" sz="1350" dirty="0"/>
          </a:p>
        </p:txBody>
      </p:sp>
      <p:sp>
        <p:nvSpPr>
          <p:cNvPr id="16" name="Shape 14"/>
          <p:cNvSpPr/>
          <p:nvPr/>
        </p:nvSpPr>
        <p:spPr>
          <a:xfrm>
            <a:off x="6190797" y="1372890"/>
            <a:ext cx="5473265" cy="4914999"/>
          </a:xfrm>
          <a:prstGeom prst="roundRect">
            <a:avLst>
              <a:gd name="adj" fmla="val 2596"/>
            </a:avLst>
          </a:prstGeom>
          <a:solidFill>
            <a:srgbClr val="4D4D4D"/>
          </a:solidFill>
        </p:spPr>
      </p:sp>
      <p:sp>
        <p:nvSpPr>
          <p:cNvPr id="17" name="Text 15"/>
          <p:cNvSpPr/>
          <p:nvPr/>
        </p:nvSpPr>
        <p:spPr>
          <a:xfrm>
            <a:off x="6367998" y="1538982"/>
            <a:ext cx="5118865" cy="276920"/>
          </a:xfrm>
          <a:prstGeom prst="rect">
            <a:avLst/>
          </a:prstGeom>
          <a:noFill/>
        </p:spPr>
        <p:txBody>
          <a:bodyPr wrap="none" lIns="0" tIns="0" rIns="0" bIns="0" rtlCol="0" anchor="t"/>
          <a:lstStyle/>
          <a:p>
            <a:pPr marL="0" indent="0" algn="l">
              <a:lnSpc>
                <a:spcPct val="104000"/>
              </a:lnSpc>
              <a:buNone/>
            </a:pPr>
            <a:r>
              <a:rPr lang="en-US" sz="17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Resolutions</a:t>
            </a:r>
            <a:endParaRPr lang="en-US" sz="1700" dirty="0"/>
          </a:p>
        </p:txBody>
      </p:sp>
      <p:sp>
        <p:nvSpPr>
          <p:cNvPr id="18" name="Shape 16"/>
          <p:cNvSpPr/>
          <p:nvPr/>
        </p:nvSpPr>
        <p:spPr>
          <a:xfrm>
            <a:off x="6367998" y="2002730"/>
            <a:ext cx="398651" cy="398661"/>
          </a:xfrm>
          <a:prstGeom prst="roundRect">
            <a:avLst>
              <a:gd name="adj" fmla="val 18669"/>
            </a:avLst>
          </a:prstGeom>
          <a:solidFill>
            <a:srgbClr val="F7EDD4"/>
          </a:solidFill>
          <a:ln w="6350">
            <a:solidFill>
              <a:srgbClr val="DDD3BA"/>
            </a:solidFill>
            <a:prstDash val="solid"/>
          </a:ln>
        </p:spPr>
      </p:sp>
      <p:sp>
        <p:nvSpPr>
          <p:cNvPr id="19" name="Text 17"/>
          <p:cNvSpPr/>
          <p:nvPr/>
        </p:nvSpPr>
        <p:spPr>
          <a:xfrm>
            <a:off x="6434423" y="2035969"/>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1</a:t>
            </a:r>
            <a:endParaRPr lang="en-US" sz="2050" dirty="0"/>
          </a:p>
        </p:txBody>
      </p:sp>
      <p:sp>
        <p:nvSpPr>
          <p:cNvPr id="20" name="Text 18"/>
          <p:cNvSpPr/>
          <p:nvPr/>
        </p:nvSpPr>
        <p:spPr>
          <a:xfrm>
            <a:off x="6932737" y="2063552"/>
            <a:ext cx="4554126" cy="276920"/>
          </a:xfrm>
          <a:prstGeom prst="rect">
            <a:avLst/>
          </a:prstGeom>
          <a:noFill/>
        </p:spPr>
        <p:txBody>
          <a:bodyPr wrap="none" lIns="0" tIns="0" rIns="0" bIns="0" rtlCol="0" anchor="t"/>
          <a:lstStyle/>
          <a:p>
            <a:pPr marL="0" indent="0" algn="l">
              <a:lnSpc>
                <a:spcPct val="104000"/>
              </a:lnSpc>
              <a:buNone/>
            </a:pPr>
            <a:r>
              <a:rPr lang="en-US" sz="17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Data Cleaning &amp; Standardization</a:t>
            </a:r>
            <a:endParaRPr lang="en-US" sz="1700" dirty="0"/>
          </a:p>
        </p:txBody>
      </p:sp>
      <p:sp>
        <p:nvSpPr>
          <p:cNvPr id="21" name="Text 19"/>
          <p:cNvSpPr/>
          <p:nvPr/>
        </p:nvSpPr>
        <p:spPr>
          <a:xfrm>
            <a:off x="6932737" y="2506563"/>
            <a:ext cx="4554126" cy="54927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FFFFFF"/>
                </a:solidFill>
                <a:latin typeface="DM Sans" pitchFamily="34" charset="0"/>
                <a:ea typeface="DM Sans" pitchFamily="34" charset="-122"/>
                <a:cs typeface="DM Sans" pitchFamily="34" charset="-120"/>
              </a:rPr>
              <a:t>Handled missing and duplicate data and standardized formats to improve data quality.</a:t>
            </a:r>
            <a:endParaRPr lang="en-US" sz="1350" dirty="0"/>
          </a:p>
        </p:txBody>
      </p:sp>
      <p:sp>
        <p:nvSpPr>
          <p:cNvPr id="22" name="Shape 20"/>
          <p:cNvSpPr/>
          <p:nvPr/>
        </p:nvSpPr>
        <p:spPr>
          <a:xfrm>
            <a:off x="6367998" y="3388023"/>
            <a:ext cx="398651" cy="398661"/>
          </a:xfrm>
          <a:prstGeom prst="roundRect">
            <a:avLst>
              <a:gd name="adj" fmla="val 18669"/>
            </a:avLst>
          </a:prstGeom>
          <a:solidFill>
            <a:srgbClr val="F7EDD4"/>
          </a:solidFill>
          <a:ln w="6350">
            <a:solidFill>
              <a:srgbClr val="DDD3BA"/>
            </a:solidFill>
            <a:prstDash val="solid"/>
          </a:ln>
        </p:spPr>
      </p:sp>
      <p:sp>
        <p:nvSpPr>
          <p:cNvPr id="23" name="Text 21"/>
          <p:cNvSpPr/>
          <p:nvPr/>
        </p:nvSpPr>
        <p:spPr>
          <a:xfrm>
            <a:off x="6434423" y="3421261"/>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2</a:t>
            </a:r>
            <a:endParaRPr lang="en-US" sz="2050" dirty="0"/>
          </a:p>
        </p:txBody>
      </p:sp>
      <p:sp>
        <p:nvSpPr>
          <p:cNvPr id="24" name="Text 22"/>
          <p:cNvSpPr/>
          <p:nvPr/>
        </p:nvSpPr>
        <p:spPr>
          <a:xfrm>
            <a:off x="6932737" y="3448844"/>
            <a:ext cx="4554126" cy="276920"/>
          </a:xfrm>
          <a:prstGeom prst="rect">
            <a:avLst/>
          </a:prstGeom>
          <a:noFill/>
        </p:spPr>
        <p:txBody>
          <a:bodyPr wrap="none" lIns="0" tIns="0" rIns="0" bIns="0" rtlCol="0" anchor="t"/>
          <a:lstStyle/>
          <a:p>
            <a:pPr marL="0" indent="0" algn="l">
              <a:lnSpc>
                <a:spcPct val="104000"/>
              </a:lnSpc>
              <a:buNone/>
            </a:pPr>
            <a:r>
              <a:rPr lang="en-US" sz="17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Structured Data Modeling</a:t>
            </a:r>
            <a:endParaRPr lang="en-US" sz="1700" dirty="0"/>
          </a:p>
        </p:txBody>
      </p:sp>
      <p:sp>
        <p:nvSpPr>
          <p:cNvPr id="25" name="Text 23"/>
          <p:cNvSpPr/>
          <p:nvPr/>
        </p:nvSpPr>
        <p:spPr>
          <a:xfrm>
            <a:off x="6932737" y="3891855"/>
            <a:ext cx="4554126" cy="54927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FFFFFF"/>
                </a:solidFill>
                <a:latin typeface="DM Sans" pitchFamily="34" charset="0"/>
                <a:ea typeface="DM Sans" pitchFamily="34" charset="-122"/>
                <a:cs typeface="DM Sans" pitchFamily="34" charset="-120"/>
              </a:rPr>
              <a:t>Organized related datasets and created suitable relationships for efficient analysis and reporting.</a:t>
            </a:r>
            <a:endParaRPr lang="en-US" sz="1350" dirty="0"/>
          </a:p>
        </p:txBody>
      </p:sp>
      <p:sp>
        <p:nvSpPr>
          <p:cNvPr id="26" name="Shape 24"/>
          <p:cNvSpPr/>
          <p:nvPr/>
        </p:nvSpPr>
        <p:spPr>
          <a:xfrm>
            <a:off x="6367998" y="4773315"/>
            <a:ext cx="398651" cy="398661"/>
          </a:xfrm>
          <a:prstGeom prst="roundRect">
            <a:avLst>
              <a:gd name="adj" fmla="val 18669"/>
            </a:avLst>
          </a:prstGeom>
          <a:solidFill>
            <a:srgbClr val="F7EDD4"/>
          </a:solidFill>
          <a:ln w="6350">
            <a:solidFill>
              <a:srgbClr val="DDD3BA"/>
            </a:solidFill>
            <a:prstDash val="solid"/>
          </a:ln>
        </p:spPr>
      </p:sp>
      <p:sp>
        <p:nvSpPr>
          <p:cNvPr id="27" name="Text 25"/>
          <p:cNvSpPr/>
          <p:nvPr/>
        </p:nvSpPr>
        <p:spPr>
          <a:xfrm>
            <a:off x="6434423" y="4806553"/>
            <a:ext cx="265800" cy="332184"/>
          </a:xfrm>
          <a:prstGeom prst="rect">
            <a:avLst/>
          </a:prstGeom>
          <a:noFill/>
        </p:spPr>
        <p:txBody>
          <a:bodyPr wrap="none" lIns="0" tIns="0" rIns="0" bIns="0" rtlCol="0" anchor="ctr"/>
          <a:lstStyle/>
          <a:p>
            <a:pPr marL="0" indent="0" algn="ctr">
              <a:lnSpc>
                <a:spcPct val="100000"/>
              </a:lnSpc>
              <a:buNone/>
            </a:pPr>
            <a:r>
              <a:rPr lang="en-US" sz="2050" dirty="0">
                <a:solidFill>
                  <a:srgbClr val="000000"/>
                </a:solidFill>
                <a:latin typeface="Libre Baskerville" panose="02000000000000000000" pitchFamily="34" charset="0"/>
                <a:ea typeface="Libre Baskerville" panose="02000000000000000000" pitchFamily="34" charset="-122"/>
                <a:cs typeface="Libre Baskerville" panose="02000000000000000000" pitchFamily="34" charset="-120"/>
              </a:rPr>
              <a:t>3</a:t>
            </a:r>
            <a:endParaRPr lang="en-US" sz="2050" dirty="0"/>
          </a:p>
        </p:txBody>
      </p:sp>
      <p:sp>
        <p:nvSpPr>
          <p:cNvPr id="28" name="Text 26"/>
          <p:cNvSpPr/>
          <p:nvPr/>
        </p:nvSpPr>
        <p:spPr>
          <a:xfrm>
            <a:off x="6932737" y="4834136"/>
            <a:ext cx="4554126" cy="276920"/>
          </a:xfrm>
          <a:prstGeom prst="rect">
            <a:avLst/>
          </a:prstGeom>
          <a:noFill/>
        </p:spPr>
        <p:txBody>
          <a:bodyPr wrap="none" lIns="0" tIns="0" rIns="0" bIns="0" rtlCol="0" anchor="t"/>
          <a:lstStyle/>
          <a:p>
            <a:pPr marL="0" indent="0" algn="l">
              <a:lnSpc>
                <a:spcPct val="104000"/>
              </a:lnSpc>
              <a:buNone/>
            </a:pPr>
            <a:r>
              <a:rPr lang="en-US" sz="17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KPI-Based Analytics</a:t>
            </a:r>
            <a:endParaRPr lang="en-US" sz="1700" dirty="0"/>
          </a:p>
        </p:txBody>
      </p:sp>
      <p:sp>
        <p:nvSpPr>
          <p:cNvPr id="29" name="Text 27"/>
          <p:cNvSpPr/>
          <p:nvPr/>
        </p:nvSpPr>
        <p:spPr>
          <a:xfrm>
            <a:off x="6932737" y="5277148"/>
            <a:ext cx="4554126" cy="823913"/>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FFFFFF"/>
                </a:solidFill>
                <a:latin typeface="DM Sans" pitchFamily="34" charset="0"/>
                <a:ea typeface="DM Sans" pitchFamily="34" charset="-122"/>
                <a:cs typeface="DM Sans" pitchFamily="34" charset="-120"/>
              </a:rPr>
              <a:t>Used relevant KPIs, dashboards, and visualizations to highlight trends, bottlenecks, and areas for improvement.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27248"/>
            <a:ext cx="10868745" cy="516731"/>
          </a:xfrm>
          <a:prstGeom prst="rect">
            <a:avLst/>
          </a:prstGeom>
          <a:noFill/>
        </p:spPr>
        <p:txBody>
          <a:bodyPr wrap="none" lIns="0" tIns="0" rIns="0" bIns="0" rtlCol="0" anchor="t"/>
          <a:lstStyle/>
          <a:p>
            <a:pPr marL="0" indent="0" algn="l">
              <a:lnSpc>
                <a:spcPct val="104000"/>
              </a:lnSpc>
              <a:buNone/>
            </a:pPr>
            <a:r>
              <a:rPr lang="en-US" sz="32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Future Enhancements &amp; Key Insights</a:t>
            </a:r>
            <a:endParaRPr lang="en-US" sz="3250" dirty="0"/>
          </a:p>
        </p:txBody>
      </p:sp>
      <p:sp>
        <p:nvSpPr>
          <p:cNvPr id="3" name="Text 1"/>
          <p:cNvSpPr/>
          <p:nvPr/>
        </p:nvSpPr>
        <p:spPr>
          <a:xfrm>
            <a:off x="661475" y="1405632"/>
            <a:ext cx="5232666" cy="258465"/>
          </a:xfrm>
          <a:prstGeom prst="rect">
            <a:avLst/>
          </a:prstGeom>
          <a:noFill/>
        </p:spPr>
        <p:txBody>
          <a:bodyPr wrap="none" lIns="0" tIns="0" rIns="0" bIns="0" rtlCol="0" anchor="t"/>
          <a:lstStyle/>
          <a:p>
            <a:pPr marL="0" indent="0" algn="l">
              <a:lnSpc>
                <a:spcPct val="104000"/>
              </a:lnSpc>
              <a:buNone/>
            </a:pPr>
            <a:r>
              <a:rPr lang="en-US" sz="16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Future Enhancements</a:t>
            </a:r>
            <a:endParaRPr lang="en-US" sz="160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1831876"/>
            <a:ext cx="248041" cy="248047"/>
          </a:xfrm>
          <a:prstGeom prst="rect">
            <a:avLst/>
          </a:prstGeom>
        </p:spPr>
      </p:pic>
      <p:sp>
        <p:nvSpPr>
          <p:cNvPr id="5" name="Text 2"/>
          <p:cNvSpPr/>
          <p:nvPr/>
        </p:nvSpPr>
        <p:spPr>
          <a:xfrm>
            <a:off x="1198830" y="1826816"/>
            <a:ext cx="4695311"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Real-Time Tracking</a:t>
            </a:r>
            <a:endParaRPr lang="en-US" sz="1600" dirty="0"/>
          </a:p>
        </p:txBody>
      </p:sp>
      <p:sp>
        <p:nvSpPr>
          <p:cNvPr id="6" name="Text 3"/>
          <p:cNvSpPr/>
          <p:nvPr/>
        </p:nvSpPr>
        <p:spPr>
          <a:xfrm>
            <a:off x="1198830" y="2229941"/>
            <a:ext cx="4695311" cy="248047"/>
          </a:xfrm>
          <a:prstGeom prst="rect">
            <a:avLst/>
          </a:prstGeom>
          <a:noFill/>
        </p:spPr>
        <p:txBody>
          <a:bodyPr wrap="none" lIns="0" tIns="0" rIns="0" bIns="0" rtlCol="0" anchor="t"/>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Integrate real-time tracking for shipments and deliveries.</a:t>
            </a:r>
            <a:endParaRPr lang="en-US" sz="1300" dirty="0"/>
          </a:p>
        </p:txBody>
      </p:sp>
      <p:pic>
        <p:nvPicPr>
          <p:cNvPr id="7"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2772470"/>
            <a:ext cx="248041" cy="248047"/>
          </a:xfrm>
          <a:prstGeom prst="rect">
            <a:avLst/>
          </a:prstGeom>
        </p:spPr>
      </p:pic>
      <p:sp>
        <p:nvSpPr>
          <p:cNvPr id="8" name="Text 4"/>
          <p:cNvSpPr/>
          <p:nvPr/>
        </p:nvSpPr>
        <p:spPr>
          <a:xfrm>
            <a:off x="1198830" y="2767409"/>
            <a:ext cx="4695311"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Demand Forecasting</a:t>
            </a:r>
            <a:endParaRPr lang="en-US" sz="1600" dirty="0"/>
          </a:p>
        </p:txBody>
      </p:sp>
      <p:sp>
        <p:nvSpPr>
          <p:cNvPr id="9" name="Text 5"/>
          <p:cNvSpPr/>
          <p:nvPr/>
        </p:nvSpPr>
        <p:spPr>
          <a:xfrm>
            <a:off x="1198830" y="3170535"/>
            <a:ext cx="4695311" cy="248047"/>
          </a:xfrm>
          <a:prstGeom prst="rect">
            <a:avLst/>
          </a:prstGeom>
          <a:noFill/>
        </p:spPr>
        <p:txBody>
          <a:bodyPr wrap="none" lIns="0" tIns="0" rIns="0" bIns="0" rtlCol="0" anchor="t"/>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Add demand forecasting for better inventory planning.</a:t>
            </a:r>
            <a:endParaRPr lang="en-US" sz="1300" dirty="0"/>
          </a:p>
        </p:txBody>
      </p:sp>
      <p:pic>
        <p:nvPicPr>
          <p:cNvPr id="10"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3713063"/>
            <a:ext cx="248041" cy="248047"/>
          </a:xfrm>
          <a:prstGeom prst="rect">
            <a:avLst/>
          </a:prstGeom>
        </p:spPr>
      </p:pic>
      <p:sp>
        <p:nvSpPr>
          <p:cNvPr id="11" name="Text 6"/>
          <p:cNvSpPr/>
          <p:nvPr/>
        </p:nvSpPr>
        <p:spPr>
          <a:xfrm>
            <a:off x="1198830" y="3708003"/>
            <a:ext cx="4695311"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Automated Alerts</a:t>
            </a:r>
            <a:endParaRPr lang="en-US" sz="1600" dirty="0"/>
          </a:p>
        </p:txBody>
      </p:sp>
      <p:sp>
        <p:nvSpPr>
          <p:cNvPr id="12" name="Text 7"/>
          <p:cNvSpPr/>
          <p:nvPr/>
        </p:nvSpPr>
        <p:spPr>
          <a:xfrm>
            <a:off x="1198830" y="4111129"/>
            <a:ext cx="4695311"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Introduce automated alerts for delays and supply-chain risks.</a:t>
            </a:r>
            <a:endParaRPr lang="en-US" sz="1300" dirty="0"/>
          </a:p>
        </p:txBody>
      </p:sp>
      <p:pic>
        <p:nvPicPr>
          <p:cNvPr id="13"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4901704"/>
            <a:ext cx="248041" cy="248047"/>
          </a:xfrm>
          <a:prstGeom prst="rect">
            <a:avLst/>
          </a:prstGeom>
        </p:spPr>
      </p:pic>
      <p:sp>
        <p:nvSpPr>
          <p:cNvPr id="14" name="Text 8"/>
          <p:cNvSpPr/>
          <p:nvPr/>
        </p:nvSpPr>
        <p:spPr>
          <a:xfrm>
            <a:off x="1198830" y="4896644"/>
            <a:ext cx="4695311"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Predictive Analytics</a:t>
            </a:r>
            <a:endParaRPr lang="en-US" sz="1600" dirty="0"/>
          </a:p>
        </p:txBody>
      </p:sp>
      <p:sp>
        <p:nvSpPr>
          <p:cNvPr id="15" name="Text 9"/>
          <p:cNvSpPr/>
          <p:nvPr/>
        </p:nvSpPr>
        <p:spPr>
          <a:xfrm>
            <a:off x="1198830" y="5299770"/>
            <a:ext cx="4695311" cy="248047"/>
          </a:xfrm>
          <a:prstGeom prst="rect">
            <a:avLst/>
          </a:prstGeom>
          <a:noFill/>
        </p:spPr>
        <p:txBody>
          <a:bodyPr wrap="none" lIns="0" tIns="0" rIns="0" bIns="0" rtlCol="0" anchor="t"/>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Apply predictive analytics to optimize logistics and costs.</a:t>
            </a:r>
            <a:endParaRPr lang="en-US" sz="1300" dirty="0"/>
          </a:p>
        </p:txBody>
      </p:sp>
      <p:sp>
        <p:nvSpPr>
          <p:cNvPr id="16" name="Text 10"/>
          <p:cNvSpPr/>
          <p:nvPr/>
        </p:nvSpPr>
        <p:spPr>
          <a:xfrm>
            <a:off x="6303904" y="1405632"/>
            <a:ext cx="5232666" cy="258465"/>
          </a:xfrm>
          <a:prstGeom prst="rect">
            <a:avLst/>
          </a:prstGeom>
          <a:noFill/>
        </p:spPr>
        <p:txBody>
          <a:bodyPr wrap="none" lIns="0" tIns="0" rIns="0" bIns="0" rtlCol="0" anchor="t"/>
          <a:lstStyle/>
          <a:p>
            <a:pPr marL="0" indent="0" algn="l">
              <a:lnSpc>
                <a:spcPct val="104000"/>
              </a:lnSpc>
              <a:buNone/>
            </a:pPr>
            <a:r>
              <a:rPr lang="en-US" sz="16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Key Insights</a:t>
            </a:r>
            <a:endParaRPr lang="en-US" sz="1600" dirty="0"/>
          </a:p>
        </p:txBody>
      </p:sp>
      <p:pic>
        <p:nvPicPr>
          <p:cNvPr id="17"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904" y="1826816"/>
            <a:ext cx="5232666" cy="1267916"/>
          </a:xfrm>
          <a:prstGeom prst="rect">
            <a:avLst/>
          </a:prstGeom>
        </p:spPr>
      </p:pic>
      <p:sp>
        <p:nvSpPr>
          <p:cNvPr id="18" name="Text 11"/>
          <p:cNvSpPr/>
          <p:nvPr/>
        </p:nvSpPr>
        <p:spPr>
          <a:xfrm>
            <a:off x="6564446" y="2011164"/>
            <a:ext cx="4787780"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Operational Visibility</a:t>
            </a:r>
            <a:endParaRPr lang="en-US" sz="1600" dirty="0"/>
          </a:p>
        </p:txBody>
      </p:sp>
      <p:sp>
        <p:nvSpPr>
          <p:cNvPr id="19" name="Text 12"/>
          <p:cNvSpPr/>
          <p:nvPr/>
        </p:nvSpPr>
        <p:spPr>
          <a:xfrm>
            <a:off x="6564446" y="2414290"/>
            <a:ext cx="4787780"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Analyzing shipment and delivery activities helps reveal recurring patterns and areas where delays may occur.</a:t>
            </a:r>
            <a:endParaRPr lang="en-US" sz="1300" dirty="0"/>
          </a:p>
        </p:txBody>
      </p:sp>
      <p:pic>
        <p:nvPicPr>
          <p:cNvPr id="20"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3904" y="3239393"/>
            <a:ext cx="5232666" cy="1267916"/>
          </a:xfrm>
          <a:prstGeom prst="rect">
            <a:avLst/>
          </a:prstGeom>
        </p:spPr>
      </p:pic>
      <p:sp>
        <p:nvSpPr>
          <p:cNvPr id="21" name="Text 13"/>
          <p:cNvSpPr/>
          <p:nvPr/>
        </p:nvSpPr>
        <p:spPr>
          <a:xfrm>
            <a:off x="6564446" y="3423741"/>
            <a:ext cx="4787780"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Supply Chain Performance</a:t>
            </a:r>
            <a:endParaRPr lang="en-US" sz="1600" dirty="0"/>
          </a:p>
        </p:txBody>
      </p:sp>
      <p:sp>
        <p:nvSpPr>
          <p:cNvPr id="22" name="Text 14"/>
          <p:cNvSpPr/>
          <p:nvPr/>
        </p:nvSpPr>
        <p:spPr>
          <a:xfrm>
            <a:off x="6564446" y="3826867"/>
            <a:ext cx="4787780"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Supplier reliability and transportation efficiency have a significant impact on smooth operations and timely deliveries.</a:t>
            </a:r>
            <a:endParaRPr lang="en-US" sz="1300" dirty="0"/>
          </a:p>
        </p:txBody>
      </p:sp>
      <p:pic>
        <p:nvPicPr>
          <p:cNvPr id="23"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3904" y="4651970"/>
            <a:ext cx="5232666" cy="1515963"/>
          </a:xfrm>
          <a:prstGeom prst="rect">
            <a:avLst/>
          </a:prstGeom>
        </p:spPr>
      </p:pic>
      <p:sp>
        <p:nvSpPr>
          <p:cNvPr id="24" name="Text 15"/>
          <p:cNvSpPr/>
          <p:nvPr/>
        </p:nvSpPr>
        <p:spPr>
          <a:xfrm>
            <a:off x="6564446" y="4836319"/>
            <a:ext cx="4787780"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Improvement Areas</a:t>
            </a:r>
            <a:endParaRPr lang="en-US" sz="1600" dirty="0"/>
          </a:p>
        </p:txBody>
      </p:sp>
      <p:sp>
        <p:nvSpPr>
          <p:cNvPr id="25" name="Text 16"/>
          <p:cNvSpPr/>
          <p:nvPr/>
        </p:nvSpPr>
        <p:spPr>
          <a:xfrm>
            <a:off x="6564446" y="5239445"/>
            <a:ext cx="4787780" cy="744141"/>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Examining inventory, costs, and product performance helps identify specific opportunities to improve overall supply-chain efficiency.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71116"/>
            <a:ext cx="10868745" cy="516731"/>
          </a:xfrm>
          <a:prstGeom prst="rect">
            <a:avLst/>
          </a:prstGeom>
          <a:noFill/>
        </p:spPr>
        <p:txBody>
          <a:bodyPr wrap="none" lIns="0" tIns="0" rIns="0" bIns="0" rtlCol="0" anchor="t"/>
          <a:lstStyle/>
          <a:p>
            <a:pPr marL="0" indent="0" algn="l">
              <a:lnSpc>
                <a:spcPct val="104000"/>
              </a:lnSpc>
              <a:buNone/>
            </a:pPr>
            <a:r>
              <a:rPr lang="en-US" sz="32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Conclusion</a:t>
            </a:r>
            <a:endParaRPr lang="en-US" sz="3250" dirty="0"/>
          </a:p>
        </p:txBody>
      </p:sp>
      <p:sp>
        <p:nvSpPr>
          <p:cNvPr id="3" name="Text 1"/>
          <p:cNvSpPr/>
          <p:nvPr/>
        </p:nvSpPr>
        <p:spPr>
          <a:xfrm>
            <a:off x="661475" y="1404838"/>
            <a:ext cx="10868745" cy="744141"/>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The Supply Chain Visibility System transformed raw supply-chain data into an interactive Power BI Dashboard. It provides better visibility into inventory, suppliers, shipments, transportation, and deliveries. The analysis helps identify operational trends, performance gaps, and potential bottlenecks. Overall, the project supports more effective data-driven supply-chain decisions.</a:t>
            </a:r>
            <a:endParaRPr lang="en-US" sz="1300" dirty="0"/>
          </a:p>
        </p:txBody>
      </p:sp>
      <p:sp>
        <p:nvSpPr>
          <p:cNvPr id="4" name="Text 2"/>
          <p:cNvSpPr/>
          <p:nvPr/>
        </p:nvSpPr>
        <p:spPr>
          <a:xfrm>
            <a:off x="661475" y="2456359"/>
            <a:ext cx="5232666" cy="258465"/>
          </a:xfrm>
          <a:prstGeom prst="rect">
            <a:avLst/>
          </a:prstGeom>
          <a:noFill/>
        </p:spPr>
        <p:txBody>
          <a:bodyPr wrap="none" lIns="0" tIns="0" rIns="0" bIns="0" rtlCol="0" anchor="t"/>
          <a:lstStyle/>
          <a:p>
            <a:pPr marL="0" indent="0" algn="l">
              <a:lnSpc>
                <a:spcPct val="104000"/>
              </a:lnSpc>
              <a:buNone/>
            </a:pPr>
            <a:r>
              <a:rPr lang="en-US" sz="16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Technical Capabilities Strengthened</a:t>
            </a:r>
            <a:endParaRPr lang="en-US" sz="1600" dirty="0"/>
          </a:p>
        </p:txBody>
      </p:sp>
      <p:sp>
        <p:nvSpPr>
          <p:cNvPr id="5" name="Shape 3"/>
          <p:cNvSpPr/>
          <p:nvPr/>
        </p:nvSpPr>
        <p:spPr>
          <a:xfrm>
            <a:off x="661475" y="2877542"/>
            <a:ext cx="2544004" cy="1500981"/>
          </a:xfrm>
          <a:prstGeom prst="roundRect">
            <a:avLst>
              <a:gd name="adj" fmla="val 4628"/>
            </a:avLst>
          </a:prstGeom>
          <a:solidFill>
            <a:srgbClr val="F7EDD4"/>
          </a:solidFill>
          <a:ln w="6350">
            <a:solidFill>
              <a:srgbClr val="DDD3BA"/>
            </a:solidFill>
            <a:prstDash val="solid"/>
          </a:ln>
        </p:spPr>
      </p:sp>
      <p:sp>
        <p:nvSpPr>
          <p:cNvPr id="6" name="Shape 4"/>
          <p:cNvSpPr/>
          <p:nvPr/>
        </p:nvSpPr>
        <p:spPr>
          <a:xfrm>
            <a:off x="833119" y="3049191"/>
            <a:ext cx="496081" cy="496094"/>
          </a:xfrm>
          <a:prstGeom prst="ellipse">
            <a:avLst/>
          </a:prstGeom>
          <a:solidFill>
            <a:srgbClr val="B88E23"/>
          </a:solidFill>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541" y="3185517"/>
            <a:ext cx="223237" cy="223242"/>
          </a:xfrm>
          <a:prstGeom prst="rect">
            <a:avLst/>
          </a:prstGeom>
        </p:spPr>
      </p:pic>
      <p:sp>
        <p:nvSpPr>
          <p:cNvPr id="8" name="Text 5"/>
          <p:cNvSpPr/>
          <p:nvPr/>
        </p:nvSpPr>
        <p:spPr>
          <a:xfrm>
            <a:off x="833119" y="3689945"/>
            <a:ext cx="2200716" cy="516930"/>
          </a:xfrm>
          <a:prstGeom prst="rect">
            <a:avLst/>
          </a:prstGeom>
          <a:noFill/>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Power BI Dashboard Development</a:t>
            </a:r>
            <a:endParaRPr lang="en-US" sz="1600" dirty="0"/>
          </a:p>
        </p:txBody>
      </p:sp>
      <p:sp>
        <p:nvSpPr>
          <p:cNvPr id="9" name="Shape 6"/>
          <p:cNvSpPr/>
          <p:nvPr/>
        </p:nvSpPr>
        <p:spPr>
          <a:xfrm>
            <a:off x="3350137" y="2877542"/>
            <a:ext cx="2544004" cy="1500981"/>
          </a:xfrm>
          <a:prstGeom prst="roundRect">
            <a:avLst>
              <a:gd name="adj" fmla="val 4628"/>
            </a:avLst>
          </a:prstGeom>
          <a:solidFill>
            <a:srgbClr val="F7EDD4"/>
          </a:solidFill>
          <a:ln w="6350">
            <a:solidFill>
              <a:srgbClr val="DDD3BA"/>
            </a:solidFill>
            <a:prstDash val="solid"/>
          </a:ln>
        </p:spPr>
      </p:sp>
      <p:sp>
        <p:nvSpPr>
          <p:cNvPr id="10" name="Shape 7"/>
          <p:cNvSpPr/>
          <p:nvPr/>
        </p:nvSpPr>
        <p:spPr>
          <a:xfrm>
            <a:off x="3521781" y="3049191"/>
            <a:ext cx="496081" cy="496094"/>
          </a:xfrm>
          <a:prstGeom prst="ellipse">
            <a:avLst/>
          </a:prstGeom>
          <a:solidFill>
            <a:srgbClr val="B88E23"/>
          </a:solidFill>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8203" y="3185517"/>
            <a:ext cx="223237" cy="223242"/>
          </a:xfrm>
          <a:prstGeom prst="rect">
            <a:avLst/>
          </a:prstGeom>
        </p:spPr>
      </p:pic>
      <p:sp>
        <p:nvSpPr>
          <p:cNvPr id="12" name="Text 8"/>
          <p:cNvSpPr/>
          <p:nvPr/>
        </p:nvSpPr>
        <p:spPr>
          <a:xfrm>
            <a:off x="3521781" y="3689945"/>
            <a:ext cx="2200716" cy="516930"/>
          </a:xfrm>
          <a:prstGeom prst="rect">
            <a:avLst/>
          </a:prstGeom>
          <a:noFill/>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Data Preprocessing &amp; Modelling</a:t>
            </a:r>
            <a:endParaRPr lang="en-US" sz="1600" dirty="0"/>
          </a:p>
        </p:txBody>
      </p:sp>
      <p:sp>
        <p:nvSpPr>
          <p:cNvPr id="13" name="Shape 9"/>
          <p:cNvSpPr/>
          <p:nvPr/>
        </p:nvSpPr>
        <p:spPr>
          <a:xfrm>
            <a:off x="661475" y="4523184"/>
            <a:ext cx="2544004" cy="1500981"/>
          </a:xfrm>
          <a:prstGeom prst="roundRect">
            <a:avLst>
              <a:gd name="adj" fmla="val 4628"/>
            </a:avLst>
          </a:prstGeom>
          <a:solidFill>
            <a:srgbClr val="F7EDD4"/>
          </a:solidFill>
          <a:ln w="6350">
            <a:solidFill>
              <a:srgbClr val="DDD3BA"/>
            </a:solidFill>
            <a:prstDash val="solid"/>
          </a:ln>
        </p:spPr>
      </p:sp>
      <p:sp>
        <p:nvSpPr>
          <p:cNvPr id="14" name="Shape 10"/>
          <p:cNvSpPr/>
          <p:nvPr/>
        </p:nvSpPr>
        <p:spPr>
          <a:xfrm>
            <a:off x="833119" y="4694833"/>
            <a:ext cx="496081" cy="496094"/>
          </a:xfrm>
          <a:prstGeom prst="ellipse">
            <a:avLst/>
          </a:prstGeom>
          <a:solidFill>
            <a:srgbClr val="B88E23"/>
          </a:solidFill>
        </p:spPr>
      </p:sp>
      <p:pic>
        <p:nvPicPr>
          <p:cNvPr id="1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9541" y="4831159"/>
            <a:ext cx="223237" cy="223242"/>
          </a:xfrm>
          <a:prstGeom prst="rect">
            <a:avLst/>
          </a:prstGeom>
        </p:spPr>
      </p:pic>
      <p:sp>
        <p:nvSpPr>
          <p:cNvPr id="16" name="Text 11"/>
          <p:cNvSpPr/>
          <p:nvPr/>
        </p:nvSpPr>
        <p:spPr>
          <a:xfrm>
            <a:off x="833119" y="5335588"/>
            <a:ext cx="2200716" cy="516930"/>
          </a:xfrm>
          <a:prstGeom prst="rect">
            <a:avLst/>
          </a:prstGeom>
          <a:noFill/>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DAX and Data Visualization</a:t>
            </a:r>
            <a:endParaRPr lang="en-US" sz="1600" dirty="0"/>
          </a:p>
        </p:txBody>
      </p:sp>
      <p:sp>
        <p:nvSpPr>
          <p:cNvPr id="17" name="Shape 12"/>
          <p:cNvSpPr/>
          <p:nvPr/>
        </p:nvSpPr>
        <p:spPr>
          <a:xfrm>
            <a:off x="3350137" y="4523184"/>
            <a:ext cx="2544004" cy="1500981"/>
          </a:xfrm>
          <a:prstGeom prst="roundRect">
            <a:avLst>
              <a:gd name="adj" fmla="val 4628"/>
            </a:avLst>
          </a:prstGeom>
          <a:solidFill>
            <a:srgbClr val="F7EDD4"/>
          </a:solidFill>
          <a:ln w="6350">
            <a:solidFill>
              <a:srgbClr val="DDD3BA"/>
            </a:solidFill>
            <a:prstDash val="solid"/>
          </a:ln>
        </p:spPr>
      </p:sp>
      <p:sp>
        <p:nvSpPr>
          <p:cNvPr id="18" name="Shape 13"/>
          <p:cNvSpPr/>
          <p:nvPr/>
        </p:nvSpPr>
        <p:spPr>
          <a:xfrm>
            <a:off x="3521781" y="4694833"/>
            <a:ext cx="496081" cy="496094"/>
          </a:xfrm>
          <a:prstGeom prst="ellipse">
            <a:avLst/>
          </a:prstGeom>
          <a:solidFill>
            <a:srgbClr val="B88E23"/>
          </a:solidFill>
        </p:spPr>
      </p:sp>
      <p:pic>
        <p:nvPicPr>
          <p:cNvPr id="1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58203" y="4831159"/>
            <a:ext cx="223237" cy="223242"/>
          </a:xfrm>
          <a:prstGeom prst="rect">
            <a:avLst/>
          </a:prstGeom>
        </p:spPr>
      </p:pic>
      <p:sp>
        <p:nvSpPr>
          <p:cNvPr id="20" name="Text 14"/>
          <p:cNvSpPr/>
          <p:nvPr/>
        </p:nvSpPr>
        <p:spPr>
          <a:xfrm>
            <a:off x="3521781" y="5335588"/>
            <a:ext cx="2200716"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Data Analysis</a:t>
            </a:r>
            <a:endParaRPr lang="en-US" sz="1600" dirty="0"/>
          </a:p>
        </p:txBody>
      </p:sp>
      <p:sp>
        <p:nvSpPr>
          <p:cNvPr id="21" name="Text 15"/>
          <p:cNvSpPr/>
          <p:nvPr/>
        </p:nvSpPr>
        <p:spPr>
          <a:xfrm>
            <a:off x="6303904" y="2456359"/>
            <a:ext cx="5232666" cy="258465"/>
          </a:xfrm>
          <a:prstGeom prst="rect">
            <a:avLst/>
          </a:prstGeom>
          <a:noFill/>
        </p:spPr>
        <p:txBody>
          <a:bodyPr wrap="none" lIns="0" tIns="0" rIns="0" bIns="0" rtlCol="0" anchor="t"/>
          <a:lstStyle/>
          <a:p>
            <a:pPr marL="0" indent="0" algn="l">
              <a:lnSpc>
                <a:spcPct val="104000"/>
              </a:lnSpc>
              <a:buNone/>
            </a:pPr>
            <a:r>
              <a:rPr lang="en-US" sz="16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Professional Skills Applied</a:t>
            </a:r>
            <a:endParaRPr lang="en-US" sz="1600" dirty="0"/>
          </a:p>
        </p:txBody>
      </p:sp>
      <p:sp>
        <p:nvSpPr>
          <p:cNvPr id="22" name="Shape 16"/>
          <p:cNvSpPr/>
          <p:nvPr/>
        </p:nvSpPr>
        <p:spPr>
          <a:xfrm>
            <a:off x="6303904" y="2877542"/>
            <a:ext cx="2544004" cy="1242516"/>
          </a:xfrm>
          <a:prstGeom prst="roundRect">
            <a:avLst>
              <a:gd name="adj" fmla="val 5591"/>
            </a:avLst>
          </a:prstGeom>
          <a:solidFill>
            <a:srgbClr val="F7EDD4"/>
          </a:solidFill>
          <a:ln w="6350">
            <a:solidFill>
              <a:srgbClr val="DDD3BA"/>
            </a:solidFill>
            <a:prstDash val="solid"/>
          </a:ln>
        </p:spPr>
      </p:sp>
      <p:sp>
        <p:nvSpPr>
          <p:cNvPr id="23" name="Shape 17"/>
          <p:cNvSpPr/>
          <p:nvPr/>
        </p:nvSpPr>
        <p:spPr>
          <a:xfrm>
            <a:off x="6475548" y="3049191"/>
            <a:ext cx="496081" cy="496094"/>
          </a:xfrm>
          <a:prstGeom prst="ellipse">
            <a:avLst/>
          </a:prstGeom>
          <a:solidFill>
            <a:srgbClr val="B88E23"/>
          </a:solidFill>
        </p:spPr>
      </p:sp>
      <p:pic>
        <p:nvPicPr>
          <p:cNvPr id="24"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1971" y="3185517"/>
            <a:ext cx="223237" cy="223242"/>
          </a:xfrm>
          <a:prstGeom prst="rect">
            <a:avLst/>
          </a:prstGeom>
        </p:spPr>
      </p:pic>
      <p:sp>
        <p:nvSpPr>
          <p:cNvPr id="25" name="Text 18"/>
          <p:cNvSpPr/>
          <p:nvPr/>
        </p:nvSpPr>
        <p:spPr>
          <a:xfrm>
            <a:off x="6475548" y="3689945"/>
            <a:ext cx="2200716"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Problem Solving</a:t>
            </a:r>
            <a:endParaRPr lang="en-US" sz="1600" dirty="0"/>
          </a:p>
        </p:txBody>
      </p:sp>
      <p:sp>
        <p:nvSpPr>
          <p:cNvPr id="26" name="Shape 19"/>
          <p:cNvSpPr/>
          <p:nvPr/>
        </p:nvSpPr>
        <p:spPr>
          <a:xfrm>
            <a:off x="8992566" y="2877542"/>
            <a:ext cx="2544004" cy="1242516"/>
          </a:xfrm>
          <a:prstGeom prst="roundRect">
            <a:avLst>
              <a:gd name="adj" fmla="val 5591"/>
            </a:avLst>
          </a:prstGeom>
          <a:solidFill>
            <a:srgbClr val="F7EDD4"/>
          </a:solidFill>
          <a:ln w="6350">
            <a:solidFill>
              <a:srgbClr val="DDD3BA"/>
            </a:solidFill>
            <a:prstDash val="solid"/>
          </a:ln>
        </p:spPr>
      </p:sp>
      <p:sp>
        <p:nvSpPr>
          <p:cNvPr id="27" name="Shape 20"/>
          <p:cNvSpPr/>
          <p:nvPr/>
        </p:nvSpPr>
        <p:spPr>
          <a:xfrm>
            <a:off x="9164210" y="3049191"/>
            <a:ext cx="496081" cy="496094"/>
          </a:xfrm>
          <a:prstGeom prst="ellipse">
            <a:avLst/>
          </a:prstGeom>
          <a:solidFill>
            <a:srgbClr val="B88E23"/>
          </a:solidFill>
        </p:spPr>
      </p:sp>
      <p:pic>
        <p:nvPicPr>
          <p:cNvPr id="28"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00632" y="3185517"/>
            <a:ext cx="223237" cy="223242"/>
          </a:xfrm>
          <a:prstGeom prst="rect">
            <a:avLst/>
          </a:prstGeom>
        </p:spPr>
      </p:pic>
      <p:sp>
        <p:nvSpPr>
          <p:cNvPr id="29" name="Text 21"/>
          <p:cNvSpPr/>
          <p:nvPr/>
        </p:nvSpPr>
        <p:spPr>
          <a:xfrm>
            <a:off x="9164210" y="3689945"/>
            <a:ext cx="2200716"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Communication</a:t>
            </a:r>
            <a:endParaRPr lang="en-US" sz="1600" dirty="0"/>
          </a:p>
        </p:txBody>
      </p:sp>
      <p:sp>
        <p:nvSpPr>
          <p:cNvPr id="30" name="Shape 22"/>
          <p:cNvSpPr/>
          <p:nvPr/>
        </p:nvSpPr>
        <p:spPr>
          <a:xfrm>
            <a:off x="6303904" y="4264720"/>
            <a:ext cx="2544004" cy="1242516"/>
          </a:xfrm>
          <a:prstGeom prst="roundRect">
            <a:avLst>
              <a:gd name="adj" fmla="val 5591"/>
            </a:avLst>
          </a:prstGeom>
          <a:solidFill>
            <a:srgbClr val="F7EDD4"/>
          </a:solidFill>
          <a:ln w="6350">
            <a:solidFill>
              <a:srgbClr val="DDD3BA"/>
            </a:solidFill>
            <a:prstDash val="solid"/>
          </a:ln>
        </p:spPr>
      </p:sp>
      <p:sp>
        <p:nvSpPr>
          <p:cNvPr id="31" name="Shape 23"/>
          <p:cNvSpPr/>
          <p:nvPr/>
        </p:nvSpPr>
        <p:spPr>
          <a:xfrm>
            <a:off x="6475548" y="4436368"/>
            <a:ext cx="496081" cy="496094"/>
          </a:xfrm>
          <a:prstGeom prst="ellipse">
            <a:avLst/>
          </a:prstGeom>
          <a:solidFill>
            <a:srgbClr val="B88E23"/>
          </a:solidFill>
        </p:spPr>
      </p:sp>
      <p:pic>
        <p:nvPicPr>
          <p:cNvPr id="32" name="Image 6"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1971" y="4572695"/>
            <a:ext cx="223237" cy="223242"/>
          </a:xfrm>
          <a:prstGeom prst="rect">
            <a:avLst/>
          </a:prstGeom>
        </p:spPr>
      </p:pic>
      <p:sp>
        <p:nvSpPr>
          <p:cNvPr id="33" name="Text 24"/>
          <p:cNvSpPr/>
          <p:nvPr/>
        </p:nvSpPr>
        <p:spPr>
          <a:xfrm>
            <a:off x="6475548" y="5077123"/>
            <a:ext cx="2200716"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Teamwork</a:t>
            </a:r>
            <a:endParaRPr lang="en-US" sz="1600" dirty="0"/>
          </a:p>
        </p:txBody>
      </p:sp>
      <p:sp>
        <p:nvSpPr>
          <p:cNvPr id="34" name="Shape 25"/>
          <p:cNvSpPr/>
          <p:nvPr/>
        </p:nvSpPr>
        <p:spPr>
          <a:xfrm>
            <a:off x="8992566" y="4264720"/>
            <a:ext cx="2544004" cy="1242516"/>
          </a:xfrm>
          <a:prstGeom prst="roundRect">
            <a:avLst>
              <a:gd name="adj" fmla="val 5591"/>
            </a:avLst>
          </a:prstGeom>
          <a:solidFill>
            <a:srgbClr val="F7EDD4"/>
          </a:solidFill>
          <a:ln w="6350">
            <a:solidFill>
              <a:srgbClr val="DDD3BA"/>
            </a:solidFill>
            <a:prstDash val="solid"/>
          </a:ln>
        </p:spPr>
      </p:sp>
      <p:sp>
        <p:nvSpPr>
          <p:cNvPr id="35" name="Shape 26"/>
          <p:cNvSpPr/>
          <p:nvPr/>
        </p:nvSpPr>
        <p:spPr>
          <a:xfrm>
            <a:off x="9164210" y="4436368"/>
            <a:ext cx="496081" cy="496094"/>
          </a:xfrm>
          <a:prstGeom prst="ellipse">
            <a:avLst/>
          </a:prstGeom>
          <a:solidFill>
            <a:srgbClr val="B88E23"/>
          </a:solidFill>
        </p:spPr>
      </p:sp>
      <p:pic>
        <p:nvPicPr>
          <p:cNvPr id="36" name="Image 7"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300632" y="4572695"/>
            <a:ext cx="223237" cy="223242"/>
          </a:xfrm>
          <a:prstGeom prst="rect">
            <a:avLst/>
          </a:prstGeom>
        </p:spPr>
      </p:pic>
      <p:sp>
        <p:nvSpPr>
          <p:cNvPr id="37" name="Text 27"/>
          <p:cNvSpPr/>
          <p:nvPr/>
        </p:nvSpPr>
        <p:spPr>
          <a:xfrm>
            <a:off x="9164210" y="5077123"/>
            <a:ext cx="2200716"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Presentation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61690"/>
            <a:ext cx="10868745" cy="516731"/>
          </a:xfrm>
          <a:prstGeom prst="rect">
            <a:avLst/>
          </a:prstGeom>
          <a:noFill/>
        </p:spPr>
        <p:txBody>
          <a:bodyPr wrap="none" lIns="0" tIns="0" rIns="0" bIns="0" rtlCol="0" anchor="t"/>
          <a:lstStyle/>
          <a:p>
            <a:pPr marL="0" indent="0" algn="l">
              <a:lnSpc>
                <a:spcPct val="104000"/>
              </a:lnSpc>
              <a:buNone/>
            </a:pPr>
            <a:r>
              <a:rPr lang="en-US" sz="32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Acknowledgements &amp; References</a:t>
            </a:r>
            <a:endParaRPr lang="en-US" sz="3250" dirty="0"/>
          </a:p>
        </p:txBody>
      </p:sp>
      <p:sp>
        <p:nvSpPr>
          <p:cNvPr id="3" name="Shape 1"/>
          <p:cNvSpPr/>
          <p:nvPr/>
        </p:nvSpPr>
        <p:spPr>
          <a:xfrm>
            <a:off x="542415" y="1395413"/>
            <a:ext cx="5470785" cy="4800798"/>
          </a:xfrm>
          <a:prstGeom prst="roundRect">
            <a:avLst>
              <a:gd name="adj" fmla="val 2480"/>
            </a:avLst>
          </a:prstGeom>
          <a:solidFill>
            <a:srgbClr val="454240"/>
          </a:solidFill>
        </p:spPr>
      </p:sp>
      <p:sp>
        <p:nvSpPr>
          <p:cNvPr id="4" name="Text 2"/>
          <p:cNvSpPr/>
          <p:nvPr/>
        </p:nvSpPr>
        <p:spPr>
          <a:xfrm>
            <a:off x="707710" y="1540073"/>
            <a:ext cx="5140196" cy="258465"/>
          </a:xfrm>
          <a:prstGeom prst="rect">
            <a:avLst/>
          </a:prstGeom>
          <a:noFill/>
        </p:spPr>
        <p:txBody>
          <a:bodyPr wrap="none" lIns="0" tIns="0" rIns="0" bIns="0" rtlCol="0" anchor="t"/>
          <a:lstStyle/>
          <a:p>
            <a:pPr marL="0" indent="0" algn="l">
              <a:lnSpc>
                <a:spcPct val="104000"/>
              </a:lnSpc>
              <a:buNone/>
            </a:pPr>
            <a:r>
              <a:rPr lang="en-US" sz="1600" dirty="0">
                <a:solidFill>
                  <a:srgbClr val="FFFFFF"/>
                </a:solidFill>
                <a:latin typeface="Libre Baskerville" panose="02000000000000000000" pitchFamily="34" charset="0"/>
                <a:ea typeface="Libre Baskerville" panose="02000000000000000000" pitchFamily="34" charset="-122"/>
                <a:cs typeface="Libre Baskerville" panose="02000000000000000000" pitchFamily="34" charset="-120"/>
              </a:rPr>
              <a:t>Acknowledgements</a:t>
            </a:r>
            <a:endParaRPr lang="en-US" sz="1600" dirty="0"/>
          </a:p>
        </p:txBody>
      </p:sp>
      <p:sp>
        <p:nvSpPr>
          <p:cNvPr id="5" name="Text 3"/>
          <p:cNvSpPr/>
          <p:nvPr/>
        </p:nvSpPr>
        <p:spPr>
          <a:xfrm>
            <a:off x="707710" y="1943199"/>
            <a:ext cx="5140196" cy="1004491"/>
          </a:xfrm>
          <a:prstGeom prst="rect">
            <a:avLst/>
          </a:prstGeom>
          <a:noFill/>
        </p:spPr>
        <p:txBody>
          <a:bodyPr wrap="square" lIns="0" tIns="0" rIns="0" bIns="0" rtlCol="0" anchor="t"/>
          <a:lstStyle/>
          <a:p>
            <a:pPr marL="0" indent="0" algn="l">
              <a:lnSpc>
                <a:spcPct val="125000"/>
              </a:lnSpc>
              <a:spcAft>
                <a:spcPts val="1000"/>
              </a:spcAft>
              <a:buNone/>
            </a:pPr>
            <a:r>
              <a:rPr lang="en-US" sz="1300" b="1" dirty="0">
                <a:solidFill>
                  <a:srgbClr val="FFFFFF"/>
                </a:solidFill>
                <a:latin typeface="DM Sans Bold" pitchFamily="34" charset="0"/>
                <a:ea typeface="DM Sans Bold" pitchFamily="34" charset="-122"/>
                <a:cs typeface="DM Sans Bold" pitchFamily="34" charset="-120"/>
              </a:rPr>
              <a:t>Infosys Springboard – Virtual Internship 7.0</a:t>
            </a:r>
            <a:endParaRPr lang="en-US" sz="1300" dirty="0"/>
          </a:p>
          <a:p>
            <a:pPr marL="0" indent="0" algn="l">
              <a:lnSpc>
                <a:spcPct val="125000"/>
              </a:lnSpc>
              <a:spcAft>
                <a:spcPts val="1000"/>
              </a:spcAft>
              <a:buNone/>
            </a:pPr>
            <a:r>
              <a:rPr lang="en-US" sz="1300" dirty="0">
                <a:solidFill>
                  <a:srgbClr val="FFFFFF"/>
                </a:solidFill>
                <a:latin typeface="DM Sans" pitchFamily="34" charset="0"/>
                <a:ea typeface="DM Sans" pitchFamily="34" charset="-122"/>
                <a:cs typeface="DM Sans" pitchFamily="34" charset="-120"/>
              </a:rPr>
              <a:t>Mentor: Ms. Nityasree</a:t>
            </a:r>
            <a:endParaRPr lang="en-US" sz="1300" dirty="0"/>
          </a:p>
          <a:p>
            <a:pPr marL="0" indent="0" algn="l">
              <a:lnSpc>
                <a:spcPct val="125000"/>
              </a:lnSpc>
              <a:buNone/>
            </a:pPr>
            <a:r>
              <a:rPr lang="en-US" sz="1300" dirty="0">
                <a:solidFill>
                  <a:srgbClr val="FFFFFF"/>
                </a:solidFill>
                <a:latin typeface="DM Sans" pitchFamily="34" charset="0"/>
                <a:ea typeface="DM Sans" pitchFamily="34" charset="-122"/>
                <a:cs typeface="DM Sans" pitchFamily="34" charset="-120"/>
              </a:rPr>
              <a:t>Team D – Group 1</a:t>
            </a:r>
            <a:endParaRPr lang="en-US" sz="1300" dirty="0"/>
          </a:p>
        </p:txBody>
      </p:sp>
      <p:sp>
        <p:nvSpPr>
          <p:cNvPr id="6" name="Text 4"/>
          <p:cNvSpPr/>
          <p:nvPr/>
        </p:nvSpPr>
        <p:spPr>
          <a:xfrm>
            <a:off x="707710" y="3077865"/>
            <a:ext cx="5140196" cy="1442641"/>
          </a:xfrm>
          <a:prstGeom prst="rect">
            <a:avLst/>
          </a:prstGeom>
          <a:noFill/>
        </p:spPr>
        <p:txBody>
          <a:bodyPr wrap="square" lIns="0" tIns="66156" rIns="0" bIns="0" rtlCol="0" anchor="t">
            <a:normAutofit/>
          </a:bodyPr>
          <a:lstStyle/>
          <a:p>
            <a:pPr marL="264160" indent="-264160" algn="l">
              <a:lnSpc>
                <a:spcPct val="125000"/>
              </a:lnSpc>
              <a:buSzPct val="100000"/>
              <a:buChar char="•"/>
            </a:pPr>
            <a:r>
              <a:rPr lang="en-US" sz="1300" dirty="0">
                <a:solidFill>
                  <a:srgbClr val="FFFFFF"/>
                </a:solidFill>
                <a:latin typeface="DM Sans" pitchFamily="34" charset="0"/>
                <a:ea typeface="DM Sans" pitchFamily="34" charset="-122"/>
                <a:cs typeface="DM Sans" pitchFamily="34" charset="-120"/>
              </a:rPr>
              <a:t>Uppala Bhavya Sri</a:t>
            </a:r>
            <a:endParaRPr lang="en-US" sz="1300" dirty="0"/>
          </a:p>
          <a:p>
            <a:pPr marL="264160" indent="-264160" algn="l">
              <a:lnSpc>
                <a:spcPct val="125000"/>
              </a:lnSpc>
              <a:buSzPct val="100000"/>
              <a:buChar char="•"/>
            </a:pPr>
            <a:r>
              <a:rPr lang="en-US" sz="1300" dirty="0">
                <a:solidFill>
                  <a:srgbClr val="FFFFFF"/>
                </a:solidFill>
                <a:latin typeface="DM Sans" pitchFamily="34" charset="0"/>
                <a:ea typeface="DM Sans" pitchFamily="34" charset="-122"/>
                <a:cs typeface="DM Sans" pitchFamily="34" charset="-120"/>
              </a:rPr>
              <a:t>V. Charita Sree</a:t>
            </a:r>
            <a:endParaRPr lang="en-US" sz="1300" dirty="0"/>
          </a:p>
          <a:p>
            <a:pPr marL="264160" indent="-264160" algn="l">
              <a:lnSpc>
                <a:spcPct val="125000"/>
              </a:lnSpc>
              <a:buSzPct val="100000"/>
              <a:buChar char="•"/>
            </a:pPr>
            <a:r>
              <a:rPr lang="en-US" sz="1300" dirty="0">
                <a:solidFill>
                  <a:srgbClr val="FFFFFF"/>
                </a:solidFill>
                <a:latin typeface="DM Sans" pitchFamily="34" charset="0"/>
                <a:ea typeface="DM Sans" pitchFamily="34" charset="-122"/>
                <a:cs typeface="DM Sans" pitchFamily="34" charset="-120"/>
              </a:rPr>
              <a:t>Velpuri Sai Rohitha</a:t>
            </a:r>
            <a:endParaRPr lang="en-US" sz="1300" dirty="0"/>
          </a:p>
          <a:p>
            <a:pPr marL="264160" indent="-264160" algn="l">
              <a:lnSpc>
                <a:spcPct val="125000"/>
              </a:lnSpc>
              <a:buSzPct val="100000"/>
              <a:buChar char="•"/>
            </a:pPr>
            <a:r>
              <a:rPr lang="en-US" sz="1300" dirty="0">
                <a:solidFill>
                  <a:srgbClr val="FFFFFF"/>
                </a:solidFill>
                <a:latin typeface="DM Sans" pitchFamily="34" charset="0"/>
                <a:ea typeface="DM Sans" pitchFamily="34" charset="-122"/>
                <a:cs typeface="DM Sans" pitchFamily="34" charset="-120"/>
              </a:rPr>
              <a:t>Venkata Puneeth Kothapalli</a:t>
            </a:r>
            <a:endParaRPr lang="en-US" sz="1300" dirty="0"/>
          </a:p>
          <a:p>
            <a:pPr marL="264160" indent="-264160" algn="l">
              <a:lnSpc>
                <a:spcPct val="125000"/>
              </a:lnSpc>
              <a:buSzPct val="100000"/>
              <a:buChar char="•"/>
            </a:pPr>
            <a:r>
              <a:rPr lang="en-US" sz="1300" dirty="0">
                <a:solidFill>
                  <a:srgbClr val="FFFFFF"/>
                </a:solidFill>
                <a:latin typeface="DM Sans" pitchFamily="34" charset="0"/>
                <a:ea typeface="DM Sans" pitchFamily="34" charset="-122"/>
                <a:cs typeface="DM Sans" pitchFamily="34" charset="-120"/>
              </a:rPr>
              <a:t>Yuvasree P</a:t>
            </a:r>
            <a:endParaRPr lang="en-US" sz="1300" dirty="0"/>
          </a:p>
        </p:txBody>
      </p:sp>
      <p:sp>
        <p:nvSpPr>
          <p:cNvPr id="7" name="Text 5"/>
          <p:cNvSpPr/>
          <p:nvPr/>
        </p:nvSpPr>
        <p:spPr>
          <a:xfrm>
            <a:off x="6303904" y="1540073"/>
            <a:ext cx="5232666" cy="258465"/>
          </a:xfrm>
          <a:prstGeom prst="rect">
            <a:avLst/>
          </a:prstGeom>
          <a:noFill/>
        </p:spPr>
        <p:txBody>
          <a:bodyPr wrap="none" lIns="0" tIns="0" rIns="0" bIns="0" rtlCol="0" anchor="t"/>
          <a:lstStyle/>
          <a:p>
            <a:pPr marL="0" indent="0" algn="l">
              <a:lnSpc>
                <a:spcPct val="104000"/>
              </a:lnSpc>
              <a:buNone/>
            </a:pPr>
            <a:r>
              <a:rPr lang="en-US" sz="160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References</a:t>
            </a:r>
            <a:endParaRPr lang="en-US" sz="1600" dirty="0"/>
          </a:p>
        </p:txBody>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4854" y="1942207"/>
            <a:ext cx="2544897" cy="2177554"/>
          </a:xfrm>
          <a:prstGeom prst="rect">
            <a:avLst/>
          </a:prstGeom>
        </p:spPr>
      </p:pic>
      <p:sp>
        <p:nvSpPr>
          <p:cNvPr id="9" name="Text 6"/>
          <p:cNvSpPr/>
          <p:nvPr/>
        </p:nvSpPr>
        <p:spPr>
          <a:xfrm>
            <a:off x="6507297" y="1961257"/>
            <a:ext cx="2322454"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Supply Chain Dataset</a:t>
            </a:r>
            <a:endParaRPr lang="en-US" sz="1600" dirty="0"/>
          </a:p>
        </p:txBody>
      </p:sp>
      <p:sp>
        <p:nvSpPr>
          <p:cNvPr id="10" name="Text 7"/>
          <p:cNvSpPr/>
          <p:nvPr/>
        </p:nvSpPr>
        <p:spPr>
          <a:xfrm>
            <a:off x="6507297" y="2364383"/>
            <a:ext cx="2322454" cy="1736328"/>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The project analysis was performed using supply-chain data covering shipments, inventory, suppliers, products, transportation, costs, and deliveries.</a:t>
            </a:r>
            <a:endParaRPr lang="en-US" sz="1300" dirty="0"/>
          </a:p>
        </p:txBody>
      </p:sp>
      <p:pic>
        <p:nvPicPr>
          <p:cNvPr id="11"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91573" y="1942207"/>
            <a:ext cx="2544996" cy="2177554"/>
          </a:xfrm>
          <a:prstGeom prst="rect">
            <a:avLst/>
          </a:prstGeom>
        </p:spPr>
      </p:pic>
      <p:sp>
        <p:nvSpPr>
          <p:cNvPr id="12" name="Text 8"/>
          <p:cNvSpPr/>
          <p:nvPr/>
        </p:nvSpPr>
        <p:spPr>
          <a:xfrm>
            <a:off x="9214016" y="1961257"/>
            <a:ext cx="2322554"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Microsoft Power BI</a:t>
            </a:r>
            <a:endParaRPr lang="en-US" sz="1600" dirty="0"/>
          </a:p>
        </p:txBody>
      </p:sp>
      <p:sp>
        <p:nvSpPr>
          <p:cNvPr id="13" name="Text 9"/>
          <p:cNvSpPr/>
          <p:nvPr/>
        </p:nvSpPr>
        <p:spPr>
          <a:xfrm>
            <a:off x="9214016" y="2364383"/>
            <a:ext cx="2322554" cy="1488281"/>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Microsoft Power BI documentation was referred to for dashboard development, DAX implementation, and data-modeling concepts.</a:t>
            </a:r>
            <a:endParaRPr lang="en-US" sz="1300" dirty="0"/>
          </a:p>
        </p:txBody>
      </p:sp>
      <p:pic>
        <p:nvPicPr>
          <p:cNvPr id="14"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4854" y="4371082"/>
            <a:ext cx="2544897" cy="1681460"/>
          </a:xfrm>
          <a:prstGeom prst="rect">
            <a:avLst/>
          </a:prstGeom>
        </p:spPr>
      </p:pic>
      <p:sp>
        <p:nvSpPr>
          <p:cNvPr id="15" name="Text 10"/>
          <p:cNvSpPr/>
          <p:nvPr/>
        </p:nvSpPr>
        <p:spPr>
          <a:xfrm>
            <a:off x="6507297" y="4390132"/>
            <a:ext cx="2322454"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Infosys Springboard</a:t>
            </a:r>
            <a:endParaRPr lang="en-US" sz="1600" dirty="0"/>
          </a:p>
        </p:txBody>
      </p:sp>
      <p:sp>
        <p:nvSpPr>
          <p:cNvPr id="16" name="Text 11"/>
          <p:cNvSpPr/>
          <p:nvPr/>
        </p:nvSpPr>
        <p:spPr>
          <a:xfrm>
            <a:off x="6507297" y="4793258"/>
            <a:ext cx="2322454" cy="992188"/>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The Infosys Springboard learning materials supported the project as part of the Virtual Internship 7.0 program.</a:t>
            </a:r>
            <a:endParaRPr lang="en-US" sz="1300" dirty="0"/>
          </a:p>
        </p:txBody>
      </p:sp>
      <p:pic>
        <p:nvPicPr>
          <p:cNvPr id="17"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1573" y="4371082"/>
            <a:ext cx="2544996" cy="1681460"/>
          </a:xfrm>
          <a:prstGeom prst="rect">
            <a:avLst/>
          </a:prstGeom>
        </p:spPr>
      </p:pic>
      <p:sp>
        <p:nvSpPr>
          <p:cNvPr id="18" name="Text 12"/>
          <p:cNvSpPr/>
          <p:nvPr/>
        </p:nvSpPr>
        <p:spPr>
          <a:xfrm>
            <a:off x="9214016" y="4390132"/>
            <a:ext cx="2322554" cy="258465"/>
          </a:xfrm>
          <a:prstGeom prst="rect">
            <a:avLst/>
          </a:prstGeom>
          <a:noFill/>
        </p:spPr>
        <p:txBody>
          <a:bodyPr wrap="none" lIns="0" tIns="0" rIns="0" bIns="0" rtlCol="0" anchor="t"/>
          <a:lstStyle/>
          <a:p>
            <a:pPr marL="0" indent="0" algn="l">
              <a:lnSpc>
                <a:spcPct val="104000"/>
              </a:lnSpc>
              <a:buNone/>
            </a:pPr>
            <a:r>
              <a:rPr lang="en-US" sz="1600" dirty="0">
                <a:solidFill>
                  <a:srgbClr val="454240"/>
                </a:solidFill>
                <a:latin typeface="Libre Baskerville" panose="02000000000000000000" pitchFamily="34" charset="0"/>
                <a:ea typeface="Libre Baskerville" panose="02000000000000000000" pitchFamily="34" charset="-122"/>
                <a:cs typeface="Libre Baskerville" panose="02000000000000000000" pitchFamily="34" charset="-120"/>
              </a:rPr>
              <a:t>Power BI Resources</a:t>
            </a:r>
            <a:endParaRPr lang="en-US" sz="1600" dirty="0"/>
          </a:p>
        </p:txBody>
      </p:sp>
      <p:sp>
        <p:nvSpPr>
          <p:cNvPr id="19" name="Text 13"/>
          <p:cNvSpPr/>
          <p:nvPr/>
        </p:nvSpPr>
        <p:spPr>
          <a:xfrm>
            <a:off x="9214016" y="4793258"/>
            <a:ext cx="2322554" cy="124023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454240"/>
                </a:solidFill>
                <a:latin typeface="DM Sans" pitchFamily="34" charset="0"/>
                <a:ea typeface="DM Sans" pitchFamily="34" charset="-122"/>
                <a:cs typeface="DM Sans" pitchFamily="34" charset="-120"/>
              </a:rPr>
              <a:t>Additional Power BI resources were consulted to support data modeling, visualization, and optimization during project development.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734939"/>
            <a:ext cx="10868745" cy="1772047"/>
          </a:xfrm>
          <a:prstGeom prst="rect">
            <a:avLst/>
          </a:prstGeom>
          <a:noFill/>
        </p:spPr>
        <p:txBody>
          <a:bodyPr wrap="none" lIns="0" tIns="0" rIns="0" bIns="0" rtlCol="0" anchor="t"/>
          <a:lstStyle/>
          <a:p>
            <a:pPr marL="0" indent="0" algn="ctr">
              <a:lnSpc>
                <a:spcPct val="104000"/>
              </a:lnSpc>
              <a:buNone/>
            </a:pPr>
            <a:r>
              <a:rPr lang="en-US" sz="11150" dirty="0">
                <a:solidFill>
                  <a:srgbClr val="5C4E3D"/>
                </a:solidFill>
                <a:latin typeface="Libre Baskerville" panose="02000000000000000000" pitchFamily="34" charset="0"/>
                <a:ea typeface="Libre Baskerville" panose="02000000000000000000" pitchFamily="34" charset="-122"/>
                <a:cs typeface="Libre Baskerville" panose="02000000000000000000" pitchFamily="34" charset="-120"/>
              </a:rPr>
              <a:t>Thank You</a:t>
            </a:r>
            <a:endParaRPr lang="en-US" sz="11150" dirty="0"/>
          </a:p>
        </p:txBody>
      </p:sp>
      <p:sp>
        <p:nvSpPr>
          <p:cNvPr id="3" name="Text 1"/>
          <p:cNvSpPr/>
          <p:nvPr/>
        </p:nvSpPr>
        <p:spPr>
          <a:xfrm>
            <a:off x="661475" y="3790454"/>
            <a:ext cx="10868745" cy="1332508"/>
          </a:xfrm>
          <a:prstGeom prst="rect">
            <a:avLst/>
          </a:prstGeom>
          <a:noFill/>
        </p:spPr>
        <p:txBody>
          <a:bodyPr wrap="square" lIns="0" tIns="0" rIns="0" bIns="0" rtlCol="0" anchor="t"/>
          <a:lstStyle/>
          <a:p>
            <a:pPr marL="0" indent="0" algn="ctr">
              <a:lnSpc>
                <a:spcPct val="133000"/>
              </a:lnSpc>
              <a:spcAft>
                <a:spcPts val="1650"/>
              </a:spcAft>
              <a:buNone/>
            </a:pPr>
            <a:r>
              <a:rPr lang="en-US" sz="1450" dirty="0">
                <a:solidFill>
                  <a:srgbClr val="454240"/>
                </a:solidFill>
                <a:latin typeface="DM Sans" pitchFamily="34" charset="0"/>
                <a:ea typeface="DM Sans" pitchFamily="34" charset="-122"/>
                <a:cs typeface="DM Sans" pitchFamily="34" charset="-120"/>
              </a:rPr>
              <a:t>Supply Chain Visibility System with Optimization Analytics</a:t>
            </a:r>
            <a:endParaRPr lang="en-US" sz="1450" dirty="0"/>
          </a:p>
          <a:p>
            <a:pPr marL="0" indent="0" algn="ctr">
              <a:lnSpc>
                <a:spcPct val="133000"/>
              </a:lnSpc>
              <a:spcAft>
                <a:spcPts val="1650"/>
              </a:spcAft>
              <a:buNone/>
            </a:pPr>
            <a:r>
              <a:rPr lang="en-US" sz="1450" b="1" dirty="0">
                <a:solidFill>
                  <a:srgbClr val="454240"/>
                </a:solidFill>
                <a:latin typeface="DM Sans Bold" pitchFamily="34" charset="0"/>
                <a:ea typeface="DM Sans Bold" pitchFamily="34" charset="-122"/>
                <a:cs typeface="DM Sans Bold" pitchFamily="34" charset="-120"/>
              </a:rPr>
              <a:t>Team D • Group 1  |  Infosys Springboard Virtual Internship 7.0</a:t>
            </a:r>
            <a:endParaRPr lang="en-US" sz="1450" dirty="0"/>
          </a:p>
          <a:p>
            <a:pPr marL="0" indent="0" algn="ctr">
              <a:lnSpc>
                <a:spcPct val="133000"/>
              </a:lnSpc>
              <a:buNone/>
            </a:pPr>
            <a:r>
              <a:rPr lang="en-US" sz="1450" dirty="0">
                <a:solidFill>
                  <a:srgbClr val="454240"/>
                </a:solidFill>
                <a:latin typeface="DM Sans" pitchFamily="34" charset="0"/>
                <a:ea typeface="DM Sans" pitchFamily="34" charset="-122"/>
                <a:cs typeface="DM Sans" pitchFamily="34" charset="-120"/>
              </a:rPr>
              <a:t>Mentor: Ms. Nityasree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4720</Words>
  <Application>WPS Presentation</Application>
  <PresentationFormat>On-screen Show (16:9)</PresentationFormat>
  <Paragraphs>194</Paragraphs>
  <Slides>8</Slides>
  <Notes>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SimSun</vt:lpstr>
      <vt:lpstr>Wingdings</vt:lpstr>
      <vt:lpstr>DM Sans</vt:lpstr>
      <vt:lpstr>DM Sans</vt:lpstr>
      <vt:lpstr>DM Sans</vt:lpstr>
      <vt:lpstr>Libre Baskerville</vt:lpstr>
      <vt:lpstr>Libre Baskerville</vt:lpstr>
      <vt:lpstr>Libre Baskerville</vt:lpstr>
      <vt:lpstr>DM Sans Bold</vt:lpstr>
      <vt:lpstr>DM Sans Bold</vt:lpstr>
      <vt:lpstr>DM Sans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Uppala Bhavyasri</cp:lastModifiedBy>
  <cp:revision>2</cp:revision>
  <dcterms:created xsi:type="dcterms:W3CDTF">2026-08-19T14:27:00Z</dcterms:created>
  <dcterms:modified xsi:type="dcterms:W3CDTF">2026-08-20T13:14:01Z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6DB124D3B195423DAC6C74FDEDEB93CE_12</vt:lpwstr>
  </property>
  <property fmtid="{D5CDD505-2E9C-101B-9397-08002B2CF9AE}" pid="3" name="KSOProductBuildVer">
    <vt:lpwstr>1033-12.1.0.28032</vt:lpwstr>
  </property>
</Properties>
</file>