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4023360" cy="73152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73152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EEF5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772400" cy="1661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>
                <a:solidFill>
                  <a:srgbClr val="F8FAFC"/>
                </a:solidFill>
                <a:latin typeface="Aptos"/>
              </a:rPr>
              <a:t>SUPPLY CHAIN VISIBILITY SYSTEM
WITH OPTIMIZATION ANALYTICS</a:t>
            </a:r>
            <a:r>
              <a:rPr lang="en-IN" sz="3400" b="1" dirty="0">
                <a:solidFill>
                  <a:srgbClr val="F8FAFC"/>
                </a:solidFill>
                <a:latin typeface="Aptos"/>
              </a:rPr>
              <a:t> GROUP 1</a:t>
            </a:r>
            <a:endParaRPr sz="3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5291" y="2950607"/>
            <a:ext cx="586108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AAEBE"/>
                </a:solidFill>
                <a:latin typeface="Aptos"/>
              </a:rPr>
              <a:t>An Interactive Power BI Dashboard for Supply Chain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7223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8FAFC"/>
                </a:solidFill>
                <a:latin typeface="Aptos"/>
              </a:rPr>
              <a:t>Team Members:</a:t>
            </a:r>
            <a:r>
              <a:rPr lang="en-IN" b="0" dirty="0">
                <a:solidFill>
                  <a:srgbClr val="F8FAFC"/>
                </a:solidFill>
                <a:latin typeface="Aptos"/>
              </a:rPr>
              <a:t> </a:t>
            </a:r>
            <a:r>
              <a:rPr b="0" dirty="0">
                <a:solidFill>
                  <a:srgbClr val="F8FAFC"/>
                </a:solidFill>
                <a:latin typeface="Aptos"/>
              </a:rPr>
              <a:t>Uppala Bhavya Sri | V. Charita Sree
</a:t>
            </a:r>
            <a:r>
              <a:rPr b="0" dirty="0" err="1">
                <a:solidFill>
                  <a:srgbClr val="F8FAFC"/>
                </a:solidFill>
                <a:latin typeface="Aptos"/>
              </a:rPr>
              <a:t>Velpuri</a:t>
            </a:r>
            <a:r>
              <a:rPr b="0" dirty="0">
                <a:solidFill>
                  <a:srgbClr val="F8FAFC"/>
                </a:solidFill>
                <a:latin typeface="Aptos"/>
              </a:rPr>
              <a:t> Sai Rohitha | Venkata Puneeth Kothapalli | Yuvasree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617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AEBE"/>
                </a:solidFill>
                <a:latin typeface="Aptos"/>
              </a:rPr>
              <a:t>Team D • Group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74920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6EEF5"/>
                </a:solidFill>
                <a:latin typeface="Aptos"/>
              </a:rPr>
              <a:t>Mentor: Ms. Nityasree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41732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POWER BI
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88036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2880360"/>
            <a:ext cx="54864" cy="91440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SUPPLY CHAIN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35584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80,519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06908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4069080"/>
            <a:ext cx="54864" cy="914400"/>
          </a:xfrm>
          <a:prstGeom prst="rect">
            <a:avLst/>
          </a:prstGeom>
          <a:solidFill>
            <a:srgbClr val="31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42062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ON-TIME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54456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17.83%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525780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58200" y="5257800"/>
            <a:ext cx="54864" cy="9144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539496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88C"/>
                </a:solidFill>
                <a:latin typeface="Aptos"/>
              </a:rPr>
              <a:t>LATE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733288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B38"/>
                </a:solidFill>
                <a:latin typeface="Aptos"/>
              </a:rPr>
              <a:t>54.82%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AEBE"/>
                </a:solidFill>
                <a:latin typeface="Aptos"/>
              </a:rP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A1C30"/>
                </a:solidFill>
                <a:latin typeface="Aptos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88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521208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Transform raw supply chain data into meaningful visual insights.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Analyze sales, orders, customers, products and delivery operations.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Evaluate geographic markets, costs, discounts and profitability.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Develop interactive Power BI dashboards for data-driven decisions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5CA0"/>
                </a:solidFill>
                <a:latin typeface="Aptos"/>
              </a:rPr>
              <a:t>Project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38528"/>
            <a:ext cx="512064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Sales &amp; Delivery Analysis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Customer &amp; Product Insights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Geographic &amp; Market Performance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Cost &amp; Profitability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Order Value &amp; Performance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106070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617720"/>
            <a:ext cx="54864" cy="96012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9640" y="4754880"/>
            <a:ext cx="1033271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64788C"/>
                </a:solidFill>
                <a:latin typeface="Aptos"/>
              </a:rPr>
              <a:t>DATA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93208"/>
            <a:ext cx="1031443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solidFill>
                  <a:srgbClr val="1E2B38"/>
                </a:solidFill>
                <a:latin typeface="Aptos"/>
              </a:rPr>
              <a:t>DataCoSupplyChainDataset</a:t>
            </a:r>
            <a:r>
              <a:rPr sz="1600" b="0" dirty="0">
                <a:solidFill>
                  <a:srgbClr val="1E2B38"/>
                </a:solidFill>
                <a:latin typeface="Aptos"/>
              </a:rPr>
              <a:t> • approximately 80,519 records • orders, customers, products, sales, shipping, delivery, geography, discounts and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1233" y="6510528"/>
            <a:ext cx="578020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AEBE"/>
                </a:solidFill>
                <a:latin typeface="Aptos"/>
              </a:rP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A1C30"/>
                </a:solidFill>
                <a:latin typeface="Aptos"/>
              </a:rPr>
              <a:t>PROJECT EXECUTION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64788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54864" cy="160020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92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64788C"/>
                </a:solidFill>
                <a:latin typeface="Aptos"/>
              </a:rPr>
              <a:t>Milestone 1 – Data Acquisition &amp;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8737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Studied the DataCoSupplyChainDataset and prepared the data using Power 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4864" cy="160020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92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Milestone 2 – Data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48737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Structured the data and created DAX measures for sales, profit, orders, customers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54864" cy="160020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4892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Milestone 3 –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8737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Built interactive Power BI dashboard pages using suitable analytical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4864" cy="1600200"/>
          </a:xfrm>
          <a:prstGeom prst="rect">
            <a:avLst/>
          </a:prstGeom>
          <a:solidFill>
            <a:srgbClr val="E6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4892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Milestone 4 – Review &amp;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78808"/>
            <a:ext cx="48737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Validated calculations and improved dashboard readability, consistency and usability.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92824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6571927"/>
            <a:ext cx="5715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2C20B-BB4A-5BE5-115B-1D86924FE2A4}"/>
              </a:ext>
            </a:extLst>
          </p:cNvPr>
          <p:cNvSpPr txBox="1"/>
          <p:nvPr/>
        </p:nvSpPr>
        <p:spPr>
          <a:xfrm>
            <a:off x="4769443" y="-391851"/>
            <a:ext cx="47277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50" b="1" dirty="0">
                <a:solidFill>
                  <a:srgbClr val="0A1C30"/>
                </a:solidFill>
                <a:latin typeface="Aptos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99B54-B226-BA33-FF1C-4E5E9F72E644}"/>
              </a:ext>
            </a:extLst>
          </p:cNvPr>
          <p:cNvSpPr/>
          <p:nvPr/>
        </p:nvSpPr>
        <p:spPr>
          <a:xfrm>
            <a:off x="569625" y="314793"/>
            <a:ext cx="3717561" cy="719528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dirty="0"/>
              <a:t>WORKFLOW</a:t>
            </a: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E464F545-2B4D-23B3-5197-A6876936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857" y="-2451610"/>
            <a:ext cx="1210818" cy="109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28528" tIns="122199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Execution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WORKFLOW DIAGRAM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7FF17-21F9-035C-3848-2D3BBBFBE302}"/>
              </a:ext>
            </a:extLst>
          </p:cNvPr>
          <p:cNvGrpSpPr>
            <a:grpSpLocks/>
          </p:cNvGrpSpPr>
          <p:nvPr/>
        </p:nvGrpSpPr>
        <p:grpSpPr>
          <a:xfrm>
            <a:off x="5019104" y="403231"/>
            <a:ext cx="2443937" cy="6201875"/>
            <a:chOff x="-28939" y="46989"/>
            <a:chExt cx="3149964" cy="7086461"/>
          </a:xfrm>
        </p:grpSpPr>
        <p:sp>
          <p:nvSpPr>
            <p:cNvPr id="10" name="Graphic 19">
              <a:extLst>
                <a:ext uri="{FF2B5EF4-FFF2-40B4-BE49-F238E27FC236}">
                  <a16:creationId xmlns:a16="http://schemas.microsoft.com/office/drawing/2014/main" id="{59D867F6-A300-5227-D6ED-53CFBB45A01F}"/>
                </a:ext>
              </a:extLst>
            </p:cNvPr>
            <p:cNvSpPr/>
            <p:nvPr/>
          </p:nvSpPr>
          <p:spPr>
            <a:xfrm>
              <a:off x="19050" y="6753199"/>
              <a:ext cx="3089275" cy="367030"/>
            </a:xfrm>
            <a:custGeom>
              <a:avLst/>
              <a:gdLst/>
              <a:ahLst/>
              <a:cxnLst/>
              <a:rect l="l" t="t" r="r" b="b"/>
              <a:pathLst>
                <a:path w="3089275" h="367030">
                  <a:moveTo>
                    <a:pt x="0" y="367030"/>
                  </a:moveTo>
                  <a:lnTo>
                    <a:pt x="3089275" y="367030"/>
                  </a:lnTo>
                  <a:lnTo>
                    <a:pt x="3089275" y="0"/>
                  </a:lnTo>
                  <a:lnTo>
                    <a:pt x="0" y="0"/>
                  </a:lnTo>
                  <a:lnTo>
                    <a:pt x="0" y="367030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11" name="Image 20">
              <a:extLst>
                <a:ext uri="{FF2B5EF4-FFF2-40B4-BE49-F238E27FC236}">
                  <a16:creationId xmlns:a16="http://schemas.microsoft.com/office/drawing/2014/main" id="{D4B13114-DF90-A647-65E8-3FFF60804A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3136" y="3757137"/>
              <a:ext cx="168806" cy="509649"/>
            </a:xfrm>
            <a:prstGeom prst="rect">
              <a:avLst/>
            </a:prstGeom>
          </p:spPr>
        </p:pic>
        <p:pic>
          <p:nvPicPr>
            <p:cNvPr id="12" name="Image 21">
              <a:extLst>
                <a:ext uri="{FF2B5EF4-FFF2-40B4-BE49-F238E27FC236}">
                  <a16:creationId xmlns:a16="http://schemas.microsoft.com/office/drawing/2014/main" id="{802BF607-F39B-E3C8-3434-6DBDDD1EF25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0103" y="4102227"/>
              <a:ext cx="114300" cy="115570"/>
            </a:xfrm>
            <a:prstGeom prst="rect">
              <a:avLst/>
            </a:prstGeom>
          </p:spPr>
        </p:pic>
        <p:sp>
          <p:nvSpPr>
            <p:cNvPr id="13" name="Graphic 22">
              <a:extLst>
                <a:ext uri="{FF2B5EF4-FFF2-40B4-BE49-F238E27FC236}">
                  <a16:creationId xmlns:a16="http://schemas.microsoft.com/office/drawing/2014/main" id="{3247E6D0-7920-7EC5-BF34-F5341EF555A4}"/>
                </a:ext>
              </a:extLst>
            </p:cNvPr>
            <p:cNvSpPr/>
            <p:nvPr/>
          </p:nvSpPr>
          <p:spPr>
            <a:xfrm>
              <a:off x="1371091" y="3767201"/>
              <a:ext cx="45720" cy="337185"/>
            </a:xfrm>
            <a:custGeom>
              <a:avLst/>
              <a:gdLst/>
              <a:ahLst/>
              <a:cxnLst/>
              <a:rect l="l" t="t" r="r" b="b"/>
              <a:pathLst>
                <a:path w="45720" h="337185">
                  <a:moveTo>
                    <a:pt x="38100" y="0"/>
                  </a:moveTo>
                  <a:lnTo>
                    <a:pt x="0" y="762"/>
                  </a:lnTo>
                  <a:lnTo>
                    <a:pt x="7112" y="336677"/>
                  </a:lnTo>
                  <a:lnTo>
                    <a:pt x="45212" y="3357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14" name="Image 23">
              <a:extLst>
                <a:ext uri="{FF2B5EF4-FFF2-40B4-BE49-F238E27FC236}">
                  <a16:creationId xmlns:a16="http://schemas.microsoft.com/office/drawing/2014/main" id="{F59DFC9E-893B-AA70-7F7B-5D280549E28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319" y="6214719"/>
              <a:ext cx="310959" cy="736092"/>
            </a:xfrm>
            <a:prstGeom prst="rect">
              <a:avLst/>
            </a:prstGeom>
          </p:spPr>
        </p:pic>
        <p:pic>
          <p:nvPicPr>
            <p:cNvPr id="15" name="Image 24">
              <a:extLst>
                <a:ext uri="{FF2B5EF4-FFF2-40B4-BE49-F238E27FC236}">
                  <a16:creationId xmlns:a16="http://schemas.microsoft.com/office/drawing/2014/main" id="{EEB80837-2B0C-895F-9C57-8CBEA07EF3F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2252" y="6659550"/>
              <a:ext cx="114300" cy="114960"/>
            </a:xfrm>
            <a:prstGeom prst="rect">
              <a:avLst/>
            </a:prstGeom>
          </p:spPr>
        </p:pic>
        <p:sp>
          <p:nvSpPr>
            <p:cNvPr id="16" name="Graphic 25">
              <a:extLst>
                <a:ext uri="{FF2B5EF4-FFF2-40B4-BE49-F238E27FC236}">
                  <a16:creationId xmlns:a16="http://schemas.microsoft.com/office/drawing/2014/main" id="{9BF3EC0D-E156-C5BC-CA1A-5FB25BA6B14F}"/>
                </a:ext>
              </a:extLst>
            </p:cNvPr>
            <p:cNvSpPr/>
            <p:nvPr/>
          </p:nvSpPr>
          <p:spPr>
            <a:xfrm>
              <a:off x="1295400" y="6233921"/>
              <a:ext cx="43180" cy="426720"/>
            </a:xfrm>
            <a:custGeom>
              <a:avLst/>
              <a:gdLst/>
              <a:ahLst/>
              <a:cxnLst/>
              <a:rect l="l" t="t" r="r" b="b"/>
              <a:pathLst>
                <a:path w="43180" h="426720">
                  <a:moveTo>
                    <a:pt x="38100" y="0"/>
                  </a:moveTo>
                  <a:lnTo>
                    <a:pt x="0" y="507"/>
                  </a:lnTo>
                  <a:lnTo>
                    <a:pt x="4952" y="426516"/>
                  </a:lnTo>
                  <a:lnTo>
                    <a:pt x="43052" y="426072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17" name="Image 26">
              <a:extLst>
                <a:ext uri="{FF2B5EF4-FFF2-40B4-BE49-F238E27FC236}">
                  <a16:creationId xmlns:a16="http://schemas.microsoft.com/office/drawing/2014/main" id="{1707DFC7-3203-C0BC-F170-0993A2B3CFD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1380" y="4670774"/>
              <a:ext cx="159922" cy="369441"/>
            </a:xfrm>
            <a:prstGeom prst="rect">
              <a:avLst/>
            </a:prstGeom>
          </p:spPr>
        </p:pic>
        <p:pic>
          <p:nvPicPr>
            <p:cNvPr id="18" name="Image 27">
              <a:extLst>
                <a:ext uri="{FF2B5EF4-FFF2-40B4-BE49-F238E27FC236}">
                  <a16:creationId xmlns:a16="http://schemas.microsoft.com/office/drawing/2014/main" id="{7092047E-9ADB-DB48-51ED-A4C789ADCE0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6067" y="4680711"/>
              <a:ext cx="114300" cy="318770"/>
            </a:xfrm>
            <a:prstGeom prst="rect">
              <a:avLst/>
            </a:prstGeom>
          </p:spPr>
        </p:pic>
        <p:sp>
          <p:nvSpPr>
            <p:cNvPr id="19" name="Graphic 28">
              <a:extLst>
                <a:ext uri="{FF2B5EF4-FFF2-40B4-BE49-F238E27FC236}">
                  <a16:creationId xmlns:a16="http://schemas.microsoft.com/office/drawing/2014/main" id="{FBE655BE-6ED6-778D-6820-4089FE72CE7B}"/>
                </a:ext>
              </a:extLst>
            </p:cNvPr>
            <p:cNvSpPr/>
            <p:nvPr/>
          </p:nvSpPr>
          <p:spPr>
            <a:xfrm>
              <a:off x="40005" y="816609"/>
              <a:ext cx="2955925" cy="2929255"/>
            </a:xfrm>
            <a:custGeom>
              <a:avLst/>
              <a:gdLst/>
              <a:ahLst/>
              <a:cxnLst/>
              <a:rect l="l" t="t" r="r" b="b"/>
              <a:pathLst>
                <a:path w="2955925" h="2929255">
                  <a:moveTo>
                    <a:pt x="0" y="325120"/>
                  </a:moveTo>
                  <a:lnTo>
                    <a:pt x="2908935" y="325120"/>
                  </a:lnTo>
                  <a:lnTo>
                    <a:pt x="2908935" y="0"/>
                  </a:lnTo>
                  <a:lnTo>
                    <a:pt x="0" y="0"/>
                  </a:lnTo>
                  <a:lnTo>
                    <a:pt x="0" y="325120"/>
                  </a:lnTo>
                  <a:close/>
                </a:path>
                <a:path w="2955925" h="2929255">
                  <a:moveTo>
                    <a:pt x="20955" y="1260475"/>
                  </a:moveTo>
                  <a:lnTo>
                    <a:pt x="2900680" y="1260475"/>
                  </a:lnTo>
                  <a:lnTo>
                    <a:pt x="2900680" y="824229"/>
                  </a:lnTo>
                  <a:lnTo>
                    <a:pt x="20955" y="824229"/>
                  </a:lnTo>
                  <a:lnTo>
                    <a:pt x="20955" y="1260475"/>
                  </a:lnTo>
                  <a:close/>
                </a:path>
                <a:path w="2955925" h="2929255">
                  <a:moveTo>
                    <a:pt x="34925" y="2063750"/>
                  </a:moveTo>
                  <a:lnTo>
                    <a:pt x="2935605" y="2063750"/>
                  </a:lnTo>
                  <a:lnTo>
                    <a:pt x="2935605" y="1655445"/>
                  </a:lnTo>
                  <a:lnTo>
                    <a:pt x="34925" y="1655445"/>
                  </a:lnTo>
                  <a:lnTo>
                    <a:pt x="34925" y="2063750"/>
                  </a:lnTo>
                  <a:close/>
                </a:path>
                <a:path w="2955925" h="2929255">
                  <a:moveTo>
                    <a:pt x="20955" y="2929254"/>
                  </a:moveTo>
                  <a:lnTo>
                    <a:pt x="2955924" y="2929254"/>
                  </a:lnTo>
                  <a:lnTo>
                    <a:pt x="2955924" y="2541904"/>
                  </a:lnTo>
                  <a:lnTo>
                    <a:pt x="20955" y="2541904"/>
                  </a:lnTo>
                  <a:lnTo>
                    <a:pt x="20955" y="2929254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0" name="Image 29">
              <a:extLst>
                <a:ext uri="{FF2B5EF4-FFF2-40B4-BE49-F238E27FC236}">
                  <a16:creationId xmlns:a16="http://schemas.microsoft.com/office/drawing/2014/main" id="{037C2450-658C-7170-604B-CBE64FA0CE0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6472" y="421665"/>
              <a:ext cx="310959" cy="556234"/>
            </a:xfrm>
            <a:prstGeom prst="rect">
              <a:avLst/>
            </a:prstGeom>
          </p:spPr>
        </p:pic>
        <p:sp>
          <p:nvSpPr>
            <p:cNvPr id="21" name="Graphic 30">
              <a:extLst>
                <a:ext uri="{FF2B5EF4-FFF2-40B4-BE49-F238E27FC236}">
                  <a16:creationId xmlns:a16="http://schemas.microsoft.com/office/drawing/2014/main" id="{0E1BB793-43C3-80BF-8ED3-8D1E24AACE08}"/>
                </a:ext>
              </a:extLst>
            </p:cNvPr>
            <p:cNvSpPr/>
            <p:nvPr/>
          </p:nvSpPr>
          <p:spPr>
            <a:xfrm>
              <a:off x="1336675" y="441324"/>
              <a:ext cx="114300" cy="360045"/>
            </a:xfrm>
            <a:custGeom>
              <a:avLst/>
              <a:gdLst/>
              <a:ahLst/>
              <a:cxnLst/>
              <a:rect l="l" t="t" r="r" b="b"/>
              <a:pathLst>
                <a:path w="114300" h="360045">
                  <a:moveTo>
                    <a:pt x="114300" y="245745"/>
                  </a:moveTo>
                  <a:lnTo>
                    <a:pt x="76200" y="245745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45745"/>
                  </a:lnTo>
                  <a:lnTo>
                    <a:pt x="0" y="245745"/>
                  </a:lnTo>
                  <a:lnTo>
                    <a:pt x="57150" y="360045"/>
                  </a:lnTo>
                  <a:lnTo>
                    <a:pt x="104775" y="264795"/>
                  </a:lnTo>
                  <a:lnTo>
                    <a:pt x="114300" y="245745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2" name="Image 31">
              <a:extLst>
                <a:ext uri="{FF2B5EF4-FFF2-40B4-BE49-F238E27FC236}">
                  <a16:creationId xmlns:a16="http://schemas.microsoft.com/office/drawing/2014/main" id="{97973A1D-19C9-E59D-0943-B4C012CD8F7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0375" y="1163853"/>
              <a:ext cx="310959" cy="638530"/>
            </a:xfrm>
            <a:prstGeom prst="rect">
              <a:avLst/>
            </a:prstGeom>
          </p:spPr>
        </p:pic>
        <p:pic>
          <p:nvPicPr>
            <p:cNvPr id="23" name="Image 32">
              <a:extLst>
                <a:ext uri="{FF2B5EF4-FFF2-40B4-BE49-F238E27FC236}">
                  <a16:creationId xmlns:a16="http://schemas.microsoft.com/office/drawing/2014/main" id="{0EE85C80-E350-9534-0373-E5AABB8C7AE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2611" y="1511046"/>
              <a:ext cx="114300" cy="115188"/>
            </a:xfrm>
            <a:prstGeom prst="rect">
              <a:avLst/>
            </a:prstGeom>
          </p:spPr>
        </p:pic>
        <p:sp>
          <p:nvSpPr>
            <p:cNvPr id="24" name="Graphic 33">
              <a:extLst>
                <a:ext uri="{FF2B5EF4-FFF2-40B4-BE49-F238E27FC236}">
                  <a16:creationId xmlns:a16="http://schemas.microsoft.com/office/drawing/2014/main" id="{8BD9C739-2F90-B84E-8F6D-18E67502D312}"/>
                </a:ext>
              </a:extLst>
            </p:cNvPr>
            <p:cNvSpPr/>
            <p:nvPr/>
          </p:nvSpPr>
          <p:spPr>
            <a:xfrm>
              <a:off x="1370711" y="1184021"/>
              <a:ext cx="43180" cy="328295"/>
            </a:xfrm>
            <a:custGeom>
              <a:avLst/>
              <a:gdLst/>
              <a:ahLst/>
              <a:cxnLst/>
              <a:rect l="l" t="t" r="r" b="b"/>
              <a:pathLst>
                <a:path w="43180" h="328295">
                  <a:moveTo>
                    <a:pt x="4699" y="0"/>
                  </a:moveTo>
                  <a:lnTo>
                    <a:pt x="0" y="327660"/>
                  </a:lnTo>
                  <a:lnTo>
                    <a:pt x="38100" y="328167"/>
                  </a:lnTo>
                  <a:lnTo>
                    <a:pt x="42799" y="508"/>
                  </a:lnTo>
                  <a:lnTo>
                    <a:pt x="4699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5" name="Image 34">
              <a:extLst>
                <a:ext uri="{FF2B5EF4-FFF2-40B4-BE49-F238E27FC236}">
                  <a16:creationId xmlns:a16="http://schemas.microsoft.com/office/drawing/2014/main" id="{A98043D5-E43C-1A97-91E7-7E86E1D1182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1419" y="2052320"/>
              <a:ext cx="310959" cy="562356"/>
            </a:xfrm>
            <a:prstGeom prst="rect">
              <a:avLst/>
            </a:prstGeom>
          </p:spPr>
        </p:pic>
        <p:sp>
          <p:nvSpPr>
            <p:cNvPr id="26" name="Graphic 35">
              <a:extLst>
                <a:ext uri="{FF2B5EF4-FFF2-40B4-BE49-F238E27FC236}">
                  <a16:creationId xmlns:a16="http://schemas.microsoft.com/office/drawing/2014/main" id="{C228234F-1D09-A201-6CD6-7B0A9CC0A3FE}"/>
                </a:ext>
              </a:extLst>
            </p:cNvPr>
            <p:cNvSpPr/>
            <p:nvPr/>
          </p:nvSpPr>
          <p:spPr>
            <a:xfrm>
              <a:off x="1302385" y="2072004"/>
              <a:ext cx="114300" cy="367030"/>
            </a:xfrm>
            <a:custGeom>
              <a:avLst/>
              <a:gdLst/>
              <a:ahLst/>
              <a:cxnLst/>
              <a:rect l="l" t="t" r="r" b="b"/>
              <a:pathLst>
                <a:path w="114300" h="367030">
                  <a:moveTo>
                    <a:pt x="114300" y="252730"/>
                  </a:moveTo>
                  <a:lnTo>
                    <a:pt x="76200" y="252730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252730"/>
                  </a:lnTo>
                  <a:lnTo>
                    <a:pt x="0" y="252730"/>
                  </a:lnTo>
                  <a:lnTo>
                    <a:pt x="57150" y="367030"/>
                  </a:lnTo>
                  <a:lnTo>
                    <a:pt x="104775" y="271780"/>
                  </a:lnTo>
                  <a:lnTo>
                    <a:pt x="114300" y="25273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27" name="Image 36">
              <a:extLst>
                <a:ext uri="{FF2B5EF4-FFF2-40B4-BE49-F238E27FC236}">
                  <a16:creationId xmlns:a16="http://schemas.microsoft.com/office/drawing/2014/main" id="{0F7911BD-4BB7-86D1-C5DE-25978C948C1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9519" y="2901188"/>
              <a:ext cx="310959" cy="653796"/>
            </a:xfrm>
            <a:prstGeom prst="rect">
              <a:avLst/>
            </a:prstGeom>
          </p:spPr>
        </p:pic>
        <p:pic>
          <p:nvPicPr>
            <p:cNvPr id="28" name="Image 37">
              <a:extLst>
                <a:ext uri="{FF2B5EF4-FFF2-40B4-BE49-F238E27FC236}">
                  <a16:creationId xmlns:a16="http://schemas.microsoft.com/office/drawing/2014/main" id="{AEA16A90-9021-C68A-6410-9870691C949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8961" y="3263772"/>
              <a:ext cx="114173" cy="115062"/>
            </a:xfrm>
            <a:prstGeom prst="rect">
              <a:avLst/>
            </a:prstGeom>
          </p:spPr>
        </p:pic>
        <p:sp>
          <p:nvSpPr>
            <p:cNvPr id="29" name="Graphic 38">
              <a:extLst>
                <a:ext uri="{FF2B5EF4-FFF2-40B4-BE49-F238E27FC236}">
                  <a16:creationId xmlns:a16="http://schemas.microsoft.com/office/drawing/2014/main" id="{F83F224D-CB22-BC66-037E-DED670D7340A}"/>
                </a:ext>
              </a:extLst>
            </p:cNvPr>
            <p:cNvSpPr/>
            <p:nvPr/>
          </p:nvSpPr>
          <p:spPr>
            <a:xfrm>
              <a:off x="1372235" y="2921380"/>
              <a:ext cx="43180" cy="343535"/>
            </a:xfrm>
            <a:custGeom>
              <a:avLst/>
              <a:gdLst/>
              <a:ahLst/>
              <a:cxnLst/>
              <a:rect l="l" t="t" r="r" b="b"/>
              <a:pathLst>
                <a:path w="43180" h="343535">
                  <a:moveTo>
                    <a:pt x="38100" y="0"/>
                  </a:moveTo>
                  <a:lnTo>
                    <a:pt x="0" y="507"/>
                  </a:lnTo>
                  <a:lnTo>
                    <a:pt x="4825" y="343407"/>
                  </a:lnTo>
                  <a:lnTo>
                    <a:pt x="42925" y="3429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30" name="Graphic 39">
              <a:extLst>
                <a:ext uri="{FF2B5EF4-FFF2-40B4-BE49-F238E27FC236}">
                  <a16:creationId xmlns:a16="http://schemas.microsoft.com/office/drawing/2014/main" id="{60E4A3A7-D8C1-EF99-9A4C-EF3DEDC74A55}"/>
                </a:ext>
              </a:extLst>
            </p:cNvPr>
            <p:cNvSpPr/>
            <p:nvPr/>
          </p:nvSpPr>
          <p:spPr>
            <a:xfrm>
              <a:off x="12700" y="5859779"/>
              <a:ext cx="3027045" cy="374015"/>
            </a:xfrm>
            <a:custGeom>
              <a:avLst/>
              <a:gdLst/>
              <a:ahLst/>
              <a:cxnLst/>
              <a:rect l="l" t="t" r="r" b="b"/>
              <a:pathLst>
                <a:path w="3027045" h="374015">
                  <a:moveTo>
                    <a:pt x="0" y="374014"/>
                  </a:moveTo>
                  <a:lnTo>
                    <a:pt x="3027045" y="374014"/>
                  </a:lnTo>
                  <a:lnTo>
                    <a:pt x="3027045" y="0"/>
                  </a:lnTo>
                  <a:lnTo>
                    <a:pt x="0" y="0"/>
                  </a:lnTo>
                  <a:lnTo>
                    <a:pt x="0" y="374014"/>
                  </a:lnTo>
                  <a:close/>
                </a:path>
              </a:pathLst>
            </a:cu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pic>
          <p:nvPicPr>
            <p:cNvPr id="31" name="Image 40">
              <a:extLst>
                <a:ext uri="{FF2B5EF4-FFF2-40B4-BE49-F238E27FC236}">
                  <a16:creationId xmlns:a16="http://schemas.microsoft.com/office/drawing/2014/main" id="{F1FE8D4A-0D61-873E-6F52-B62451E7EF47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84655" y="5339575"/>
              <a:ext cx="310959" cy="716292"/>
            </a:xfrm>
            <a:prstGeom prst="rect">
              <a:avLst/>
            </a:prstGeom>
          </p:spPr>
        </p:pic>
        <p:sp>
          <p:nvSpPr>
            <p:cNvPr id="32" name="Graphic 41">
              <a:extLst>
                <a:ext uri="{FF2B5EF4-FFF2-40B4-BE49-F238E27FC236}">
                  <a16:creationId xmlns:a16="http://schemas.microsoft.com/office/drawing/2014/main" id="{BBA17C28-43EF-1057-969B-E3F070C46357}"/>
                </a:ext>
              </a:extLst>
            </p:cNvPr>
            <p:cNvSpPr/>
            <p:nvPr/>
          </p:nvSpPr>
          <p:spPr>
            <a:xfrm>
              <a:off x="1285240" y="5360034"/>
              <a:ext cx="114300" cy="519430"/>
            </a:xfrm>
            <a:custGeom>
              <a:avLst/>
              <a:gdLst/>
              <a:ahLst/>
              <a:cxnLst/>
              <a:rect l="l" t="t" r="r" b="b"/>
              <a:pathLst>
                <a:path w="114300" h="519430">
                  <a:moveTo>
                    <a:pt x="114300" y="405130"/>
                  </a:moveTo>
                  <a:lnTo>
                    <a:pt x="76200" y="405130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405130"/>
                  </a:lnTo>
                  <a:lnTo>
                    <a:pt x="0" y="405130"/>
                  </a:lnTo>
                  <a:lnTo>
                    <a:pt x="57150" y="519430"/>
                  </a:lnTo>
                  <a:lnTo>
                    <a:pt x="104775" y="424180"/>
                  </a:lnTo>
                  <a:lnTo>
                    <a:pt x="114300" y="40513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 sz="1050"/>
            </a:p>
          </p:txBody>
        </p:sp>
        <p:sp>
          <p:nvSpPr>
            <p:cNvPr id="33" name="Textbox 42">
              <a:extLst>
                <a:ext uri="{FF2B5EF4-FFF2-40B4-BE49-F238E27FC236}">
                  <a16:creationId xmlns:a16="http://schemas.microsoft.com/office/drawing/2014/main" id="{00BE6FBF-926B-C394-7AF8-98CE83A37E52}"/>
                </a:ext>
              </a:extLst>
            </p:cNvPr>
            <p:cNvSpPr txBox="1"/>
            <p:nvPr/>
          </p:nvSpPr>
          <p:spPr>
            <a:xfrm>
              <a:off x="-28939" y="46989"/>
              <a:ext cx="2895599" cy="394335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L="702945">
                <a:spcBef>
                  <a:spcPts val="405"/>
                </a:spcBef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Problem</a:t>
              </a:r>
              <a:r>
                <a:rPr lang="en-US" sz="1050" spc="-3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Understanding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4" name="Textbox 43">
              <a:extLst>
                <a:ext uri="{FF2B5EF4-FFF2-40B4-BE49-F238E27FC236}">
                  <a16:creationId xmlns:a16="http://schemas.microsoft.com/office/drawing/2014/main" id="{D990C387-8F11-E002-308E-5B6B8B3ECE60}"/>
                </a:ext>
              </a:extLst>
            </p:cNvPr>
            <p:cNvSpPr txBox="1"/>
            <p:nvPr/>
          </p:nvSpPr>
          <p:spPr>
            <a:xfrm>
              <a:off x="1007617" y="2533681"/>
              <a:ext cx="1381879" cy="26793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Connection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5" name="Textbox 44">
              <a:extLst>
                <a:ext uri="{FF2B5EF4-FFF2-40B4-BE49-F238E27FC236}">
                  <a16:creationId xmlns:a16="http://schemas.microsoft.com/office/drawing/2014/main" id="{B913A796-8D93-34B1-3A9D-AB6FD37D4313}"/>
                </a:ext>
              </a:extLst>
            </p:cNvPr>
            <p:cNvSpPr txBox="1"/>
            <p:nvPr/>
          </p:nvSpPr>
          <p:spPr>
            <a:xfrm>
              <a:off x="882650" y="3414805"/>
              <a:ext cx="1758015" cy="31762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 err="1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Preproccessing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6" name="Textbox 45">
              <a:extLst>
                <a:ext uri="{FF2B5EF4-FFF2-40B4-BE49-F238E27FC236}">
                  <a16:creationId xmlns:a16="http://schemas.microsoft.com/office/drawing/2014/main" id="{24CC0683-EBE8-9AA6-8548-2D31454E604D}"/>
                </a:ext>
              </a:extLst>
            </p:cNvPr>
            <p:cNvSpPr txBox="1"/>
            <p:nvPr/>
          </p:nvSpPr>
          <p:spPr>
            <a:xfrm>
              <a:off x="73660" y="1653539"/>
              <a:ext cx="2854325" cy="41084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808355">
                <a:spcBef>
                  <a:spcPts val="380"/>
                </a:spcBef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Understanding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7" name="Textbox 46">
              <a:extLst>
                <a:ext uri="{FF2B5EF4-FFF2-40B4-BE49-F238E27FC236}">
                  <a16:creationId xmlns:a16="http://schemas.microsoft.com/office/drawing/2014/main" id="{F5CAB027-6228-FD47-8AD1-14E0CF7C56EC}"/>
                </a:ext>
              </a:extLst>
            </p:cNvPr>
            <p:cNvSpPr txBox="1"/>
            <p:nvPr/>
          </p:nvSpPr>
          <p:spPr>
            <a:xfrm>
              <a:off x="25400" y="5872479"/>
              <a:ext cx="3001645" cy="34861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942340">
                <a:spcBef>
                  <a:spcPts val="360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Visualisation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8" name="Textbox 47">
              <a:extLst>
                <a:ext uri="{FF2B5EF4-FFF2-40B4-BE49-F238E27FC236}">
                  <a16:creationId xmlns:a16="http://schemas.microsoft.com/office/drawing/2014/main" id="{4E643F10-4A8C-9739-51E0-0DBCF768E122}"/>
                </a:ext>
              </a:extLst>
            </p:cNvPr>
            <p:cNvSpPr txBox="1"/>
            <p:nvPr/>
          </p:nvSpPr>
          <p:spPr>
            <a:xfrm>
              <a:off x="745615" y="920114"/>
              <a:ext cx="1643880" cy="27558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285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 dirty="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Collection</a:t>
              </a:r>
              <a:endParaRPr lang="en-IN" sz="1050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39" name="Textbox 48">
              <a:extLst>
                <a:ext uri="{FF2B5EF4-FFF2-40B4-BE49-F238E27FC236}">
                  <a16:creationId xmlns:a16="http://schemas.microsoft.com/office/drawing/2014/main" id="{BB8403C5-0F72-C310-10D7-60BB9AB5862F}"/>
                </a:ext>
              </a:extLst>
            </p:cNvPr>
            <p:cNvSpPr txBox="1"/>
            <p:nvPr/>
          </p:nvSpPr>
          <p:spPr>
            <a:xfrm>
              <a:off x="0" y="5339575"/>
              <a:ext cx="3121025" cy="1793875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>
                <a:spcBef>
                  <a:spcPts val="895"/>
                </a:spcBef>
                <a:buNone/>
              </a:pPr>
              <a:r>
                <a:rPr lang="en-US" sz="1050">
                  <a:effectLst/>
                  <a:latin typeface="Calibri" panose="020F050202020403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 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  <a:p>
              <a:pPr marL="580390"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Share</a:t>
              </a:r>
              <a:r>
                <a:rPr lang="en-US" sz="1050" spc="-3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/</a:t>
              </a:r>
              <a:r>
                <a:rPr lang="en-US" sz="1050" spc="-4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Publish</a:t>
              </a:r>
              <a:r>
                <a:rPr lang="en-US" sz="1050" spc="-1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Report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0" name="Textbox 49">
              <a:extLst>
                <a:ext uri="{FF2B5EF4-FFF2-40B4-BE49-F238E27FC236}">
                  <a16:creationId xmlns:a16="http://schemas.microsoft.com/office/drawing/2014/main" id="{5656FCE4-DADE-4F1B-1F59-D5053660A58F}"/>
                </a:ext>
              </a:extLst>
            </p:cNvPr>
            <p:cNvSpPr txBox="1"/>
            <p:nvPr/>
          </p:nvSpPr>
          <p:spPr>
            <a:xfrm>
              <a:off x="74294" y="4224654"/>
              <a:ext cx="2978150" cy="422275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L="3175" algn="ctr">
                <a:spcBef>
                  <a:spcPts val="415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</a:t>
              </a:r>
              <a:r>
                <a:rPr lang="en-US" sz="1050" spc="-25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Analytics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  <p:sp>
          <p:nvSpPr>
            <p:cNvPr id="41" name="Textbox 50">
              <a:extLst>
                <a:ext uri="{FF2B5EF4-FFF2-40B4-BE49-F238E27FC236}">
                  <a16:creationId xmlns:a16="http://schemas.microsoft.com/office/drawing/2014/main" id="{FCCBBB38-5599-4A7F-8403-DFFD456D8353}"/>
                </a:ext>
              </a:extLst>
            </p:cNvPr>
            <p:cNvSpPr txBox="1"/>
            <p:nvPr/>
          </p:nvSpPr>
          <p:spPr>
            <a:xfrm>
              <a:off x="46990" y="4958715"/>
              <a:ext cx="2934970" cy="410209"/>
            </a:xfrm>
            <a:prstGeom prst="rect">
              <a:avLst/>
            </a:prstGeom>
            <a:ln w="25400">
              <a:solidFill>
                <a:srgbClr val="4F81BB"/>
              </a:solidFill>
              <a:prstDash val="solid"/>
            </a:ln>
          </p:spPr>
          <p:txBody>
            <a:bodyPr wrap="square" lIns="0" tIns="0" rIns="0" bIns="0" rtlCol="0">
              <a:noAutofit/>
            </a:bodyPr>
            <a:lstStyle/>
            <a:p>
              <a:pPr marR="5080" algn="ctr">
                <a:spcBef>
                  <a:spcPts val="395"/>
                </a:spcBef>
                <a:buNone/>
              </a:pPr>
              <a:r>
                <a:rPr lang="en-US" sz="105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Data </a:t>
              </a:r>
              <a:r>
                <a:rPr lang="en-US" sz="1050" spc="-10">
                  <a:effectLst/>
                  <a:latin typeface="Microsoft Sans Serif" panose="020B0604020202020204" pitchFamily="34" charset="0"/>
                  <a:ea typeface="Microsoft Sans Serif" panose="020B0604020202020204" pitchFamily="34" charset="0"/>
                </a:rPr>
                <a:t>Modeling</a:t>
              </a:r>
              <a:endParaRPr lang="en-IN" sz="105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</a:endParaRPr>
            </a:p>
          </p:txBody>
        </p:sp>
      </p:grpSp>
      <p:sp>
        <p:nvSpPr>
          <p:cNvPr id="42" name="Rectangle 44">
            <a:extLst>
              <a:ext uri="{FF2B5EF4-FFF2-40B4-BE49-F238E27FC236}">
                <a16:creationId xmlns:a16="http://schemas.microsoft.com/office/drawing/2014/main" id="{0CA7A813-79AA-8660-985E-59328F5D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856" y="-2213293"/>
            <a:ext cx="339781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Microsoft Sans Serif" panose="020B060402020202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icrosoft Sans Serif" panose="020B0604020202020204" pitchFamily="34" charset="0"/>
                <a:cs typeface="Calibri" panose="020F0502020204030204" pitchFamily="34" charset="0"/>
              </a:rPr>
              <a:t>pg. 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Microsoft Sans Serif" panose="020B0604020202020204" pitchFamily="34" charset="0"/>
                <a:cs typeface="Calibri" panose="020F0502020204030204" pitchFamily="34" charset="0"/>
              </a:rPr>
            </a:b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339C6D-01DB-5AE3-3E4C-36E40B801EAB}"/>
              </a:ext>
            </a:extLst>
          </p:cNvPr>
          <p:cNvSpPr txBox="1"/>
          <p:nvPr/>
        </p:nvSpPr>
        <p:spPr>
          <a:xfrm>
            <a:off x="169650" y="6190362"/>
            <a:ext cx="4117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</p:spTree>
    <p:extLst>
      <p:ext uri="{BB962C8B-B14F-4D97-AF65-F5344CB8AC3E}">
        <p14:creationId xmlns:p14="http://schemas.microsoft.com/office/powerpoint/2010/main" val="205527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AEBE"/>
                </a:solidFill>
                <a:latin typeface="Aptos"/>
              </a:rP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1C30"/>
                </a:solidFill>
                <a:latin typeface="Aptos"/>
              </a:rPr>
              <a:t>CHALLENGES &amp;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64788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BE4646"/>
                </a:solidFill>
                <a:latin typeface="Aptos"/>
              </a:rPr>
              <a:t>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00200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18B5E"/>
                </a:solidFill>
                <a:latin typeface="Aptos"/>
              </a:rPr>
              <a:t>Resolutions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E2B38"/>
                </a:solidFill>
                <a:latin typeface="Aptos"/>
              </a:rPr>
              <a:t>1. Understanding a large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50749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Grouped fields by business area such as orders, customers, products, sales, delivery, geography and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B38"/>
                </a:solidFill>
                <a:latin typeface="Aptos"/>
              </a:rPr>
              <a:t>2. Data preparation &amp;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807208"/>
            <a:ext cx="5074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Used Power Query to review, transform and validate required fields and data types.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57015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B38"/>
                </a:solidFill>
                <a:latin typeface="Aptos"/>
              </a:rPr>
              <a:t>3. Creating accurate KPIs and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57015"/>
            <a:ext cx="5074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Created DAX measures and reviewed calculated results against the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06824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B38"/>
                </a:solidFill>
                <a:latin typeface="Aptos"/>
              </a:rPr>
              <a:t>4. Selecting suitable visualizations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306824"/>
            <a:ext cx="5074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Matched visual types to analytical purpose: trends, comparisons, relationships and KPI summaries.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56631"/>
            <a:ext cx="5074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B38"/>
                </a:solidFill>
                <a:latin typeface="Aptos"/>
              </a:rPr>
              <a:t>5. Dashboard layout &amp; readability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056631"/>
            <a:ext cx="5074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Divided the dashboard into focused analytical pages with consistent formatting.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  <a:endParaRPr lang="en-US" sz="1600" b="1" dirty="0">
              <a:solidFill>
                <a:srgbClr val="64788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510528"/>
            <a:ext cx="51206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dirty="0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AEBE"/>
                </a:solidFill>
                <a:latin typeface="Aptos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058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A1C30"/>
                </a:solidFill>
                <a:latin typeface="Aptos"/>
              </a:rPr>
              <a:t>FUTURE ENHANCEMENTS &amp;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64788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CA0"/>
                </a:solidFill>
                <a:latin typeface="Aptos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1208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Integrate real-time supply chain data.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Add AI-based forecasting and predictive analytics.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Implement automated report refresh.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Develop mobile-friendly dashboards and drill-through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5448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CA0"/>
                </a:solidFill>
                <a:latin typeface="Aptos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20240"/>
            <a:ext cx="52120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/>
              <a:t>• On-Time Delivery Rate: 17.83% | Late Delivery Rate: 54.82%.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/>
              <a:t>• Total Customers: 20,652 | Average Profit per Order: ₹21.98.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/>
              <a:t>• Europe contributes approximately ₹10.87M in sales (~29.5%).</a:t>
            </a:r>
          </a:p>
          <a:p>
            <a:pPr>
              <a:spcAft>
                <a:spcPts val="700"/>
              </a:spcAft>
              <a:defRPr sz="1300">
                <a:solidFill>
                  <a:srgbClr val="1E2B38"/>
                </a:solidFill>
                <a:latin typeface="Aptos"/>
              </a:defRPr>
            </a:pPr>
            <a:r>
              <a:rPr sz="1600"/>
              <a:t>• Standard Class has the largest order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685800" y="4572000"/>
            <a:ext cx="54864" cy="105156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2971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TOTAL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47488"/>
            <a:ext cx="2953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₹36.78M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4251960" y="4572000"/>
            <a:ext cx="54864" cy="1051560"/>
          </a:xfrm>
          <a:prstGeom prst="rect">
            <a:avLst/>
          </a:prstGeom>
          <a:solidFill>
            <a:srgbClr val="31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434840" y="4709160"/>
            <a:ext cx="2971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TOTAL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047488"/>
            <a:ext cx="2953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₹3.97M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572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Rectangle 18"/>
          <p:cNvSpPr/>
          <p:nvPr/>
        </p:nvSpPr>
        <p:spPr>
          <a:xfrm>
            <a:off x="7818120" y="4572000"/>
            <a:ext cx="54864" cy="105156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001000" y="4709160"/>
            <a:ext cx="2971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047488"/>
            <a:ext cx="2953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B38"/>
                </a:solidFill>
                <a:latin typeface="Aptos"/>
              </a:rPr>
              <a:t>20,652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510528"/>
            <a:ext cx="55778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AEBE"/>
                </a:solidFill>
                <a:latin typeface="Aptos"/>
              </a:rP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A1C3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64788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0607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4864" cy="1143000"/>
          </a:xfrm>
          <a:prstGeom prst="rect">
            <a:avLst/>
          </a:prstGeom>
          <a:solidFill>
            <a:srgbClr val="1F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3327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788C"/>
                </a:solidFill>
                <a:latin typeface="Aptos"/>
              </a:rPr>
              <a:t>PROJECT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1031443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B38"/>
                </a:solidFill>
                <a:latin typeface="Aptos"/>
              </a:rPr>
              <a:t>Supply Chain Visibility and Optimization successfully transformed the </a:t>
            </a:r>
            <a:r>
              <a:rPr sz="1600" b="0" dirty="0" err="1">
                <a:solidFill>
                  <a:srgbClr val="1E2B38"/>
                </a:solidFill>
                <a:latin typeface="Aptos"/>
              </a:rPr>
              <a:t>DataCoSupplyChainDataset</a:t>
            </a:r>
            <a:r>
              <a:rPr sz="1600" b="0" dirty="0">
                <a:solidFill>
                  <a:srgbClr val="1E2B38"/>
                </a:solidFill>
                <a:latin typeface="Aptos"/>
              </a:rPr>
              <a:t> into an interactive Power BI dashboard covering sales, customers, products, delivery, geography, costs and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2286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CA0"/>
                </a:solidFill>
                <a:latin typeface="Aptos"/>
              </a:rPr>
              <a:t>Technical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4480560" cy="269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Microsoft Power BI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Power Query</a:t>
            </a:r>
            <a:r>
              <a:rPr lang="en-IN" sz="1600" dirty="0"/>
              <a:t> Editor</a:t>
            </a:r>
            <a:endParaRPr sz="1600"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DAX &amp; Data Modeling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Data Visualization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 dirty="0"/>
              <a:t>• Business Intelligence</a:t>
            </a:r>
            <a:endParaRPr lang="en-IN" sz="1600"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sz="1600" dirty="0" err="1"/>
              <a:t>Github</a:t>
            </a:r>
            <a:endParaRPr lang="en-IN" sz="1600" dirty="0"/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sz="1600" dirty="0"/>
              <a:t>Gitlab</a:t>
            </a:r>
          </a:p>
          <a:p>
            <a:pPr marL="171450" indent="-171450">
              <a:spcAft>
                <a:spcPts val="700"/>
              </a:spcAft>
              <a:buFont typeface="Arial" panose="020B0604020202020204" pitchFamily="34" charset="0"/>
              <a:buChar char="•"/>
              <a:defRPr sz="1200">
                <a:solidFill>
                  <a:srgbClr val="1E2B38"/>
                </a:solidFill>
                <a:latin typeface="Aptos"/>
              </a:defRPr>
            </a:pPr>
            <a:r>
              <a:rPr lang="en-IN" sz="1600" dirty="0"/>
              <a:t>Microsoft Teams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172200" y="3154680"/>
            <a:ext cx="2286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5CA0"/>
                </a:solidFill>
                <a:latin typeface="Aptos"/>
              </a:rPr>
              <a:t>Soft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520440"/>
            <a:ext cx="438912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Problem Solving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Communication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Teamwork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Presentation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Analytical Thinking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600"/>
              <a:t>• Time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669280"/>
            <a:ext cx="80924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A1C30"/>
                </a:solidFill>
                <a:latin typeface="Aptos"/>
              </a:rPr>
              <a:t>Overall, the dashboard brings multiple business dimensions into a single interactive platform to support performance monitoring and data-driven decision-making.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31" y="6510528"/>
            <a:ext cx="583866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>
                <a:solidFill>
                  <a:srgbClr val="64788C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715" y="6510528"/>
            <a:ext cx="651472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600" b="1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  <a:endParaRPr lang="en-US" sz="1600" b="1" dirty="0">
              <a:solidFill>
                <a:srgbClr val="64788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4572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AEBE"/>
                </a:solidFill>
                <a:latin typeface="Aptos"/>
              </a:rP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A1C30"/>
                </a:solidFill>
                <a:latin typeface="Aptos"/>
              </a:rPr>
              <a:t>ACKNOWLEDGEMENTS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93192"/>
            <a:ext cx="502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64788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07592"/>
            <a:ext cx="914400" cy="45720"/>
          </a:xfrm>
          <a:prstGeom prst="rect">
            <a:avLst/>
          </a:prstGeom>
          <a:solidFill>
            <a:srgbClr val="2A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5CA0"/>
                </a:solidFill>
                <a:latin typeface="Aptos"/>
              </a:rPr>
              <a:t>Acknowledgements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029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  We sincerely thank the Infosys Springboard Team for providing this enriching virtual internship and a structured platform for gaining practical industry experience.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We express our heartfelt gratitude to our mentor, Ms. Nityasree, for her continuous guidance, valuable feedback, and encouragement throughout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We also thank our team members for their collaboration, communication, and shared efforts in successfully completing the project.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We acknowledge Microsoft Power BI documentation and community resources, along with Kaggle, for providing valuable learning resources and datasets that supported our dashboard development and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Overall, this internship strengthened our technical, analytical, teamwork, and problem-solving skills and provided valuable practical experience in data-driven decision-making.</a:t>
            </a:r>
            <a:endParaRPr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5CA0"/>
                </a:solidFill>
                <a:latin typeface="Aptos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965960"/>
            <a:ext cx="502920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DataCoSupplyChainDataset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Microsoft Power BI Documentation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Power BI Community Resources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Kaggle Dataset Resources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Infosys Springboard Learning Materials</a:t>
            </a:r>
          </a:p>
          <a:p>
            <a:pPr>
              <a:spcAft>
                <a:spcPts val="700"/>
              </a:spcAft>
              <a:defRPr sz="1200">
                <a:solidFill>
                  <a:srgbClr val="1E2B38"/>
                </a:solidFill>
                <a:latin typeface="Aptos"/>
              </a:defRPr>
            </a:pPr>
            <a:r>
              <a:rPr sz="1400"/>
              <a:t>• Microsoft Power Query &amp; DAX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091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6172200" y="4709160"/>
            <a:ext cx="54864" cy="914400"/>
          </a:xfrm>
          <a:prstGeom prst="rect">
            <a:avLst/>
          </a:prstGeom>
          <a:solidFill>
            <a:srgbClr val="15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6355080" y="4846320"/>
            <a:ext cx="4754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4788C"/>
                </a:solidFill>
                <a:latin typeface="Aptos"/>
              </a:rPr>
              <a:t>PROJECT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184648"/>
            <a:ext cx="47365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B38"/>
                </a:solidFill>
                <a:latin typeface="Aptos"/>
              </a:rPr>
              <a:t>Team D • Group 1 • Batch-01 • 2-Month Virtual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303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b="1" dirty="0">
                <a:solidFill>
                  <a:srgbClr val="64788C"/>
                </a:solidFill>
                <a:latin typeface="Aptos"/>
              </a:rPr>
              <a:t> </a:t>
            </a:r>
            <a:endParaRPr sz="1400" b="1" dirty="0">
              <a:solidFill>
                <a:srgbClr val="64788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0" y="6510528"/>
            <a:ext cx="5806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 dirty="0">
                <a:solidFill>
                  <a:srgbClr val="64788C"/>
                </a:solidFill>
                <a:latin typeface="Aptos"/>
              </a:rPr>
              <a:t>SUPPLY CHAIN VISIBILITY SYSTEM WITH OPTIMIZATION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9701634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E6EEF5"/>
                </a:solidFill>
                <a:latin typeface="Aptos"/>
              </a:rPr>
              <a:t>INFOSYS SPRINGBOARD • VIRTUAL INTERNSHIP 7.0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dirty="0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2AAEBE"/>
                </a:solidFill>
                <a:latin typeface="Aptos"/>
              </a:rPr>
              <a:t>SUPPLY CHAIN VISIBILITY SYSTEM
WITH OPTIMIZATION ANALYTICS</a:t>
            </a:r>
            <a:r>
              <a:rPr lang="en-IN" sz="2800" b="1" dirty="0">
                <a:solidFill>
                  <a:srgbClr val="2AAEBE"/>
                </a:solidFill>
                <a:latin typeface="Aptos"/>
              </a:rPr>
              <a:t>  GROUP 1</a:t>
            </a:r>
            <a:endParaRPr sz="2800" b="1" dirty="0">
              <a:solidFill>
                <a:srgbClr val="2AAEBE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4069080"/>
            <a:ext cx="94183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E6EEF5"/>
                </a:solidFill>
                <a:latin typeface="Aptos"/>
              </a:rPr>
              <a:t>An Interactive Power BI Dashboard for Supply Chain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83480"/>
            <a:ext cx="9418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Team D • Group 1  |  Mentor: Ms. Nityasree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AAEBE"/>
                </a:solidFill>
                <a:latin typeface="Aptos"/>
              </a:rPr>
              <a:t>POWER BI • ANALYTICS • VISIBILITY •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906</Words>
  <Application>Microsoft Office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Microsoft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S0806351</cp:lastModifiedBy>
  <cp:revision>6</cp:revision>
  <dcterms:created xsi:type="dcterms:W3CDTF">2013-01-27T09:14:16Z</dcterms:created>
  <dcterms:modified xsi:type="dcterms:W3CDTF">2026-08-26T08:23:01Z</dcterms:modified>
  <cp:category/>
</cp:coreProperties>
</file>